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8" r:id="rId1"/>
  </p:sldMasterIdLst>
  <p:notesMasterIdLst>
    <p:notesMasterId r:id="rId7"/>
  </p:notesMasterIdLst>
  <p:sldIdLst>
    <p:sldId id="256" r:id="rId2"/>
    <p:sldId id="258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BE1FE-00EC-8DE4-70B4-11E0A95811AA}" v="5" dt="2026-06-26T15:27:21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8" /><Relationship Type="http://schemas.microsoft.com/office/2015/10/relationships/revisionInfo" Target="revisionInfo.xml" Id="rId13" /><Relationship Type="http://schemas.openxmlformats.org/officeDocument/2006/relationships/slide" Target="slides/slide2.xml" Id="rId3" /><Relationship Type="http://schemas.openxmlformats.org/officeDocument/2006/relationships/notesMaster" Target="notesMasters/notesMaster1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ableStyles" Target="tableStyles.xml" Id="rId11" /><Relationship Type="http://schemas.openxmlformats.org/officeDocument/2006/relationships/slide" Target="slides/slide4.xml" Id="rId5" /><Relationship Type="http://schemas.openxmlformats.org/officeDocument/2006/relationships/theme" Target="theme/theme1.xml" Id="rId10" /><Relationship Type="http://schemas.openxmlformats.org/officeDocument/2006/relationships/slide" Target="slides/slide3.xml" Id="rId4" /><Relationship Type="http://schemas.openxmlformats.org/officeDocument/2006/relationships/viewProps" Target="viewProps.xml" Id="rId9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548B4-DE8F-4C9D-BC38-B31986A75088}" type="datetimeFigureOut"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9967C-AE7E-4323-BA42-272566F2BA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38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967C-AE7E-4323-BA42-272566F2BA10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9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  <a:p>
            <a:pPr lvl="1"/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967C-AE7E-4323-BA42-272566F2BA1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85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967C-AE7E-4323-BA42-272566F2BA1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8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967C-AE7E-4323-BA42-272566F2BA10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93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3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7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7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4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0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9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9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3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7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6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bs.org/wgbh/americanexperience/features/carnegie-biography/" TargetMode="External"/><Relationship Id="rId2" Type="http://schemas.openxmlformats.org/officeDocument/2006/relationships/hyperlink" Target="https://carnegie.org/about/andrew-carnegie-stor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17A6-5A90-900B-06B8-47D96F4A82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Andrew Carnegie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BB271-B78C-67CD-5C10-17691BE6E2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Carter Ward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143A2-89F5-3DB0-8389-D4D3940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CC4F-AD75-4F24-96DB-D72A726ABAA5}" type="datetime1"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2F9E-36EC-5E39-9A19-C13A1BCC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DAB4D-5DB3-C128-82A9-85FB12DF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69A0409-1380-7B4C-BED5-9D7B2F1875FC}"/>
              </a:ext>
            </a:extLst>
          </p:cNvPr>
          <p:cNvSpPr txBox="1">
            <a:spLocks/>
          </p:cNvSpPr>
          <p:nvPr/>
        </p:nvSpPr>
        <p:spPr>
          <a:xfrm>
            <a:off x="680924" y="1711496"/>
            <a:ext cx="6991776" cy="43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>
                    <a:lumMod val="49000"/>
                    <a:lumOff val="51000"/>
                  </a:schemeClr>
                </a:solidFill>
              </a:rPr>
              <a:t>(Nov. 1835 – Aug. 1919)</a:t>
            </a:r>
          </a:p>
        </p:txBody>
      </p:sp>
      <p:pic>
        <p:nvPicPr>
          <p:cNvPr id="12" name="Picture 11" descr="A person in a suit sitting in a chair&#10;&#10;AI-generated content may be incorrect.">
            <a:extLst>
              <a:ext uri="{FF2B5EF4-FFF2-40B4-BE49-F238E27FC236}">
                <a16:creationId xmlns:a16="http://schemas.microsoft.com/office/drawing/2014/main" id="{784EB402-DD7E-EB03-A9C8-839E9F468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078" y="1110150"/>
            <a:ext cx="3824697" cy="463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2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F361-DCC6-EF94-BCF9-A756A7CD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D9CA-1785-3B7A-5308-AB60D3665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69" y="1609284"/>
            <a:ext cx="5385964" cy="445543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/>
              <a:t>Bio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Born in Dunfermline, Scotland to a weaver family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Moved to Pittsburgh in 1848 at age 13 and began working as a bobbin boy earning $1.20/week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Advanced through telegraph work and the Pennsylvania Railroad before entering the steel industry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Sold Carnegie Steel to J.P. Morgan in 1901 for $480M and was declared the richest man in the world</a:t>
            </a:r>
            <a:endParaRPr lang="en-US" sz="1000"/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Primary Profession/Source of Wealth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Industrialist who built the Carnegie Steel Corporation into the largest steel manufacturing company in the world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Held business interests in iron works, railroads, oil wells, and Great Lakes shipping by age 30</a:t>
            </a:r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Key Causes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Public education and literacy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Higher education and scientific research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World peace and international arbitration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Support for immigrants integrating into American society</a:t>
            </a:r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Specific Organizations Funded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Carnegie Corporation of New York (now Andrew Carnegie Foundation), Carnegie Endowment for International Peace,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A8364-66E8-89D2-BBF5-CEFEFEF8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5354-62F4-4E16-9E78-5368063163BD}" type="datetime1"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6B08-7291-CEDC-9D75-756BAC0D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FADD-9ADF-09AC-0D16-9BB5154F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/>
          </a:p>
        </p:txBody>
      </p:sp>
      <p:pic>
        <p:nvPicPr>
          <p:cNvPr id="8" name="Picture 7" descr="A factory with smoke stacks and a train&#10;&#10;AI-generated content may be incorrect.">
            <a:extLst>
              <a:ext uri="{FF2B5EF4-FFF2-40B4-BE49-F238E27FC236}">
                <a16:creationId xmlns:a16="http://schemas.microsoft.com/office/drawing/2014/main" id="{5ED1C336-3EF4-3C32-602C-2E449D6B3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256" y="918671"/>
            <a:ext cx="3123445" cy="24123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5EF8C0-8613-2C07-F24C-D83419743355}"/>
              </a:ext>
            </a:extLst>
          </p:cNvPr>
          <p:cNvSpPr txBox="1"/>
          <p:nvPr/>
        </p:nvSpPr>
        <p:spPr>
          <a:xfrm>
            <a:off x="8460400" y="3324134"/>
            <a:ext cx="2743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/>
              <a:t>Mill in Pittsburgh, PA</a:t>
            </a:r>
          </a:p>
        </p:txBody>
      </p:sp>
      <p:pic>
        <p:nvPicPr>
          <p:cNvPr id="10" name="Picture 9" descr="A brick building with columns and a sign on the front&#10;&#10;AI-generated content may be incorrect.">
            <a:extLst>
              <a:ext uri="{FF2B5EF4-FFF2-40B4-BE49-F238E27FC236}">
                <a16:creationId xmlns:a16="http://schemas.microsoft.com/office/drawing/2014/main" id="{18A4E71B-80E2-B612-6CA9-0985A5550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46" b="1262"/>
          <a:stretch>
            <a:fillRect/>
          </a:stretch>
        </p:blipFill>
        <p:spPr>
          <a:xfrm>
            <a:off x="8274515" y="3500319"/>
            <a:ext cx="3115768" cy="2412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5A0169-957D-A511-0010-BBC21108F01A}"/>
              </a:ext>
            </a:extLst>
          </p:cNvPr>
          <p:cNvSpPr txBox="1"/>
          <p:nvPr/>
        </p:nvSpPr>
        <p:spPr>
          <a:xfrm>
            <a:off x="8460143" y="5914048"/>
            <a:ext cx="2743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/>
              <a:t>Carnegie Public Library in South Fork, CO</a:t>
            </a:r>
          </a:p>
        </p:txBody>
      </p:sp>
    </p:spTree>
    <p:extLst>
      <p:ext uri="{BB962C8B-B14F-4D97-AF65-F5344CB8AC3E}">
        <p14:creationId xmlns:p14="http://schemas.microsoft.com/office/powerpoint/2010/main" val="231885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B1B3-24F3-AC72-026E-5A39873D1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6D21-C70D-FAD9-4FC9-809FAE74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Giving vehicles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32A9-FE9D-FA51-9BC5-447860504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69" y="1609284"/>
            <a:ext cx="5434018" cy="422320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/>
              <a:t>Private Foundation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Established more than 10 named foundations across education, peace, and civic causes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Carnegie Corporation of New York, founded in 1911, was endowed with $135M and was the largest philanthropic trust of its time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Key foundations include: 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Carnegie Foundation for the Advancement of Teaching ($10M)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Carnegie Endowment for International Peace ($10M)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Carnegie Hero Fund Commission ($5M)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Carnegie UK ($10M)</a:t>
            </a:r>
            <a:endParaRPr lang="en-US" sz="1000"/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Donor-Advised Fund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DAFs did not exist as a formal giving vehicle during Carnegie’s lifetime</a:t>
            </a:r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Direct Giving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Personally wrote to the mayor of Pittsburgh in 1881 offering $250,000 for a free public library, later increasing the gift to $1M for a main branch and five neighborhood locations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Funded 2,509 libraries worldwide through direct grants to communities, requiring cities to provide land and operational funding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Paid for thousands of church organs across the U.S. and worldwide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Total lifetime giving reached $350M ($4.4B in 2010 dollars)</a:t>
            </a:r>
            <a:endParaRPr lang="en-US" sz="1000"/>
          </a:p>
          <a:p>
            <a:pPr marL="0" indent="0">
              <a:lnSpc>
                <a:spcPct val="100000"/>
              </a:lnSpc>
              <a:buNone/>
            </a:pPr>
            <a:endParaRPr lang="en-US" sz="1000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E0ED-8A65-F6CE-4F64-FC1D9A37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5354-62F4-4E16-9E78-5368063163BD}" type="datetime1"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8565F-56E4-3490-E6DF-F88C7151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B5F16-51A0-C0F9-4FEF-35F862AD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/>
          </a:p>
        </p:txBody>
      </p:sp>
      <p:pic>
        <p:nvPicPr>
          <p:cNvPr id="15" name="Picture 14" descr="Carnegie Hall with lights on it&#10;&#10;AI-generated content may be incorrect.">
            <a:extLst>
              <a:ext uri="{FF2B5EF4-FFF2-40B4-BE49-F238E27FC236}">
                <a16:creationId xmlns:a16="http://schemas.microsoft.com/office/drawing/2014/main" id="{0C998735-3F1F-3A49-91B3-FF51D3DE0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178" y="915395"/>
            <a:ext cx="3119494" cy="2406716"/>
          </a:xfrm>
          <a:prstGeom prst="rect">
            <a:avLst/>
          </a:prstGeom>
        </p:spPr>
      </p:pic>
      <p:pic>
        <p:nvPicPr>
          <p:cNvPr id="16" name="Picture 15" descr="A logo of a tree&#10;&#10;AI-generated content may be incorrect.">
            <a:extLst>
              <a:ext uri="{FF2B5EF4-FFF2-40B4-BE49-F238E27FC236}">
                <a16:creationId xmlns:a16="http://schemas.microsoft.com/office/drawing/2014/main" id="{CAC29D0D-832B-6841-D055-94E4D3CAB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25" y="3527665"/>
            <a:ext cx="3108026" cy="239059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EB3362-5FA8-BA25-5114-AB333B99EB92}"/>
              </a:ext>
            </a:extLst>
          </p:cNvPr>
          <p:cNvSpPr txBox="1"/>
          <p:nvPr/>
        </p:nvSpPr>
        <p:spPr>
          <a:xfrm>
            <a:off x="8460400" y="3324134"/>
            <a:ext cx="2743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/>
              <a:t>Carnegie Hall in NYC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699986-6C5E-AEF9-561C-3EDCE0CE9BC1}"/>
              </a:ext>
            </a:extLst>
          </p:cNvPr>
          <p:cNvSpPr txBox="1"/>
          <p:nvPr/>
        </p:nvSpPr>
        <p:spPr>
          <a:xfrm>
            <a:off x="8460143" y="5914048"/>
            <a:ext cx="2743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/>
              <a:t>Official Logo for the CF Adv. of Teaching</a:t>
            </a:r>
          </a:p>
        </p:txBody>
      </p:sp>
    </p:spTree>
    <p:extLst>
      <p:ext uri="{BB962C8B-B14F-4D97-AF65-F5344CB8AC3E}">
        <p14:creationId xmlns:p14="http://schemas.microsoft.com/office/powerpoint/2010/main" val="193909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4891-47A9-9C5D-6E8F-48ED5A00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B068-9AD8-3D79-7D4F-F4ED3BF0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9D73A-849C-089D-C83B-B090B740C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69" y="1609284"/>
            <a:ext cx="5385964" cy="422320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Quantitative Snapshot</a:t>
            </a:r>
            <a:endParaRPr lang="en-US" sz="1000" b="1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$350M total given away by death in 1919 (~$4.4B in 2010 dollars)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$55M+ spent on libraries alone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2,509 libraries founded worldwide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$135M endowment for Carnegie Corporation at founding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$20M+ awarded by the Carnegie Hero Fund Commission since 1904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Carnegie Mellon received $9M+ in total endowments</a:t>
            </a:r>
            <a:endParaRPr lang="en-US" sz="1000"/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Qualitative Impact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Known as the "Patron Saint of Libraries" and nearly tripled public library access across America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Foundations later supported the discovery of insulin, creation of Pell Grants, dismantling of nuclear weapons, and development of Sesame Street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Carnegie Endowment became the oldest international affairs think tank and first global think tank in the U.S.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Pioneered the concept of scientific philanthropy, which focuses on strategic and results-oriented giving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Remembered for contributions to music halls, education, and libraries, with philanthropy outlasting controversies surrounding wealth accumulation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b="1"/>
          </a:p>
          <a:p>
            <a:pPr marL="0" indent="0">
              <a:lnSpc>
                <a:spcPct val="100000"/>
              </a:lnSpc>
              <a:buNone/>
            </a:pPr>
            <a:endParaRPr lang="en-US" sz="1000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68137-A0DF-234D-07EB-603D4E8A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5354-62F4-4E16-9E78-5368063163BD}" type="datetime1"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2A96A-CB11-A557-DEC9-894F5F15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9C41F-DDAE-4E22-8091-7A5801CB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/>
          </a:p>
        </p:txBody>
      </p:sp>
      <p:pic>
        <p:nvPicPr>
          <p:cNvPr id="7" name="Picture 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109A5D3-A716-C385-FF20-8F596F8F7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437" y="923454"/>
            <a:ext cx="3651357" cy="2654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3DAB14-497A-FA31-1861-327603591BD7}"/>
              </a:ext>
            </a:extLst>
          </p:cNvPr>
          <p:cNvSpPr txBox="1"/>
          <p:nvPr/>
        </p:nvSpPr>
        <p:spPr>
          <a:xfrm>
            <a:off x="8196038" y="3586294"/>
            <a:ext cx="2743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/>
              <a:t>Map of Carnegie Libraries in the US</a:t>
            </a:r>
          </a:p>
        </p:txBody>
      </p:sp>
      <p:pic>
        <p:nvPicPr>
          <p:cNvPr id="10" name="Picture 9" descr="A purple background with a white outline of a document and yellow stars&#10;&#10;AI-generated content may be incorrect.">
            <a:extLst>
              <a:ext uri="{FF2B5EF4-FFF2-40B4-BE49-F238E27FC236}">
                <a16:creationId xmlns:a16="http://schemas.microsoft.com/office/drawing/2014/main" id="{2B6979E7-4E65-5A1E-9619-2864F42ED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803" y="3788433"/>
            <a:ext cx="3651848" cy="21637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4063B3-74E0-2950-CDB4-33B6ED5DAA82}"/>
              </a:ext>
            </a:extLst>
          </p:cNvPr>
          <p:cNvSpPr txBox="1"/>
          <p:nvPr/>
        </p:nvSpPr>
        <p:spPr>
          <a:xfrm>
            <a:off x="8196037" y="5951368"/>
            <a:ext cx="2743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/>
              <a:t>What is a Federal Pell Grant?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0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20CC-15E3-A3B5-255F-2E0FD906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33B4-B020-EA86-FE88-E749200A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3FB9D-618D-7783-12B9-46A626FA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126" y="1609284"/>
            <a:ext cx="5598774" cy="42232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ea typeface="+mn-lt"/>
                <a:cs typeface="+mn-lt"/>
                <a:hlinkClick r:id="rId2"/>
              </a:rPr>
              <a:t>https://carnegie.org/about/andrew-carnegie-story/</a:t>
            </a:r>
            <a:r>
              <a:rPr lang="en-US" sz="1200">
                <a:ea typeface="+mn-lt"/>
                <a:cs typeface="+mn-lt"/>
              </a:rPr>
              <a:t> </a:t>
            </a:r>
            <a:endParaRPr lang="en-US" sz="1200" b="1"/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ea typeface="+mn-lt"/>
                <a:cs typeface="+mn-lt"/>
                <a:hlinkClick r:id="rId3"/>
              </a:rPr>
              <a:t>https://www.pbs.org/wgbh/americanexperience/features/carnegie-biography/</a:t>
            </a:r>
            <a:r>
              <a:rPr lang="en-US" sz="1200">
                <a:ea typeface="+mn-lt"/>
                <a:cs typeface="+mn-lt"/>
              </a:rPr>
              <a:t>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200"/>
          </a:p>
          <a:p>
            <a:pPr marL="0" indent="0">
              <a:lnSpc>
                <a:spcPct val="100000"/>
              </a:lnSpc>
              <a:buNone/>
            </a:pPr>
            <a:endParaRPr lang="en-US" sz="1200" b="1"/>
          </a:p>
          <a:p>
            <a:pPr marL="0" indent="0">
              <a:lnSpc>
                <a:spcPct val="100000"/>
              </a:lnSpc>
              <a:buNone/>
            </a:pPr>
            <a:endParaRPr lang="en-US" sz="1200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47F2-0B3D-A5DE-5EAA-2777CEBA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5354-62F4-4E16-9E78-5368063163BD}" type="datetime1"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02DC2-4A1A-683A-968C-1B225497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C5668-70A9-73F4-602F-81A9E1CC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3593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Andrew Carnegie</vt:lpstr>
      <vt:lpstr>Background​</vt:lpstr>
      <vt:lpstr>Giving vehicles</vt:lpstr>
      <vt:lpstr>impact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112</cp:revision>
  <dcterms:created xsi:type="dcterms:W3CDTF">2026-06-12T18:57:36Z</dcterms:created>
  <dcterms:modified xsi:type="dcterms:W3CDTF">2026-06-26T16:10:56Z</dcterms:modified>
</cp:coreProperties>
</file>