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61" r:id="rId5"/>
    <p:sldId id="262" r:id="rId6"/>
    <p:sldId id="263" r:id="rId7"/>
    <p:sldId id="264" r:id="rId8"/>
    <p:sldId id="265" r:id="rId9"/>
    <p:sldId id="266" r:id="rId10"/>
    <p:sldId id="267" r:id="rId11"/>
    <p:sldId id="268" r:id="rId12"/>
    <p:sldId id="269" r:id="rId13"/>
    <p:sldId id="270" r:id="rId14"/>
    <p:sldId id="275" r:id="rId15"/>
    <p:sldId id="271" r:id="rId16"/>
    <p:sldId id="272" r:id="rId17"/>
    <p:sldId id="274"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019"/>
    <p:restoredTop sz="94610"/>
  </p:normalViewPr>
  <p:slideViewPr>
    <p:cSldViewPr snapToGrid="0" snapToObjects="1">
      <p:cViewPr varScale="1">
        <p:scale>
          <a:sx n="124" d="100"/>
          <a:sy n="124" d="100"/>
        </p:scale>
        <p:origin x="184"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5427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0EB72-EB28-CD17-590A-1E2E12C6A2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61F70-6563-4D45-1834-CBC0A325CF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D76E7E-FBA2-B4E9-FF66-81B407B288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572FC3-B8A2-61AB-7398-CB641825508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910266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3488B-152F-AFA6-05B2-FDEC09AA1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D33C5-BEC9-4EF7-7376-BC65BBE128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F938E4-4479-F200-3AD4-5DC56C2DF8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DFBB4C-7228-16EF-DD4C-5A68F00E767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889125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2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D7DD2"/>
          </a:solidFill>
          <a:ln/>
        </p:spPr>
        <p:txBody>
          <a:bodyPr/>
          <a:lstStyle/>
          <a:p>
            <a:endParaRPr lang="en-US"/>
          </a:p>
        </p:txBody>
      </p:sp>
      <p:sp>
        <p:nvSpPr>
          <p:cNvPr id="3" name="Text 1"/>
          <p:cNvSpPr/>
          <p:nvPr/>
        </p:nvSpPr>
        <p:spPr>
          <a:xfrm>
            <a:off x="411480" y="1005840"/>
            <a:ext cx="6400800" cy="7772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Business Fundamentals</a:t>
            </a:r>
            <a:endParaRPr lang="en-US" sz="4000" dirty="0"/>
          </a:p>
        </p:txBody>
      </p:sp>
      <p:sp>
        <p:nvSpPr>
          <p:cNvPr id="4" name="Text 2"/>
          <p:cNvSpPr/>
          <p:nvPr/>
        </p:nvSpPr>
        <p:spPr>
          <a:xfrm>
            <a:off x="411480" y="1783080"/>
            <a:ext cx="6400800" cy="640080"/>
          </a:xfrm>
          <a:prstGeom prst="rect">
            <a:avLst/>
          </a:prstGeom>
          <a:noFill/>
          <a:ln/>
        </p:spPr>
        <p:txBody>
          <a:bodyPr wrap="square" lIns="0" tIns="0" rIns="0" bIns="0" rtlCol="0" anchor="ctr"/>
          <a:lstStyle/>
          <a:p>
            <a:pPr marL="0" indent="0">
              <a:buNone/>
            </a:pPr>
            <a:endParaRPr lang="en-US" sz="4000" dirty="0"/>
          </a:p>
        </p:txBody>
      </p:sp>
      <p:sp>
        <p:nvSpPr>
          <p:cNvPr id="5" name="Text 3"/>
          <p:cNvSpPr/>
          <p:nvPr/>
        </p:nvSpPr>
        <p:spPr>
          <a:xfrm>
            <a:off x="411480" y="2606040"/>
            <a:ext cx="6858000" cy="36576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Operations &amp; Finance · How companies work · CFO perspective · M&amp;A</a:t>
            </a:r>
            <a:endParaRPr lang="en-US" sz="1400" dirty="0"/>
          </a:p>
        </p:txBody>
      </p:sp>
      <p:sp>
        <p:nvSpPr>
          <p:cNvPr id="6" name="Shape 4"/>
          <p:cNvSpPr/>
          <p:nvPr/>
        </p:nvSpPr>
        <p:spPr>
          <a:xfrm>
            <a:off x="7406640" y="0"/>
            <a:ext cx="1737360" cy="5143500"/>
          </a:xfrm>
          <a:prstGeom prst="rect">
            <a:avLst/>
          </a:prstGeom>
          <a:solidFill>
            <a:srgbClr val="1A3A5C"/>
          </a:solidFill>
          <a:ln/>
        </p:spPr>
        <p:txBody>
          <a:bodyPr/>
          <a:lstStyle/>
          <a:p>
            <a:endParaRPr lang="en-US"/>
          </a:p>
        </p:txBody>
      </p:sp>
      <p:sp>
        <p:nvSpPr>
          <p:cNvPr id="7" name="Shape 5"/>
          <p:cNvSpPr/>
          <p:nvPr/>
        </p:nvSpPr>
        <p:spPr>
          <a:xfrm>
            <a:off x="7406640" y="1645920"/>
            <a:ext cx="1737360" cy="1828800"/>
          </a:xfrm>
          <a:prstGeom prst="rect">
            <a:avLst/>
          </a:prstGeom>
          <a:solidFill>
            <a:srgbClr val="1E4976"/>
          </a:solidFill>
          <a:ln/>
        </p:spPr>
        <p:txBody>
          <a:bodyPr/>
          <a:lstStyle/>
          <a:p>
            <a:endParaRPr lang="en-US"/>
          </a:p>
        </p:txBody>
      </p:sp>
      <p:pic>
        <p:nvPicPr>
          <p:cNvPr id="15" name="Picture 14">
            <a:extLst>
              <a:ext uri="{FF2B5EF4-FFF2-40B4-BE49-F238E27FC236}">
                <a16:creationId xmlns:a16="http://schemas.microsoft.com/office/drawing/2014/main" id="{506CB283-5A0E-77F7-0E23-AE1A8E535255}"/>
              </a:ext>
            </a:extLst>
          </p:cNvPr>
          <p:cNvPicPr>
            <a:picLocks noChangeAspect="1"/>
          </p:cNvPicPr>
          <p:nvPr/>
        </p:nvPicPr>
        <p:blipFill>
          <a:blip r:embed="rId3"/>
          <a:stretch>
            <a:fillRect/>
          </a:stretch>
        </p:blipFill>
        <p:spPr>
          <a:xfrm>
            <a:off x="609600" y="4256844"/>
            <a:ext cx="2461846" cy="3761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2D7DD2"/>
          </a:solidFill>
          <a:ln/>
        </p:spPr>
        <p:txBody>
          <a:bodyPr/>
          <a:lstStyle/>
          <a:p>
            <a:endParaRPr lang="en-US"/>
          </a:p>
        </p:txBody>
      </p:sp>
      <p:sp>
        <p:nvSpPr>
          <p:cNvPr id="4" name="Text 2"/>
          <p:cNvSpPr/>
          <p:nvPr/>
        </p:nvSpPr>
        <p:spPr>
          <a:xfrm>
            <a:off x="457200" y="1325880"/>
            <a:ext cx="82296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How Companies Work</a:t>
            </a:r>
            <a:endParaRPr lang="en-US" sz="3400" dirty="0"/>
          </a:p>
        </p:txBody>
      </p:sp>
      <p:sp>
        <p:nvSpPr>
          <p:cNvPr id="5" name="Text 3"/>
          <p:cNvSpPr/>
          <p:nvPr/>
        </p:nvSpPr>
        <p:spPr>
          <a:xfrm>
            <a:off x="457200" y="2331720"/>
            <a:ext cx="7772400" cy="5029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Structure, stakeholders, and how decisions get made</a:t>
            </a:r>
            <a:endParaRPr lang="en-US" sz="1600" dirty="0"/>
          </a:p>
        </p:txBody>
      </p:sp>
      <p:sp>
        <p:nvSpPr>
          <p:cNvPr id="6" name="Shape 4"/>
          <p:cNvSpPr/>
          <p:nvPr/>
        </p:nvSpPr>
        <p:spPr>
          <a:xfrm>
            <a:off x="3200400" y="2880360"/>
            <a:ext cx="2743200" cy="438912"/>
          </a:xfrm>
          <a:prstGeom prst="rect">
            <a:avLst/>
          </a:prstGeom>
          <a:solidFill>
            <a:srgbClr val="0D2240"/>
          </a:solidFill>
          <a:ln/>
        </p:spPr>
        <p:txBody>
          <a:bodyPr/>
          <a:lstStyle/>
          <a:p>
            <a:endParaRPr lang="en-US"/>
          </a:p>
        </p:txBody>
      </p:sp>
      <p:sp>
        <p:nvSpPr>
          <p:cNvPr id="7" name="Text 5"/>
          <p:cNvSpPr/>
          <p:nvPr/>
        </p:nvSpPr>
        <p:spPr>
          <a:xfrm>
            <a:off x="3200400" y="2880360"/>
            <a:ext cx="274320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Board of Directors</a:t>
            </a:r>
            <a:endParaRPr lang="en-US" sz="1200" dirty="0"/>
          </a:p>
        </p:txBody>
      </p:sp>
      <p:sp>
        <p:nvSpPr>
          <p:cNvPr id="8" name="Shape 6"/>
          <p:cNvSpPr/>
          <p:nvPr/>
        </p:nvSpPr>
        <p:spPr>
          <a:xfrm>
            <a:off x="3749040" y="3520440"/>
            <a:ext cx="1645920" cy="411480"/>
          </a:xfrm>
          <a:prstGeom prst="rect">
            <a:avLst/>
          </a:prstGeom>
          <a:solidFill>
            <a:srgbClr val="2D7DD2"/>
          </a:solidFill>
          <a:ln/>
        </p:spPr>
        <p:txBody>
          <a:bodyPr/>
          <a:lstStyle/>
          <a:p>
            <a:endParaRPr lang="en-US"/>
          </a:p>
        </p:txBody>
      </p:sp>
      <p:sp>
        <p:nvSpPr>
          <p:cNvPr id="9" name="Text 7"/>
          <p:cNvSpPr/>
          <p:nvPr/>
        </p:nvSpPr>
        <p:spPr>
          <a:xfrm>
            <a:off x="3749040" y="3520440"/>
            <a:ext cx="16459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CEO</a:t>
            </a:r>
            <a:endParaRPr lang="en-US" sz="1200" dirty="0"/>
          </a:p>
        </p:txBody>
      </p:sp>
      <p:sp>
        <p:nvSpPr>
          <p:cNvPr id="10" name="Shape 8"/>
          <p:cNvSpPr/>
          <p:nvPr/>
        </p:nvSpPr>
        <p:spPr>
          <a:xfrm>
            <a:off x="457200" y="4160520"/>
            <a:ext cx="1828800" cy="411480"/>
          </a:xfrm>
          <a:prstGeom prst="rect">
            <a:avLst/>
          </a:prstGeom>
          <a:solidFill>
            <a:srgbClr val="1A3A5C"/>
          </a:solidFill>
          <a:ln/>
        </p:spPr>
        <p:txBody>
          <a:bodyPr/>
          <a:lstStyle/>
          <a:p>
            <a:endParaRPr lang="en-US"/>
          </a:p>
        </p:txBody>
      </p:sp>
      <p:sp>
        <p:nvSpPr>
          <p:cNvPr id="11" name="Text 9"/>
          <p:cNvSpPr/>
          <p:nvPr/>
        </p:nvSpPr>
        <p:spPr>
          <a:xfrm>
            <a:off x="457200" y="4160520"/>
            <a:ext cx="1828800" cy="411480"/>
          </a:xfrm>
          <a:prstGeom prst="rect">
            <a:avLst/>
          </a:prstGeom>
          <a:noFill/>
          <a:ln/>
        </p:spPr>
        <p:txBody>
          <a:bodyPr wrap="square" lIns="0" tIns="0" rIns="0" bIns="0" rtlCol="0" anchor="ctr"/>
          <a:lstStyle/>
          <a:p>
            <a:pPr marL="0" indent="0" algn="ctr">
              <a:buNone/>
            </a:pPr>
            <a:r>
              <a:rPr lang="en-US" sz="1200" b="1" dirty="0">
                <a:solidFill>
                  <a:srgbClr val="B5D4F4"/>
                </a:solidFill>
                <a:latin typeface="Calibri" pitchFamily="34" charset="0"/>
                <a:ea typeface="Calibri" pitchFamily="34" charset="-122"/>
                <a:cs typeface="Calibri" pitchFamily="34" charset="-120"/>
              </a:rPr>
              <a:t>CFO</a:t>
            </a:r>
            <a:endParaRPr lang="en-US" sz="1200" dirty="0"/>
          </a:p>
        </p:txBody>
      </p:sp>
      <p:sp>
        <p:nvSpPr>
          <p:cNvPr id="12" name="Shape 10"/>
          <p:cNvSpPr/>
          <p:nvPr/>
        </p:nvSpPr>
        <p:spPr>
          <a:xfrm>
            <a:off x="2468880" y="4160520"/>
            <a:ext cx="1828800" cy="411480"/>
          </a:xfrm>
          <a:prstGeom prst="rect">
            <a:avLst/>
          </a:prstGeom>
          <a:solidFill>
            <a:srgbClr val="1A3A5C"/>
          </a:solidFill>
          <a:ln/>
        </p:spPr>
        <p:txBody>
          <a:bodyPr/>
          <a:lstStyle/>
          <a:p>
            <a:endParaRPr lang="en-US"/>
          </a:p>
        </p:txBody>
      </p:sp>
      <p:sp>
        <p:nvSpPr>
          <p:cNvPr id="13" name="Text 11"/>
          <p:cNvSpPr/>
          <p:nvPr/>
        </p:nvSpPr>
        <p:spPr>
          <a:xfrm>
            <a:off x="2468880" y="4160520"/>
            <a:ext cx="1828800" cy="411480"/>
          </a:xfrm>
          <a:prstGeom prst="rect">
            <a:avLst/>
          </a:prstGeom>
          <a:noFill/>
          <a:ln/>
        </p:spPr>
        <p:txBody>
          <a:bodyPr wrap="square" lIns="0" tIns="0" rIns="0" bIns="0" rtlCol="0" anchor="ctr"/>
          <a:lstStyle/>
          <a:p>
            <a:pPr marL="0" indent="0" algn="ctr">
              <a:buNone/>
            </a:pPr>
            <a:r>
              <a:rPr lang="en-US" sz="1200" b="1" dirty="0">
                <a:solidFill>
                  <a:srgbClr val="B5D4F4"/>
                </a:solidFill>
                <a:latin typeface="Calibri" pitchFamily="34" charset="0"/>
                <a:ea typeface="Calibri" pitchFamily="34" charset="-122"/>
                <a:cs typeface="Calibri" pitchFamily="34" charset="-120"/>
              </a:rPr>
              <a:t>CRO</a:t>
            </a:r>
            <a:endParaRPr lang="en-US" sz="1200" dirty="0"/>
          </a:p>
        </p:txBody>
      </p:sp>
      <p:sp>
        <p:nvSpPr>
          <p:cNvPr id="14" name="Shape 12"/>
          <p:cNvSpPr/>
          <p:nvPr/>
        </p:nvSpPr>
        <p:spPr>
          <a:xfrm>
            <a:off x="4480560" y="4160520"/>
            <a:ext cx="1828800" cy="411480"/>
          </a:xfrm>
          <a:prstGeom prst="rect">
            <a:avLst/>
          </a:prstGeom>
          <a:solidFill>
            <a:srgbClr val="1A3A5C"/>
          </a:solidFill>
          <a:ln/>
        </p:spPr>
        <p:txBody>
          <a:bodyPr/>
          <a:lstStyle/>
          <a:p>
            <a:endParaRPr lang="en-US"/>
          </a:p>
        </p:txBody>
      </p:sp>
      <p:sp>
        <p:nvSpPr>
          <p:cNvPr id="15" name="Text 13"/>
          <p:cNvSpPr/>
          <p:nvPr/>
        </p:nvSpPr>
        <p:spPr>
          <a:xfrm>
            <a:off x="4480560" y="4160520"/>
            <a:ext cx="1828800" cy="411480"/>
          </a:xfrm>
          <a:prstGeom prst="rect">
            <a:avLst/>
          </a:prstGeom>
          <a:noFill/>
          <a:ln/>
        </p:spPr>
        <p:txBody>
          <a:bodyPr wrap="square" lIns="0" tIns="0" rIns="0" bIns="0" rtlCol="0" anchor="ctr"/>
          <a:lstStyle/>
          <a:p>
            <a:pPr marL="0" indent="0" algn="ctr">
              <a:buNone/>
            </a:pPr>
            <a:r>
              <a:rPr lang="en-US" sz="1200" b="1" dirty="0">
                <a:solidFill>
                  <a:srgbClr val="B5D4F4"/>
                </a:solidFill>
                <a:latin typeface="Calibri" pitchFamily="34" charset="0"/>
                <a:ea typeface="Calibri" pitchFamily="34" charset="-122"/>
                <a:cs typeface="Calibri" pitchFamily="34" charset="-120"/>
              </a:rPr>
              <a:t>CTO</a:t>
            </a:r>
            <a:endParaRPr lang="en-US" sz="1200" dirty="0"/>
          </a:p>
        </p:txBody>
      </p:sp>
      <p:sp>
        <p:nvSpPr>
          <p:cNvPr id="16" name="Shape 14"/>
          <p:cNvSpPr/>
          <p:nvPr/>
        </p:nvSpPr>
        <p:spPr>
          <a:xfrm>
            <a:off x="6492240" y="4160520"/>
            <a:ext cx="2194560" cy="411480"/>
          </a:xfrm>
          <a:prstGeom prst="rect">
            <a:avLst/>
          </a:prstGeom>
          <a:solidFill>
            <a:srgbClr val="1A3A5C"/>
          </a:solidFill>
          <a:ln/>
        </p:spPr>
        <p:txBody>
          <a:bodyPr/>
          <a:lstStyle/>
          <a:p>
            <a:endParaRPr lang="en-US"/>
          </a:p>
        </p:txBody>
      </p:sp>
      <p:sp>
        <p:nvSpPr>
          <p:cNvPr id="17" name="Text 15"/>
          <p:cNvSpPr/>
          <p:nvPr/>
        </p:nvSpPr>
        <p:spPr>
          <a:xfrm>
            <a:off x="6492240" y="4160520"/>
            <a:ext cx="2194560" cy="411480"/>
          </a:xfrm>
          <a:prstGeom prst="rect">
            <a:avLst/>
          </a:prstGeom>
          <a:noFill/>
          <a:ln/>
        </p:spPr>
        <p:txBody>
          <a:bodyPr wrap="square" lIns="0" tIns="0" rIns="0" bIns="0" rtlCol="0" anchor="ctr"/>
          <a:lstStyle/>
          <a:p>
            <a:pPr marL="0" indent="0" algn="ctr">
              <a:buNone/>
            </a:pPr>
            <a:r>
              <a:rPr lang="en-US" sz="1200" b="1" dirty="0">
                <a:solidFill>
                  <a:srgbClr val="B5D4F4"/>
                </a:solidFill>
                <a:latin typeface="Calibri" pitchFamily="34" charset="0"/>
                <a:ea typeface="Calibri" pitchFamily="34" charset="-122"/>
                <a:cs typeface="Calibri" pitchFamily="34" charset="-120"/>
              </a:rPr>
              <a:t>CMO</a:t>
            </a:r>
            <a:endParaRPr lang="en-US" sz="1200" dirty="0"/>
          </a:p>
        </p:txBody>
      </p:sp>
      <p:sp>
        <p:nvSpPr>
          <p:cNvPr id="18" name="Shape 16"/>
          <p:cNvSpPr/>
          <p:nvPr/>
        </p:nvSpPr>
        <p:spPr>
          <a:xfrm>
            <a:off x="4572000" y="3319272"/>
            <a:ext cx="0" cy="201168"/>
          </a:xfrm>
          <a:prstGeom prst="line">
            <a:avLst/>
          </a:prstGeom>
          <a:noFill/>
          <a:ln w="19050">
            <a:solidFill>
              <a:srgbClr val="B5D4F4"/>
            </a:solidFill>
            <a:prstDash val="solid"/>
          </a:ln>
        </p:spPr>
        <p:txBody>
          <a:bodyPr/>
          <a:lstStyle/>
          <a:p>
            <a:endParaRPr lang="en-US"/>
          </a:p>
        </p:txBody>
      </p:sp>
      <p:sp>
        <p:nvSpPr>
          <p:cNvPr id="19" name="Shape 17"/>
          <p:cNvSpPr/>
          <p:nvPr/>
        </p:nvSpPr>
        <p:spPr>
          <a:xfrm>
            <a:off x="1371600" y="3931920"/>
            <a:ext cx="0" cy="228600"/>
          </a:xfrm>
          <a:prstGeom prst="line">
            <a:avLst/>
          </a:prstGeom>
          <a:noFill/>
          <a:ln w="12700">
            <a:solidFill>
              <a:srgbClr val="B5D4F4"/>
            </a:solidFill>
            <a:prstDash val="solid"/>
          </a:ln>
        </p:spPr>
        <p:txBody>
          <a:bodyPr/>
          <a:lstStyle/>
          <a:p>
            <a:endParaRPr lang="en-US"/>
          </a:p>
        </p:txBody>
      </p:sp>
      <p:sp>
        <p:nvSpPr>
          <p:cNvPr id="20" name="Shape 18"/>
          <p:cNvSpPr/>
          <p:nvPr/>
        </p:nvSpPr>
        <p:spPr>
          <a:xfrm>
            <a:off x="3383280" y="3931920"/>
            <a:ext cx="0" cy="228600"/>
          </a:xfrm>
          <a:prstGeom prst="line">
            <a:avLst/>
          </a:prstGeom>
          <a:noFill/>
          <a:ln w="12700">
            <a:solidFill>
              <a:srgbClr val="B5D4F4"/>
            </a:solidFill>
            <a:prstDash val="solid"/>
          </a:ln>
        </p:spPr>
        <p:txBody>
          <a:bodyPr/>
          <a:lstStyle/>
          <a:p>
            <a:endParaRPr lang="en-US"/>
          </a:p>
        </p:txBody>
      </p:sp>
      <p:sp>
        <p:nvSpPr>
          <p:cNvPr id="21" name="Shape 19"/>
          <p:cNvSpPr/>
          <p:nvPr/>
        </p:nvSpPr>
        <p:spPr>
          <a:xfrm>
            <a:off x="5394960" y="3931920"/>
            <a:ext cx="0" cy="228600"/>
          </a:xfrm>
          <a:prstGeom prst="line">
            <a:avLst/>
          </a:prstGeom>
          <a:noFill/>
          <a:ln w="12700">
            <a:solidFill>
              <a:srgbClr val="B5D4F4"/>
            </a:solidFill>
            <a:prstDash val="solid"/>
          </a:ln>
        </p:spPr>
        <p:txBody>
          <a:bodyPr/>
          <a:lstStyle/>
          <a:p>
            <a:endParaRPr lang="en-US"/>
          </a:p>
        </p:txBody>
      </p:sp>
      <p:sp>
        <p:nvSpPr>
          <p:cNvPr id="22" name="Shape 20"/>
          <p:cNvSpPr/>
          <p:nvPr/>
        </p:nvSpPr>
        <p:spPr>
          <a:xfrm>
            <a:off x="7589520" y="3931920"/>
            <a:ext cx="0" cy="228600"/>
          </a:xfrm>
          <a:prstGeom prst="line">
            <a:avLst/>
          </a:prstGeom>
          <a:noFill/>
          <a:ln w="12700">
            <a:solidFill>
              <a:srgbClr val="B5D4F4"/>
            </a:solidFill>
            <a:prstDash val="solid"/>
          </a:ln>
        </p:spPr>
        <p:txBody>
          <a:bodyPr/>
          <a:lstStyle/>
          <a:p>
            <a:endParaRPr lang="en-US"/>
          </a:p>
        </p:txBody>
      </p:sp>
      <p:sp>
        <p:nvSpPr>
          <p:cNvPr id="23" name="Shape 21"/>
          <p:cNvSpPr/>
          <p:nvPr/>
        </p:nvSpPr>
        <p:spPr>
          <a:xfrm>
            <a:off x="1371600" y="3931920"/>
            <a:ext cx="6217920" cy="0"/>
          </a:xfrm>
          <a:prstGeom prst="line">
            <a:avLst/>
          </a:prstGeom>
          <a:noFill/>
          <a:ln w="12700">
            <a:solidFill>
              <a:srgbClr val="B5D4F4"/>
            </a:solidFill>
            <a:prstDash val="solid"/>
          </a:ln>
        </p:spPr>
        <p:txBody>
          <a:bodyPr/>
          <a:lstStyle/>
          <a:p>
            <a:endParaRPr lang="en-US"/>
          </a:p>
        </p:txBody>
      </p:sp>
      <p:sp>
        <p:nvSpPr>
          <p:cNvPr id="24" name="Shape 22"/>
          <p:cNvSpPr/>
          <p:nvPr/>
        </p:nvSpPr>
        <p:spPr>
          <a:xfrm>
            <a:off x="274320" y="2834640"/>
            <a:ext cx="2743200" cy="1417320"/>
          </a:xfrm>
          <a:prstGeom prst="rect">
            <a:avLst/>
          </a:prstGeom>
          <a:solidFill>
            <a:srgbClr val="FAEEDA"/>
          </a:solidFill>
          <a:ln/>
        </p:spPr>
        <p:txBody>
          <a:bodyPr/>
          <a:lstStyle/>
          <a:p>
            <a:endParaRPr lang="en-US"/>
          </a:p>
        </p:txBody>
      </p:sp>
      <p:sp>
        <p:nvSpPr>
          <p:cNvPr id="25" name="Shape 23"/>
          <p:cNvSpPr/>
          <p:nvPr/>
        </p:nvSpPr>
        <p:spPr>
          <a:xfrm>
            <a:off x="274320" y="2834640"/>
            <a:ext cx="54864" cy="1417320"/>
          </a:xfrm>
          <a:prstGeom prst="rect">
            <a:avLst/>
          </a:prstGeom>
          <a:solidFill>
            <a:srgbClr val="D97706"/>
          </a:solidFill>
          <a:ln/>
        </p:spPr>
        <p:txBody>
          <a:bodyPr/>
          <a:lstStyle/>
          <a:p>
            <a:endParaRPr lang="en-US"/>
          </a:p>
        </p:txBody>
      </p:sp>
      <p:sp>
        <p:nvSpPr>
          <p:cNvPr id="26" name="Text 24"/>
          <p:cNvSpPr/>
          <p:nvPr/>
        </p:nvSpPr>
        <p:spPr>
          <a:xfrm>
            <a:off x="384048" y="2907792"/>
            <a:ext cx="2560320" cy="256032"/>
          </a:xfrm>
          <a:prstGeom prst="rect">
            <a:avLst/>
          </a:prstGeom>
          <a:noFill/>
          <a:ln/>
        </p:spPr>
        <p:txBody>
          <a:bodyPr wrap="square" lIns="0" tIns="0" rIns="0" bIns="0" rtlCol="0" anchor="ctr"/>
          <a:lstStyle/>
          <a:p>
            <a:pPr marL="0" indent="0">
              <a:buNone/>
            </a:pPr>
            <a:r>
              <a:rPr lang="en-US" sz="1100" b="1" dirty="0">
                <a:solidFill>
                  <a:srgbClr val="D97706"/>
                </a:solidFill>
                <a:latin typeface="Calibri" pitchFamily="34" charset="0"/>
                <a:ea typeface="Calibri" pitchFamily="34" charset="-122"/>
                <a:cs typeface="Calibri" pitchFamily="34" charset="-120"/>
              </a:rPr>
              <a:t>At $35M revenue</a:t>
            </a:r>
            <a:endParaRPr lang="en-US" sz="1100" dirty="0"/>
          </a:p>
        </p:txBody>
      </p:sp>
      <p:sp>
        <p:nvSpPr>
          <p:cNvPr id="27" name="Text 25"/>
          <p:cNvSpPr/>
          <p:nvPr/>
        </p:nvSpPr>
        <p:spPr>
          <a:xfrm>
            <a:off x="384048" y="3163824"/>
            <a:ext cx="2560320" cy="10058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The C-suite is small and hands-on. CFO often also owns HR, legal, and risk. CEO and CFO talk daily.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D7DD2"/>
          </a:solidFill>
          <a:ln/>
        </p:spPr>
        <p:txBody>
          <a:bodyPr/>
          <a:lstStyle/>
          <a:p>
            <a:endParaRPr lang="en-US"/>
          </a:p>
        </p:txBody>
      </p:sp>
      <p:sp>
        <p:nvSpPr>
          <p:cNvPr id="3" name="Text 1"/>
          <p:cNvSpPr/>
          <p:nvPr/>
        </p:nvSpPr>
        <p:spPr>
          <a:xfrm>
            <a:off x="365760" y="54864"/>
            <a:ext cx="68580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How Decisions Get Made</a:t>
            </a:r>
            <a:endParaRPr lang="en-US" sz="1800" dirty="0"/>
          </a:p>
        </p:txBody>
      </p:sp>
      <p:sp>
        <p:nvSpPr>
          <p:cNvPr id="4" name="Text 2"/>
          <p:cNvSpPr/>
          <p:nvPr/>
        </p:nvSpPr>
        <p:spPr>
          <a:xfrm>
            <a:off x="365760" y="658368"/>
            <a:ext cx="8412480" cy="34747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Three decision tiers — operational, tactical, and strategic</a:t>
            </a:r>
            <a:endParaRPr lang="en-US" sz="1200" dirty="0"/>
          </a:p>
        </p:txBody>
      </p:sp>
      <p:sp>
        <p:nvSpPr>
          <p:cNvPr id="5" name="Shape 3"/>
          <p:cNvSpPr/>
          <p:nvPr/>
        </p:nvSpPr>
        <p:spPr>
          <a:xfrm>
            <a:off x="365760" y="1115568"/>
            <a:ext cx="2651760" cy="320040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6" name="Shape 4"/>
          <p:cNvSpPr/>
          <p:nvPr/>
        </p:nvSpPr>
        <p:spPr>
          <a:xfrm>
            <a:off x="365760" y="1115568"/>
            <a:ext cx="2651760" cy="502920"/>
          </a:xfrm>
          <a:prstGeom prst="rect">
            <a:avLst/>
          </a:prstGeom>
          <a:solidFill>
            <a:srgbClr val="028090"/>
          </a:solidFill>
          <a:ln/>
        </p:spPr>
        <p:txBody>
          <a:bodyPr/>
          <a:lstStyle/>
          <a:p>
            <a:endParaRPr lang="en-US"/>
          </a:p>
        </p:txBody>
      </p:sp>
      <p:sp>
        <p:nvSpPr>
          <p:cNvPr id="7" name="Text 5"/>
          <p:cNvSpPr/>
          <p:nvPr/>
        </p:nvSpPr>
        <p:spPr>
          <a:xfrm>
            <a:off x="365760" y="1115568"/>
            <a:ext cx="26517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Operational</a:t>
            </a:r>
            <a:endParaRPr lang="en-US" sz="1600" dirty="0"/>
          </a:p>
        </p:txBody>
      </p:sp>
      <p:sp>
        <p:nvSpPr>
          <p:cNvPr id="8" name="Text 6"/>
          <p:cNvSpPr/>
          <p:nvPr/>
        </p:nvSpPr>
        <p:spPr>
          <a:xfrm>
            <a:off x="502920" y="1737360"/>
            <a:ext cx="502920" cy="256032"/>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Who:</a:t>
            </a:r>
            <a:endParaRPr lang="en-US" sz="1000" dirty="0"/>
          </a:p>
        </p:txBody>
      </p:sp>
      <p:sp>
        <p:nvSpPr>
          <p:cNvPr id="9" name="Text 7"/>
          <p:cNvSpPr/>
          <p:nvPr/>
        </p:nvSpPr>
        <p:spPr>
          <a:xfrm>
            <a:off x="1024128" y="1737360"/>
            <a:ext cx="1828800" cy="25603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Managers </a:t>
            </a:r>
            <a:endParaRPr lang="en-US" sz="1000" dirty="0"/>
          </a:p>
        </p:txBody>
      </p:sp>
      <p:sp>
        <p:nvSpPr>
          <p:cNvPr id="10" name="Text 8"/>
          <p:cNvSpPr/>
          <p:nvPr/>
        </p:nvSpPr>
        <p:spPr>
          <a:xfrm>
            <a:off x="502920" y="2057400"/>
            <a:ext cx="640080" cy="36576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Scope:</a:t>
            </a:r>
            <a:endParaRPr lang="en-US" sz="1000" dirty="0"/>
          </a:p>
        </p:txBody>
      </p:sp>
      <p:sp>
        <p:nvSpPr>
          <p:cNvPr id="11" name="Text 9"/>
          <p:cNvSpPr/>
          <p:nvPr/>
        </p:nvSpPr>
        <p:spPr>
          <a:xfrm>
            <a:off x="1024128" y="2057400"/>
            <a:ext cx="182880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Day-to-day within budget &amp; authority</a:t>
            </a:r>
            <a:endParaRPr lang="en-US" sz="1000" dirty="0"/>
          </a:p>
        </p:txBody>
      </p:sp>
      <p:sp>
        <p:nvSpPr>
          <p:cNvPr id="14" name="Shape 12"/>
          <p:cNvSpPr/>
          <p:nvPr/>
        </p:nvSpPr>
        <p:spPr>
          <a:xfrm>
            <a:off x="3246120" y="1115568"/>
            <a:ext cx="2651760" cy="320040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5" name="Shape 13"/>
          <p:cNvSpPr/>
          <p:nvPr/>
        </p:nvSpPr>
        <p:spPr>
          <a:xfrm>
            <a:off x="3246120" y="1115568"/>
            <a:ext cx="2651760" cy="502920"/>
          </a:xfrm>
          <a:prstGeom prst="rect">
            <a:avLst/>
          </a:prstGeom>
          <a:solidFill>
            <a:srgbClr val="2D7DD2"/>
          </a:solidFill>
          <a:ln/>
        </p:spPr>
        <p:txBody>
          <a:bodyPr/>
          <a:lstStyle/>
          <a:p>
            <a:endParaRPr lang="en-US"/>
          </a:p>
        </p:txBody>
      </p:sp>
      <p:sp>
        <p:nvSpPr>
          <p:cNvPr id="16" name="Text 14"/>
          <p:cNvSpPr/>
          <p:nvPr/>
        </p:nvSpPr>
        <p:spPr>
          <a:xfrm>
            <a:off x="3246120" y="1115568"/>
            <a:ext cx="26517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Tactical</a:t>
            </a:r>
            <a:endParaRPr lang="en-US" sz="1600" dirty="0"/>
          </a:p>
        </p:txBody>
      </p:sp>
      <p:sp>
        <p:nvSpPr>
          <p:cNvPr id="17" name="Text 15"/>
          <p:cNvSpPr/>
          <p:nvPr/>
        </p:nvSpPr>
        <p:spPr>
          <a:xfrm>
            <a:off x="3383280" y="1737360"/>
            <a:ext cx="502920" cy="256032"/>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Who:</a:t>
            </a:r>
            <a:endParaRPr lang="en-US" sz="1000" dirty="0"/>
          </a:p>
        </p:txBody>
      </p:sp>
      <p:sp>
        <p:nvSpPr>
          <p:cNvPr id="18" name="Text 16"/>
          <p:cNvSpPr/>
          <p:nvPr/>
        </p:nvSpPr>
        <p:spPr>
          <a:xfrm>
            <a:off x="3904488" y="1737360"/>
            <a:ext cx="1828800" cy="25603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VPs &amp; Directors</a:t>
            </a:r>
            <a:endParaRPr lang="en-US" sz="1000" dirty="0"/>
          </a:p>
        </p:txBody>
      </p:sp>
      <p:sp>
        <p:nvSpPr>
          <p:cNvPr id="19" name="Text 17"/>
          <p:cNvSpPr/>
          <p:nvPr/>
        </p:nvSpPr>
        <p:spPr>
          <a:xfrm>
            <a:off x="3383280" y="2057400"/>
            <a:ext cx="640080" cy="36576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Scope:</a:t>
            </a:r>
            <a:endParaRPr lang="en-US" sz="1000" dirty="0"/>
          </a:p>
        </p:txBody>
      </p:sp>
      <p:sp>
        <p:nvSpPr>
          <p:cNvPr id="20" name="Text 18"/>
          <p:cNvSpPr/>
          <p:nvPr/>
        </p:nvSpPr>
        <p:spPr>
          <a:xfrm>
            <a:off x="3904488" y="2057400"/>
            <a:ext cx="182880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Cross-function coordination, quarterly goals</a:t>
            </a:r>
            <a:endParaRPr lang="en-US" sz="1000" dirty="0"/>
          </a:p>
        </p:txBody>
      </p:sp>
      <p:sp>
        <p:nvSpPr>
          <p:cNvPr id="23" name="Shape 21"/>
          <p:cNvSpPr/>
          <p:nvPr/>
        </p:nvSpPr>
        <p:spPr>
          <a:xfrm>
            <a:off x="6126480" y="1115568"/>
            <a:ext cx="2651760" cy="320040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24" name="Shape 22"/>
          <p:cNvSpPr/>
          <p:nvPr/>
        </p:nvSpPr>
        <p:spPr>
          <a:xfrm>
            <a:off x="6126480" y="1147572"/>
            <a:ext cx="2651760" cy="502920"/>
          </a:xfrm>
          <a:prstGeom prst="rect">
            <a:avLst/>
          </a:prstGeom>
          <a:solidFill>
            <a:srgbClr val="0D2240"/>
          </a:solidFill>
          <a:ln/>
        </p:spPr>
        <p:txBody>
          <a:bodyPr/>
          <a:lstStyle/>
          <a:p>
            <a:endParaRPr lang="en-US"/>
          </a:p>
        </p:txBody>
      </p:sp>
      <p:sp>
        <p:nvSpPr>
          <p:cNvPr id="25" name="Text 23"/>
          <p:cNvSpPr/>
          <p:nvPr/>
        </p:nvSpPr>
        <p:spPr>
          <a:xfrm>
            <a:off x="6126480" y="1115568"/>
            <a:ext cx="26517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Strategic</a:t>
            </a:r>
            <a:endParaRPr lang="en-US" sz="1600" dirty="0"/>
          </a:p>
        </p:txBody>
      </p:sp>
      <p:sp>
        <p:nvSpPr>
          <p:cNvPr id="26" name="Text 24"/>
          <p:cNvSpPr/>
          <p:nvPr/>
        </p:nvSpPr>
        <p:spPr>
          <a:xfrm>
            <a:off x="6263640" y="1737360"/>
            <a:ext cx="502920" cy="256032"/>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Who:</a:t>
            </a:r>
            <a:endParaRPr lang="en-US" sz="1000" dirty="0"/>
          </a:p>
        </p:txBody>
      </p:sp>
      <p:sp>
        <p:nvSpPr>
          <p:cNvPr id="27" name="Text 25"/>
          <p:cNvSpPr/>
          <p:nvPr/>
        </p:nvSpPr>
        <p:spPr>
          <a:xfrm>
            <a:off x="6784848" y="1737360"/>
            <a:ext cx="1828800" cy="25603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CEO + Board</a:t>
            </a:r>
            <a:endParaRPr lang="en-US" sz="1000" dirty="0"/>
          </a:p>
        </p:txBody>
      </p:sp>
      <p:sp>
        <p:nvSpPr>
          <p:cNvPr id="28" name="Text 26"/>
          <p:cNvSpPr/>
          <p:nvPr/>
        </p:nvSpPr>
        <p:spPr>
          <a:xfrm>
            <a:off x="6263640" y="2057400"/>
            <a:ext cx="640080" cy="36576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Scope:</a:t>
            </a:r>
            <a:endParaRPr lang="en-US" sz="1000" dirty="0"/>
          </a:p>
        </p:txBody>
      </p:sp>
      <p:sp>
        <p:nvSpPr>
          <p:cNvPr id="29" name="Text 27"/>
          <p:cNvSpPr/>
          <p:nvPr/>
        </p:nvSpPr>
        <p:spPr>
          <a:xfrm>
            <a:off x="6784848" y="2057400"/>
            <a:ext cx="182880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Direction, capital allocation, major bets</a:t>
            </a:r>
            <a:endParaRPr lang="en-US" sz="1000" dirty="0"/>
          </a:p>
        </p:txBody>
      </p:sp>
      <p:sp>
        <p:nvSpPr>
          <p:cNvPr id="32" name="Shape 30"/>
          <p:cNvSpPr/>
          <p:nvPr/>
        </p:nvSpPr>
        <p:spPr>
          <a:xfrm>
            <a:off x="365760" y="4507992"/>
            <a:ext cx="8412480" cy="475488"/>
          </a:xfrm>
          <a:prstGeom prst="rect">
            <a:avLst/>
          </a:prstGeom>
          <a:solidFill>
            <a:srgbClr val="FAEEDA"/>
          </a:solidFill>
          <a:ln/>
        </p:spPr>
        <p:txBody>
          <a:bodyPr/>
          <a:lstStyle/>
          <a:p>
            <a:endParaRPr lang="en-US"/>
          </a:p>
        </p:txBody>
      </p:sp>
      <p:sp>
        <p:nvSpPr>
          <p:cNvPr id="33" name="Shape 31"/>
          <p:cNvSpPr/>
          <p:nvPr/>
        </p:nvSpPr>
        <p:spPr>
          <a:xfrm>
            <a:off x="365760" y="4507992"/>
            <a:ext cx="54864" cy="475488"/>
          </a:xfrm>
          <a:prstGeom prst="rect">
            <a:avLst/>
          </a:prstGeom>
          <a:solidFill>
            <a:srgbClr val="D97706"/>
          </a:solidFill>
          <a:ln/>
        </p:spPr>
        <p:txBody>
          <a:bodyPr/>
          <a:lstStyle/>
          <a:p>
            <a:endParaRPr lang="en-US"/>
          </a:p>
        </p:txBody>
      </p:sp>
      <p:sp>
        <p:nvSpPr>
          <p:cNvPr id="34" name="Text 32"/>
          <p:cNvSpPr/>
          <p:nvPr/>
        </p:nvSpPr>
        <p:spPr>
          <a:xfrm>
            <a:off x="502920" y="4507992"/>
            <a:ext cx="8138160" cy="47548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CFO financial gate: no significant spend without CFO approval — regardless of decision tier.</a:t>
            </a:r>
            <a:endParaRPr lang="en-US" sz="1100" dirty="0"/>
          </a:p>
        </p:txBody>
      </p:sp>
      <p:sp>
        <p:nvSpPr>
          <p:cNvPr id="35" name="Text 8">
            <a:extLst>
              <a:ext uri="{FF2B5EF4-FFF2-40B4-BE49-F238E27FC236}">
                <a16:creationId xmlns:a16="http://schemas.microsoft.com/office/drawing/2014/main" id="{74E5D7FC-A175-CE6D-D628-AC9BC8195461}"/>
              </a:ext>
            </a:extLst>
          </p:cNvPr>
          <p:cNvSpPr/>
          <p:nvPr/>
        </p:nvSpPr>
        <p:spPr>
          <a:xfrm>
            <a:off x="502920" y="2697480"/>
            <a:ext cx="640080" cy="36576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Types:</a:t>
            </a:r>
            <a:endParaRPr lang="en-US" sz="1000" dirty="0"/>
          </a:p>
        </p:txBody>
      </p:sp>
      <p:sp>
        <p:nvSpPr>
          <p:cNvPr id="36" name="Text 9">
            <a:extLst>
              <a:ext uri="{FF2B5EF4-FFF2-40B4-BE49-F238E27FC236}">
                <a16:creationId xmlns:a16="http://schemas.microsoft.com/office/drawing/2014/main" id="{1C6947E4-39C0-FE91-49F0-A077789251FF}"/>
              </a:ext>
            </a:extLst>
          </p:cNvPr>
          <p:cNvSpPr/>
          <p:nvPr/>
        </p:nvSpPr>
        <p:spPr>
          <a:xfrm>
            <a:off x="965507" y="2709987"/>
            <a:ext cx="182880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Staffing, routine customer relations, the “how </a:t>
            </a:r>
            <a:r>
              <a:rPr lang="en-US" sz="1000" dirty="0" err="1">
                <a:solidFill>
                  <a:srgbClr val="1E293B"/>
                </a:solidFill>
                <a:latin typeface="Calibri" pitchFamily="34" charset="0"/>
                <a:ea typeface="Calibri" pitchFamily="34" charset="-122"/>
                <a:cs typeface="Calibri" pitchFamily="34" charset="-120"/>
              </a:rPr>
              <a:t>to’s</a:t>
            </a:r>
            <a:r>
              <a:rPr lang="en-US" sz="1000" dirty="0">
                <a:solidFill>
                  <a:srgbClr val="1E293B"/>
                </a:solidFill>
                <a:latin typeface="Calibri" pitchFamily="34" charset="0"/>
                <a:ea typeface="Calibri" pitchFamily="34" charset="-122"/>
                <a:cs typeface="Calibri" pitchFamily="34" charset="-120"/>
              </a:rPr>
              <a:t>”</a:t>
            </a:r>
            <a:endParaRPr lang="en-US" sz="1000" dirty="0"/>
          </a:p>
        </p:txBody>
      </p:sp>
      <p:sp>
        <p:nvSpPr>
          <p:cNvPr id="37" name="Text 8">
            <a:extLst>
              <a:ext uri="{FF2B5EF4-FFF2-40B4-BE49-F238E27FC236}">
                <a16:creationId xmlns:a16="http://schemas.microsoft.com/office/drawing/2014/main" id="{469DCDE0-5FA8-F625-B6D0-CC194F320451}"/>
              </a:ext>
            </a:extLst>
          </p:cNvPr>
          <p:cNvSpPr/>
          <p:nvPr/>
        </p:nvSpPr>
        <p:spPr>
          <a:xfrm>
            <a:off x="3328181" y="2677950"/>
            <a:ext cx="640080" cy="36576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Types:</a:t>
            </a:r>
            <a:endParaRPr lang="en-US" sz="1000" dirty="0"/>
          </a:p>
        </p:txBody>
      </p:sp>
      <p:sp>
        <p:nvSpPr>
          <p:cNvPr id="38" name="Text 9">
            <a:extLst>
              <a:ext uri="{FF2B5EF4-FFF2-40B4-BE49-F238E27FC236}">
                <a16:creationId xmlns:a16="http://schemas.microsoft.com/office/drawing/2014/main" id="{7D922118-EA88-287A-A307-ABBD303964BF}"/>
              </a:ext>
            </a:extLst>
          </p:cNvPr>
          <p:cNvSpPr/>
          <p:nvPr/>
        </p:nvSpPr>
        <p:spPr>
          <a:xfrm>
            <a:off x="3790768" y="2690457"/>
            <a:ext cx="182880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Go-to-market, internal initiatives (AI), sales and marketing plans</a:t>
            </a:r>
            <a:endParaRPr lang="en-US" sz="1000" dirty="0"/>
          </a:p>
        </p:txBody>
      </p:sp>
      <p:sp>
        <p:nvSpPr>
          <p:cNvPr id="39" name="Text 8">
            <a:extLst>
              <a:ext uri="{FF2B5EF4-FFF2-40B4-BE49-F238E27FC236}">
                <a16:creationId xmlns:a16="http://schemas.microsoft.com/office/drawing/2014/main" id="{F744D486-BB81-F5BA-EF78-82B38400C411}"/>
              </a:ext>
            </a:extLst>
          </p:cNvPr>
          <p:cNvSpPr/>
          <p:nvPr/>
        </p:nvSpPr>
        <p:spPr>
          <a:xfrm>
            <a:off x="6255043" y="2666235"/>
            <a:ext cx="640080" cy="36576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Types:</a:t>
            </a:r>
            <a:endParaRPr lang="en-US" sz="1000" dirty="0"/>
          </a:p>
        </p:txBody>
      </p:sp>
      <p:sp>
        <p:nvSpPr>
          <p:cNvPr id="40" name="Text 9">
            <a:extLst>
              <a:ext uri="{FF2B5EF4-FFF2-40B4-BE49-F238E27FC236}">
                <a16:creationId xmlns:a16="http://schemas.microsoft.com/office/drawing/2014/main" id="{F73C297A-4332-2A2E-4CF6-2AF6F7A7CC47}"/>
              </a:ext>
            </a:extLst>
          </p:cNvPr>
          <p:cNvSpPr/>
          <p:nvPr/>
        </p:nvSpPr>
        <p:spPr>
          <a:xfrm>
            <a:off x="6717630" y="2678742"/>
            <a:ext cx="182880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M&amp;A, organization structure, product direction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0D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D97706"/>
          </a:solidFill>
          <a:ln/>
        </p:spPr>
        <p:txBody>
          <a:bodyPr/>
          <a:lstStyle/>
          <a:p>
            <a:endParaRPr lang="en-US"/>
          </a:p>
        </p:txBody>
      </p:sp>
      <p:sp>
        <p:nvSpPr>
          <p:cNvPr id="4" name="Text 2"/>
          <p:cNvSpPr/>
          <p:nvPr/>
        </p:nvSpPr>
        <p:spPr>
          <a:xfrm>
            <a:off x="457200" y="1325880"/>
            <a:ext cx="82296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Day in the Life of a CFO</a:t>
            </a:r>
            <a:endParaRPr lang="en-US" sz="3400" dirty="0"/>
          </a:p>
        </p:txBody>
      </p:sp>
      <p:sp>
        <p:nvSpPr>
          <p:cNvPr id="5" name="Text 3"/>
          <p:cNvSpPr/>
          <p:nvPr/>
        </p:nvSpPr>
        <p:spPr>
          <a:xfrm>
            <a:off x="457200" y="2331720"/>
            <a:ext cx="7772400" cy="5029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At a $35M company — player-coach, strategist, and firefighter…..CONSTANT LISTENER</a:t>
            </a:r>
            <a:endParaRPr lang="en-US" sz="1600" dirty="0"/>
          </a:p>
        </p:txBody>
      </p:sp>
      <p:sp>
        <p:nvSpPr>
          <p:cNvPr id="6" name="Text 4"/>
          <p:cNvSpPr/>
          <p:nvPr/>
        </p:nvSpPr>
        <p:spPr>
          <a:xfrm>
            <a:off x="457200" y="3063631"/>
            <a:ext cx="2082800" cy="457200"/>
          </a:xfrm>
          <a:prstGeom prst="rect">
            <a:avLst/>
          </a:prstGeom>
          <a:noFill/>
          <a:ln/>
        </p:spPr>
        <p:txBody>
          <a:bodyPr wrap="square" lIns="0" tIns="0" rIns="0" bIns="0" rtlCol="0" anchor="ctr"/>
          <a:lstStyle/>
          <a:p>
            <a:pPr marL="0" indent="0">
              <a:buNone/>
            </a:pPr>
            <a:r>
              <a:rPr lang="en-US" sz="1400" dirty="0">
                <a:solidFill>
                  <a:srgbClr val="FAC775"/>
                </a:solidFill>
                <a:latin typeface="Calibri" pitchFamily="34" charset="0"/>
                <a:ea typeface="Calibri" pitchFamily="34" charset="-122"/>
                <a:cs typeface="Calibri" pitchFamily="34" charset="-120"/>
              </a:rPr>
              <a:t>The pattern: constant context-switching between long-horizon thinking and short-horizon execution.</a:t>
            </a:r>
            <a:endParaRPr lang="en-US" sz="1400" dirty="0"/>
          </a:p>
        </p:txBody>
      </p:sp>
      <p:pic>
        <p:nvPicPr>
          <p:cNvPr id="35" name="Picture 34">
            <a:extLst>
              <a:ext uri="{FF2B5EF4-FFF2-40B4-BE49-F238E27FC236}">
                <a16:creationId xmlns:a16="http://schemas.microsoft.com/office/drawing/2014/main" id="{AB91275B-75C8-A537-4BB0-FD07E9233D47}"/>
              </a:ext>
            </a:extLst>
          </p:cNvPr>
          <p:cNvPicPr>
            <a:picLocks noChangeAspect="1"/>
          </p:cNvPicPr>
          <p:nvPr/>
        </p:nvPicPr>
        <p:blipFill>
          <a:blip r:embed="rId3"/>
          <a:stretch>
            <a:fillRect/>
          </a:stretch>
        </p:blipFill>
        <p:spPr>
          <a:xfrm>
            <a:off x="3013319" y="2907322"/>
            <a:ext cx="2249610" cy="1972407"/>
          </a:xfrm>
          <a:prstGeom prst="rect">
            <a:avLst/>
          </a:prstGeom>
        </p:spPr>
      </p:pic>
      <p:sp>
        <p:nvSpPr>
          <p:cNvPr id="36" name="Text 4">
            <a:extLst>
              <a:ext uri="{FF2B5EF4-FFF2-40B4-BE49-F238E27FC236}">
                <a16:creationId xmlns:a16="http://schemas.microsoft.com/office/drawing/2014/main" id="{E00E6EDE-F9B1-6E41-3BC7-3F5A7D06AC64}"/>
              </a:ext>
            </a:extLst>
          </p:cNvPr>
          <p:cNvSpPr/>
          <p:nvPr/>
        </p:nvSpPr>
        <p:spPr>
          <a:xfrm>
            <a:off x="468925" y="4091353"/>
            <a:ext cx="2082800" cy="457200"/>
          </a:xfrm>
          <a:prstGeom prst="rect">
            <a:avLst/>
          </a:prstGeom>
          <a:noFill/>
          <a:ln/>
        </p:spPr>
        <p:txBody>
          <a:bodyPr wrap="square" lIns="0" tIns="0" rIns="0" bIns="0" rtlCol="0" anchor="ctr"/>
          <a:lstStyle/>
          <a:p>
            <a:pPr marL="0" indent="0">
              <a:buNone/>
            </a:pPr>
            <a:r>
              <a:rPr lang="en-US" sz="1400" dirty="0">
                <a:solidFill>
                  <a:srgbClr val="FAC775"/>
                </a:solidFill>
                <a:latin typeface="Calibri" pitchFamily="34" charset="0"/>
                <a:ea typeface="Calibri" pitchFamily="34" charset="-122"/>
                <a:cs typeface="Calibri" pitchFamily="34" charset="-120"/>
              </a:rPr>
              <a:t>Every decision is a balance.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D97706"/>
          </a:solidFill>
          <a:ln/>
        </p:spPr>
        <p:txBody>
          <a:bodyPr/>
          <a:lstStyle/>
          <a:p>
            <a:endParaRPr lang="en-US"/>
          </a:p>
        </p:txBody>
      </p:sp>
      <p:sp>
        <p:nvSpPr>
          <p:cNvPr id="3" name="Text 1"/>
          <p:cNvSpPr/>
          <p:nvPr/>
        </p:nvSpPr>
        <p:spPr>
          <a:xfrm>
            <a:off x="365760" y="54864"/>
            <a:ext cx="68580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CFO Morning-to-Evening Timeline</a:t>
            </a:r>
            <a:endParaRPr lang="en-US" sz="1800" dirty="0"/>
          </a:p>
        </p:txBody>
      </p:sp>
      <p:sp>
        <p:nvSpPr>
          <p:cNvPr id="4" name="Text 2"/>
          <p:cNvSpPr/>
          <p:nvPr/>
        </p:nvSpPr>
        <p:spPr>
          <a:xfrm>
            <a:off x="365760" y="658368"/>
            <a:ext cx="8412480" cy="34747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 realistic day — the decisions behind each stop</a:t>
            </a:r>
            <a:endParaRPr lang="en-US" sz="1200" dirty="0"/>
          </a:p>
        </p:txBody>
      </p:sp>
      <p:sp>
        <p:nvSpPr>
          <p:cNvPr id="5" name="Shape 3"/>
          <p:cNvSpPr/>
          <p:nvPr/>
        </p:nvSpPr>
        <p:spPr>
          <a:xfrm>
            <a:off x="1051560" y="1005840"/>
            <a:ext cx="0" cy="3931920"/>
          </a:xfrm>
          <a:prstGeom prst="line">
            <a:avLst/>
          </a:prstGeom>
          <a:noFill/>
          <a:ln w="25400">
            <a:solidFill>
              <a:srgbClr val="E2E8EF"/>
            </a:solidFill>
            <a:prstDash val="solid"/>
          </a:ln>
        </p:spPr>
        <p:txBody>
          <a:bodyPr/>
          <a:lstStyle/>
          <a:p>
            <a:endParaRPr lang="en-US"/>
          </a:p>
        </p:txBody>
      </p:sp>
      <p:sp>
        <p:nvSpPr>
          <p:cNvPr id="6" name="Shape 4"/>
          <p:cNvSpPr/>
          <p:nvPr/>
        </p:nvSpPr>
        <p:spPr>
          <a:xfrm>
            <a:off x="978408" y="1042416"/>
            <a:ext cx="201168" cy="201168"/>
          </a:xfrm>
          <a:prstGeom prst="ellipse">
            <a:avLst/>
          </a:prstGeom>
          <a:solidFill>
            <a:srgbClr val="2D7DD2"/>
          </a:solidFill>
          <a:ln/>
        </p:spPr>
        <p:txBody>
          <a:bodyPr/>
          <a:lstStyle/>
          <a:p>
            <a:endParaRPr lang="en-US"/>
          </a:p>
        </p:txBody>
      </p:sp>
      <p:sp>
        <p:nvSpPr>
          <p:cNvPr id="7" name="Text 5"/>
          <p:cNvSpPr/>
          <p:nvPr/>
        </p:nvSpPr>
        <p:spPr>
          <a:xfrm>
            <a:off x="1280160" y="1024128"/>
            <a:ext cx="18288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7:30am</a:t>
            </a:r>
            <a:endParaRPr lang="en-US" sz="900" dirty="0"/>
          </a:p>
        </p:txBody>
      </p:sp>
      <p:sp>
        <p:nvSpPr>
          <p:cNvPr id="8" name="Text 6"/>
          <p:cNvSpPr/>
          <p:nvPr/>
        </p:nvSpPr>
        <p:spPr>
          <a:xfrm>
            <a:off x="1280160" y="1261872"/>
            <a:ext cx="1828800" cy="3200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Exercise, COFFEE, catch up email, news, churn, contracts, financials, signatures</a:t>
            </a:r>
            <a:endParaRPr lang="en-US" sz="1000" dirty="0"/>
          </a:p>
        </p:txBody>
      </p:sp>
      <p:sp>
        <p:nvSpPr>
          <p:cNvPr id="9" name="Shape 7"/>
          <p:cNvSpPr/>
          <p:nvPr/>
        </p:nvSpPr>
        <p:spPr>
          <a:xfrm>
            <a:off x="3904488" y="1042416"/>
            <a:ext cx="201168" cy="201168"/>
          </a:xfrm>
          <a:prstGeom prst="ellipse">
            <a:avLst/>
          </a:prstGeom>
          <a:solidFill>
            <a:srgbClr val="028090"/>
          </a:solidFill>
          <a:ln/>
        </p:spPr>
        <p:txBody>
          <a:bodyPr/>
          <a:lstStyle/>
          <a:p>
            <a:endParaRPr lang="en-US"/>
          </a:p>
        </p:txBody>
      </p:sp>
      <p:sp>
        <p:nvSpPr>
          <p:cNvPr id="10" name="Text 8"/>
          <p:cNvSpPr/>
          <p:nvPr/>
        </p:nvSpPr>
        <p:spPr>
          <a:xfrm>
            <a:off x="4206240" y="1024128"/>
            <a:ext cx="18288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8:30am</a:t>
            </a:r>
            <a:endParaRPr lang="en-US" sz="900" dirty="0"/>
          </a:p>
        </p:txBody>
      </p:sp>
      <p:sp>
        <p:nvSpPr>
          <p:cNvPr id="11" name="Text 9"/>
          <p:cNvSpPr/>
          <p:nvPr/>
        </p:nvSpPr>
        <p:spPr>
          <a:xfrm>
            <a:off x="4206240" y="1261872"/>
            <a:ext cx="1828800" cy="3200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CEO sync</a:t>
            </a:r>
            <a:endParaRPr lang="en-US" sz="1000" dirty="0"/>
          </a:p>
        </p:txBody>
      </p:sp>
      <p:sp>
        <p:nvSpPr>
          <p:cNvPr id="12" name="Shape 10"/>
          <p:cNvSpPr/>
          <p:nvPr/>
        </p:nvSpPr>
        <p:spPr>
          <a:xfrm>
            <a:off x="6830568" y="1042416"/>
            <a:ext cx="201168" cy="201168"/>
          </a:xfrm>
          <a:prstGeom prst="ellipse">
            <a:avLst/>
          </a:prstGeom>
          <a:solidFill>
            <a:srgbClr val="D97706"/>
          </a:solidFill>
          <a:ln/>
        </p:spPr>
        <p:txBody>
          <a:bodyPr/>
          <a:lstStyle/>
          <a:p>
            <a:endParaRPr lang="en-US"/>
          </a:p>
        </p:txBody>
      </p:sp>
      <p:sp>
        <p:nvSpPr>
          <p:cNvPr id="13" name="Text 11"/>
          <p:cNvSpPr/>
          <p:nvPr/>
        </p:nvSpPr>
        <p:spPr>
          <a:xfrm>
            <a:off x="7132320" y="1024128"/>
            <a:ext cx="18288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9:00am</a:t>
            </a:r>
            <a:endParaRPr lang="en-US" sz="900" dirty="0"/>
          </a:p>
        </p:txBody>
      </p:sp>
      <p:sp>
        <p:nvSpPr>
          <p:cNvPr id="14" name="Text 12"/>
          <p:cNvSpPr/>
          <p:nvPr/>
        </p:nvSpPr>
        <p:spPr>
          <a:xfrm>
            <a:off x="7132320" y="1261872"/>
            <a:ext cx="1828800" cy="3200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Contract review (customer, vendor, NDA’s)</a:t>
            </a:r>
            <a:endParaRPr lang="en-US" sz="1000" dirty="0"/>
          </a:p>
        </p:txBody>
      </p:sp>
      <p:sp>
        <p:nvSpPr>
          <p:cNvPr id="15" name="Shape 13"/>
          <p:cNvSpPr/>
          <p:nvPr/>
        </p:nvSpPr>
        <p:spPr>
          <a:xfrm>
            <a:off x="962778" y="1955569"/>
            <a:ext cx="201168" cy="201168"/>
          </a:xfrm>
          <a:prstGeom prst="ellipse">
            <a:avLst/>
          </a:prstGeom>
          <a:solidFill>
            <a:schemeClr val="accent4">
              <a:lumMod val="60000"/>
              <a:lumOff val="40000"/>
            </a:schemeClr>
          </a:solidFill>
          <a:ln/>
        </p:spPr>
        <p:txBody>
          <a:bodyPr/>
          <a:lstStyle/>
          <a:p>
            <a:endParaRPr lang="en-US"/>
          </a:p>
        </p:txBody>
      </p:sp>
      <p:sp>
        <p:nvSpPr>
          <p:cNvPr id="16" name="Text 14"/>
          <p:cNvSpPr/>
          <p:nvPr/>
        </p:nvSpPr>
        <p:spPr>
          <a:xfrm>
            <a:off x="1280160" y="1937281"/>
            <a:ext cx="18288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10:00am</a:t>
            </a:r>
            <a:endParaRPr lang="en-US" sz="900" dirty="0"/>
          </a:p>
        </p:txBody>
      </p:sp>
      <p:sp>
        <p:nvSpPr>
          <p:cNvPr id="17" name="Text 15"/>
          <p:cNvSpPr/>
          <p:nvPr/>
        </p:nvSpPr>
        <p:spPr>
          <a:xfrm>
            <a:off x="1280160" y="2175025"/>
            <a:ext cx="1828800" cy="3200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Insurance review, tax planning</a:t>
            </a:r>
            <a:endParaRPr lang="en-US" sz="1000" dirty="0"/>
          </a:p>
        </p:txBody>
      </p:sp>
      <p:sp>
        <p:nvSpPr>
          <p:cNvPr id="18" name="Shape 16"/>
          <p:cNvSpPr/>
          <p:nvPr/>
        </p:nvSpPr>
        <p:spPr>
          <a:xfrm>
            <a:off x="3888858" y="1955569"/>
            <a:ext cx="201168" cy="201168"/>
          </a:xfrm>
          <a:prstGeom prst="ellipse">
            <a:avLst/>
          </a:prstGeom>
          <a:solidFill>
            <a:schemeClr val="accent2">
              <a:lumMod val="40000"/>
              <a:lumOff val="60000"/>
            </a:schemeClr>
          </a:solidFill>
          <a:ln/>
        </p:spPr>
        <p:txBody>
          <a:bodyPr/>
          <a:lstStyle/>
          <a:p>
            <a:endParaRPr lang="en-US"/>
          </a:p>
        </p:txBody>
      </p:sp>
      <p:sp>
        <p:nvSpPr>
          <p:cNvPr id="19" name="Text 17"/>
          <p:cNvSpPr/>
          <p:nvPr/>
        </p:nvSpPr>
        <p:spPr>
          <a:xfrm>
            <a:off x="4206240" y="1937281"/>
            <a:ext cx="18288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10:30am</a:t>
            </a:r>
            <a:endParaRPr lang="en-US" sz="900" dirty="0"/>
          </a:p>
        </p:txBody>
      </p:sp>
      <p:sp>
        <p:nvSpPr>
          <p:cNvPr id="20" name="Text 18"/>
          <p:cNvSpPr/>
          <p:nvPr/>
        </p:nvSpPr>
        <p:spPr>
          <a:xfrm>
            <a:off x="4206240" y="2175025"/>
            <a:ext cx="1828800" cy="3200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cs typeface="Calibri" pitchFamily="34" charset="-120"/>
              </a:rPr>
              <a:t>Policy review</a:t>
            </a:r>
            <a:endParaRPr lang="en-US" sz="1000" dirty="0"/>
          </a:p>
        </p:txBody>
      </p:sp>
      <p:sp>
        <p:nvSpPr>
          <p:cNvPr id="21" name="Shape 19"/>
          <p:cNvSpPr/>
          <p:nvPr/>
        </p:nvSpPr>
        <p:spPr>
          <a:xfrm>
            <a:off x="6814938" y="1955569"/>
            <a:ext cx="201168" cy="201168"/>
          </a:xfrm>
          <a:prstGeom prst="ellipse">
            <a:avLst/>
          </a:prstGeom>
          <a:solidFill>
            <a:srgbClr val="028090"/>
          </a:solidFill>
          <a:ln/>
        </p:spPr>
        <p:txBody>
          <a:bodyPr/>
          <a:lstStyle/>
          <a:p>
            <a:endParaRPr lang="en-US"/>
          </a:p>
        </p:txBody>
      </p:sp>
      <p:sp>
        <p:nvSpPr>
          <p:cNvPr id="22" name="Text 20"/>
          <p:cNvSpPr/>
          <p:nvPr/>
        </p:nvSpPr>
        <p:spPr>
          <a:xfrm>
            <a:off x="7132320" y="1937281"/>
            <a:ext cx="18288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11:00am</a:t>
            </a:r>
            <a:endParaRPr lang="en-US" sz="900" dirty="0"/>
          </a:p>
        </p:txBody>
      </p:sp>
      <p:sp>
        <p:nvSpPr>
          <p:cNvPr id="23" name="Text 21"/>
          <p:cNvSpPr/>
          <p:nvPr/>
        </p:nvSpPr>
        <p:spPr>
          <a:xfrm>
            <a:off x="7132320" y="2175025"/>
            <a:ext cx="1828800" cy="3200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HR / benefits decision</a:t>
            </a:r>
            <a:endParaRPr lang="en-US" sz="1000" dirty="0"/>
          </a:p>
        </p:txBody>
      </p:sp>
      <p:sp>
        <p:nvSpPr>
          <p:cNvPr id="24" name="Shape 22"/>
          <p:cNvSpPr/>
          <p:nvPr/>
        </p:nvSpPr>
        <p:spPr>
          <a:xfrm>
            <a:off x="978408" y="3814378"/>
            <a:ext cx="201168" cy="201168"/>
          </a:xfrm>
          <a:prstGeom prst="ellipse">
            <a:avLst/>
          </a:prstGeom>
          <a:solidFill>
            <a:srgbClr val="D97706"/>
          </a:solidFill>
          <a:ln/>
        </p:spPr>
        <p:txBody>
          <a:bodyPr/>
          <a:lstStyle/>
          <a:p>
            <a:endParaRPr lang="en-US" dirty="0"/>
          </a:p>
        </p:txBody>
      </p:sp>
      <p:sp>
        <p:nvSpPr>
          <p:cNvPr id="25" name="Text 23"/>
          <p:cNvSpPr/>
          <p:nvPr/>
        </p:nvSpPr>
        <p:spPr>
          <a:xfrm>
            <a:off x="1280160" y="3796090"/>
            <a:ext cx="18288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3:00pm</a:t>
            </a:r>
            <a:endParaRPr lang="en-US" sz="900" dirty="0"/>
          </a:p>
        </p:txBody>
      </p:sp>
      <p:sp>
        <p:nvSpPr>
          <p:cNvPr id="26" name="Text 24"/>
          <p:cNvSpPr/>
          <p:nvPr/>
        </p:nvSpPr>
        <p:spPr>
          <a:xfrm>
            <a:off x="1280160" y="4033834"/>
            <a:ext cx="1828800" cy="3200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Sales briefing, event updates, ad hoc slack huddles</a:t>
            </a:r>
            <a:endParaRPr lang="en-US" sz="1000" dirty="0"/>
          </a:p>
        </p:txBody>
      </p:sp>
      <p:sp>
        <p:nvSpPr>
          <p:cNvPr id="27" name="Shape 25"/>
          <p:cNvSpPr/>
          <p:nvPr/>
        </p:nvSpPr>
        <p:spPr>
          <a:xfrm>
            <a:off x="3904488" y="3814378"/>
            <a:ext cx="201168" cy="201168"/>
          </a:xfrm>
          <a:prstGeom prst="ellipse">
            <a:avLst/>
          </a:prstGeom>
          <a:solidFill>
            <a:schemeClr val="accent6">
              <a:lumMod val="60000"/>
              <a:lumOff val="40000"/>
            </a:schemeClr>
          </a:solidFill>
          <a:ln/>
        </p:spPr>
        <p:txBody>
          <a:bodyPr/>
          <a:lstStyle/>
          <a:p>
            <a:endParaRPr lang="en-US"/>
          </a:p>
        </p:txBody>
      </p:sp>
      <p:sp>
        <p:nvSpPr>
          <p:cNvPr id="28" name="Text 26"/>
          <p:cNvSpPr/>
          <p:nvPr/>
        </p:nvSpPr>
        <p:spPr>
          <a:xfrm>
            <a:off x="4206240" y="3796090"/>
            <a:ext cx="18288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4:00pm</a:t>
            </a:r>
            <a:endParaRPr lang="en-US" sz="900" dirty="0"/>
          </a:p>
        </p:txBody>
      </p:sp>
      <p:sp>
        <p:nvSpPr>
          <p:cNvPr id="29" name="Text 27"/>
          <p:cNvSpPr/>
          <p:nvPr/>
        </p:nvSpPr>
        <p:spPr>
          <a:xfrm>
            <a:off x="4206240" y="4033834"/>
            <a:ext cx="1828800" cy="3200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Employee concerns</a:t>
            </a:r>
            <a:endParaRPr lang="en-US" sz="1000" dirty="0"/>
          </a:p>
        </p:txBody>
      </p:sp>
      <p:sp>
        <p:nvSpPr>
          <p:cNvPr id="30" name="Shape 28"/>
          <p:cNvSpPr/>
          <p:nvPr/>
        </p:nvSpPr>
        <p:spPr>
          <a:xfrm>
            <a:off x="6830568" y="3814378"/>
            <a:ext cx="201168" cy="201168"/>
          </a:xfrm>
          <a:prstGeom prst="ellipse">
            <a:avLst/>
          </a:prstGeom>
          <a:solidFill>
            <a:srgbClr val="0D2240"/>
          </a:solidFill>
          <a:ln/>
        </p:spPr>
        <p:txBody>
          <a:bodyPr/>
          <a:lstStyle/>
          <a:p>
            <a:endParaRPr lang="en-US"/>
          </a:p>
        </p:txBody>
      </p:sp>
      <p:sp>
        <p:nvSpPr>
          <p:cNvPr id="31" name="Text 29"/>
          <p:cNvSpPr/>
          <p:nvPr/>
        </p:nvSpPr>
        <p:spPr>
          <a:xfrm>
            <a:off x="7132320" y="3796090"/>
            <a:ext cx="18288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5:30pm ++</a:t>
            </a:r>
            <a:endParaRPr lang="en-US" sz="900" dirty="0"/>
          </a:p>
        </p:txBody>
      </p:sp>
      <p:sp>
        <p:nvSpPr>
          <p:cNvPr id="32" name="Text 30"/>
          <p:cNvSpPr/>
          <p:nvPr/>
        </p:nvSpPr>
        <p:spPr>
          <a:xfrm>
            <a:off x="7132320" y="4033834"/>
            <a:ext cx="1828800" cy="3200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Catch ups</a:t>
            </a:r>
            <a:endParaRPr lang="en-US" sz="1000" dirty="0"/>
          </a:p>
        </p:txBody>
      </p:sp>
      <p:sp>
        <p:nvSpPr>
          <p:cNvPr id="35" name="Text 33"/>
          <p:cNvSpPr/>
          <p:nvPr/>
        </p:nvSpPr>
        <p:spPr>
          <a:xfrm>
            <a:off x="457200" y="4663440"/>
            <a:ext cx="8321040" cy="34747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wrap="square" lIns="0" tIns="0" rIns="0" bIns="0" rtlCol="0" anchor="ctr"/>
          <a:lstStyle/>
          <a:p>
            <a:pPr marL="0" indent="0" algn="ctr">
              <a:buNone/>
            </a:pPr>
            <a:r>
              <a:rPr lang="en-US" sz="1600" dirty="0">
                <a:solidFill>
                  <a:srgbClr val="0070C0"/>
                </a:solidFill>
                <a:latin typeface="Calibri" pitchFamily="34" charset="0"/>
                <a:ea typeface="Calibri" pitchFamily="34" charset="-122"/>
                <a:cs typeface="Calibri" pitchFamily="34" charset="-120"/>
              </a:rPr>
              <a:t>MEETINGS, 1:1’s</a:t>
            </a:r>
            <a:endParaRPr lang="en-US" sz="1600" dirty="0">
              <a:solidFill>
                <a:srgbClr val="0070C0"/>
              </a:solidFill>
            </a:endParaRPr>
          </a:p>
        </p:txBody>
      </p:sp>
      <p:cxnSp>
        <p:nvCxnSpPr>
          <p:cNvPr id="37" name="Straight Arrow Connector 36">
            <a:extLst>
              <a:ext uri="{FF2B5EF4-FFF2-40B4-BE49-F238E27FC236}">
                <a16:creationId xmlns:a16="http://schemas.microsoft.com/office/drawing/2014/main" id="{D54F6F1E-A35E-3A42-96C5-0123D407618B}"/>
              </a:ext>
            </a:extLst>
          </p:cNvPr>
          <p:cNvCxnSpPr/>
          <p:nvPr/>
        </p:nvCxnSpPr>
        <p:spPr>
          <a:xfrm>
            <a:off x="5406013" y="4783015"/>
            <a:ext cx="25623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1493B4F-85E8-9FFD-593E-74DB9712C2B0}"/>
              </a:ext>
            </a:extLst>
          </p:cNvPr>
          <p:cNvCxnSpPr>
            <a:cxnSpLocks/>
          </p:cNvCxnSpPr>
          <p:nvPr/>
        </p:nvCxnSpPr>
        <p:spPr>
          <a:xfrm flipH="1">
            <a:off x="1356528" y="4784689"/>
            <a:ext cx="22809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Shape 22">
            <a:extLst>
              <a:ext uri="{FF2B5EF4-FFF2-40B4-BE49-F238E27FC236}">
                <a16:creationId xmlns:a16="http://schemas.microsoft.com/office/drawing/2014/main" id="{33CC345D-D59A-8B7F-8A08-7695E20FD8BD}"/>
              </a:ext>
            </a:extLst>
          </p:cNvPr>
          <p:cNvSpPr/>
          <p:nvPr/>
        </p:nvSpPr>
        <p:spPr>
          <a:xfrm>
            <a:off x="951057" y="2888254"/>
            <a:ext cx="201168" cy="201168"/>
          </a:xfrm>
          <a:prstGeom prst="ellipse">
            <a:avLst/>
          </a:prstGeom>
          <a:solidFill>
            <a:schemeClr val="accent6">
              <a:lumMod val="75000"/>
            </a:schemeClr>
          </a:solidFill>
          <a:ln/>
        </p:spPr>
        <p:txBody>
          <a:bodyPr/>
          <a:lstStyle/>
          <a:p>
            <a:endParaRPr lang="en-US" dirty="0"/>
          </a:p>
        </p:txBody>
      </p:sp>
      <p:sp>
        <p:nvSpPr>
          <p:cNvPr id="42" name="Text 23">
            <a:extLst>
              <a:ext uri="{FF2B5EF4-FFF2-40B4-BE49-F238E27FC236}">
                <a16:creationId xmlns:a16="http://schemas.microsoft.com/office/drawing/2014/main" id="{A6430242-5367-8851-0D95-7F632537B826}"/>
              </a:ext>
            </a:extLst>
          </p:cNvPr>
          <p:cNvSpPr/>
          <p:nvPr/>
        </p:nvSpPr>
        <p:spPr>
          <a:xfrm>
            <a:off x="1252809" y="2869966"/>
            <a:ext cx="18288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12:00pm</a:t>
            </a:r>
            <a:endParaRPr lang="en-US" sz="900" dirty="0"/>
          </a:p>
        </p:txBody>
      </p:sp>
      <p:sp>
        <p:nvSpPr>
          <p:cNvPr id="43" name="Text 24">
            <a:extLst>
              <a:ext uri="{FF2B5EF4-FFF2-40B4-BE49-F238E27FC236}">
                <a16:creationId xmlns:a16="http://schemas.microsoft.com/office/drawing/2014/main" id="{57BA9A01-6ECB-FCCA-5796-B5F7F1D62A13}"/>
              </a:ext>
            </a:extLst>
          </p:cNvPr>
          <p:cNvSpPr/>
          <p:nvPr/>
        </p:nvSpPr>
        <p:spPr>
          <a:xfrm>
            <a:off x="1252809" y="3107710"/>
            <a:ext cx="1828800" cy="3200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cs typeface="Calibri" pitchFamily="34" charset="-120"/>
              </a:rPr>
              <a:t>401(k) review meeting</a:t>
            </a:r>
            <a:endParaRPr lang="en-US" sz="1000" dirty="0"/>
          </a:p>
        </p:txBody>
      </p:sp>
      <p:sp>
        <p:nvSpPr>
          <p:cNvPr id="44" name="Shape 25">
            <a:extLst>
              <a:ext uri="{FF2B5EF4-FFF2-40B4-BE49-F238E27FC236}">
                <a16:creationId xmlns:a16="http://schemas.microsoft.com/office/drawing/2014/main" id="{7D3F34FE-79B7-FAF0-8B46-EF6008C3EE15}"/>
              </a:ext>
            </a:extLst>
          </p:cNvPr>
          <p:cNvSpPr/>
          <p:nvPr/>
        </p:nvSpPr>
        <p:spPr>
          <a:xfrm>
            <a:off x="3877137" y="2888254"/>
            <a:ext cx="201168" cy="201168"/>
          </a:xfrm>
          <a:prstGeom prst="ellipse">
            <a:avLst/>
          </a:prstGeom>
          <a:solidFill>
            <a:srgbClr val="2D7DD2"/>
          </a:solidFill>
          <a:ln/>
        </p:spPr>
        <p:txBody>
          <a:bodyPr/>
          <a:lstStyle/>
          <a:p>
            <a:endParaRPr lang="en-US"/>
          </a:p>
        </p:txBody>
      </p:sp>
      <p:sp>
        <p:nvSpPr>
          <p:cNvPr id="45" name="Text 26">
            <a:extLst>
              <a:ext uri="{FF2B5EF4-FFF2-40B4-BE49-F238E27FC236}">
                <a16:creationId xmlns:a16="http://schemas.microsoft.com/office/drawing/2014/main" id="{F862B526-2C95-4965-1D99-E0A21FFF03D1}"/>
              </a:ext>
            </a:extLst>
          </p:cNvPr>
          <p:cNvSpPr/>
          <p:nvPr/>
        </p:nvSpPr>
        <p:spPr>
          <a:xfrm>
            <a:off x="4178889" y="2869966"/>
            <a:ext cx="18288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1:00pm</a:t>
            </a:r>
            <a:endParaRPr lang="en-US" sz="900" dirty="0"/>
          </a:p>
        </p:txBody>
      </p:sp>
      <p:sp>
        <p:nvSpPr>
          <p:cNvPr id="46" name="Text 27">
            <a:extLst>
              <a:ext uri="{FF2B5EF4-FFF2-40B4-BE49-F238E27FC236}">
                <a16:creationId xmlns:a16="http://schemas.microsoft.com/office/drawing/2014/main" id="{10840C73-C8EC-39C5-C688-3AE495984C26}"/>
              </a:ext>
            </a:extLst>
          </p:cNvPr>
          <p:cNvSpPr/>
          <p:nvPr/>
        </p:nvSpPr>
        <p:spPr>
          <a:xfrm>
            <a:off x="4178889" y="3107710"/>
            <a:ext cx="1828800" cy="3200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Revenue sync</a:t>
            </a:r>
            <a:endParaRPr lang="en-US" sz="1000" dirty="0"/>
          </a:p>
        </p:txBody>
      </p:sp>
      <p:sp>
        <p:nvSpPr>
          <p:cNvPr id="47" name="Text 29">
            <a:extLst>
              <a:ext uri="{FF2B5EF4-FFF2-40B4-BE49-F238E27FC236}">
                <a16:creationId xmlns:a16="http://schemas.microsoft.com/office/drawing/2014/main" id="{561142A8-29E9-F86B-5BE9-43F2C61646BB}"/>
              </a:ext>
            </a:extLst>
          </p:cNvPr>
          <p:cNvSpPr/>
          <p:nvPr/>
        </p:nvSpPr>
        <p:spPr>
          <a:xfrm>
            <a:off x="7104969" y="2869966"/>
            <a:ext cx="18288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2:00pm </a:t>
            </a:r>
            <a:endParaRPr lang="en-US" sz="900" dirty="0"/>
          </a:p>
        </p:txBody>
      </p:sp>
      <p:sp>
        <p:nvSpPr>
          <p:cNvPr id="48" name="Text 30">
            <a:extLst>
              <a:ext uri="{FF2B5EF4-FFF2-40B4-BE49-F238E27FC236}">
                <a16:creationId xmlns:a16="http://schemas.microsoft.com/office/drawing/2014/main" id="{7F29F76B-DC88-D3DA-951D-D4092F5CCE62}"/>
              </a:ext>
            </a:extLst>
          </p:cNvPr>
          <p:cNvSpPr/>
          <p:nvPr/>
        </p:nvSpPr>
        <p:spPr>
          <a:xfrm>
            <a:off x="7104969" y="3107710"/>
            <a:ext cx="1828800" cy="3200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Partnership briefing</a:t>
            </a:r>
            <a:endParaRPr lang="en-US" sz="1000" dirty="0"/>
          </a:p>
        </p:txBody>
      </p:sp>
      <p:sp>
        <p:nvSpPr>
          <p:cNvPr id="49" name="Shape 19">
            <a:extLst>
              <a:ext uri="{FF2B5EF4-FFF2-40B4-BE49-F238E27FC236}">
                <a16:creationId xmlns:a16="http://schemas.microsoft.com/office/drawing/2014/main" id="{B26AE9A1-C1D1-A669-BB53-D1863F9D6E3F}"/>
              </a:ext>
            </a:extLst>
          </p:cNvPr>
          <p:cNvSpPr/>
          <p:nvPr/>
        </p:nvSpPr>
        <p:spPr>
          <a:xfrm>
            <a:off x="6826656" y="2881696"/>
            <a:ext cx="201168" cy="201168"/>
          </a:xfrm>
          <a:prstGeom prst="ellipse">
            <a:avLst/>
          </a:prstGeom>
          <a:solidFill>
            <a:schemeClr val="accent4">
              <a:lumMod val="60000"/>
              <a:lumOff val="40000"/>
            </a:schemeClr>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0D2240"/>
        </a:solidFill>
        <a:effectLst/>
      </p:bgPr>
    </p:bg>
    <p:spTree>
      <p:nvGrpSpPr>
        <p:cNvPr id="1" name=""/>
        <p:cNvGrpSpPr/>
        <p:nvPr/>
      </p:nvGrpSpPr>
      <p:grpSpPr>
        <a:xfrm>
          <a:off x="0" y="0"/>
          <a:ext cx="0" cy="0"/>
          <a:chOff x="0" y="0"/>
          <a:chExt cx="0" cy="0"/>
        </a:xfrm>
      </p:grpSpPr>
      <p:sp>
        <p:nvSpPr>
          <p:cNvPr id="2" name="Shape 0"/>
          <p:cNvSpPr/>
          <p:nvPr/>
        </p:nvSpPr>
        <p:spPr>
          <a:xfrm>
            <a:off x="0" y="23454"/>
            <a:ext cx="9144000" cy="1051560"/>
          </a:xfrm>
          <a:prstGeom prst="rect">
            <a:avLst/>
          </a:prstGeom>
          <a:solidFill>
            <a:srgbClr val="1E4976"/>
          </a:solidFill>
          <a:ln/>
        </p:spPr>
        <p:txBody>
          <a:bodyPr/>
          <a:lstStyle/>
          <a:p>
            <a:endParaRPr lang="en-US"/>
          </a:p>
        </p:txBody>
      </p:sp>
      <p:sp>
        <p:nvSpPr>
          <p:cNvPr id="4" name="Text 2"/>
          <p:cNvSpPr/>
          <p:nvPr/>
        </p:nvSpPr>
        <p:spPr>
          <a:xfrm>
            <a:off x="457200" y="1325880"/>
            <a:ext cx="82296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Contracts &amp; Legal</a:t>
            </a:r>
            <a:endParaRPr lang="en-US" sz="3400" dirty="0"/>
          </a:p>
        </p:txBody>
      </p:sp>
      <p:sp>
        <p:nvSpPr>
          <p:cNvPr id="5" name="Text 3"/>
          <p:cNvSpPr/>
          <p:nvPr/>
        </p:nvSpPr>
        <p:spPr>
          <a:xfrm>
            <a:off x="457200" y="2331720"/>
            <a:ext cx="7772400" cy="5029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Nearly every dollar flows through a contract – goal to maintain a financially healthy business</a:t>
            </a:r>
            <a:endParaRPr lang="en-US" sz="1600" dirty="0"/>
          </a:p>
        </p:txBody>
      </p:sp>
      <p:sp>
        <p:nvSpPr>
          <p:cNvPr id="6" name="Shape 4"/>
          <p:cNvSpPr/>
          <p:nvPr/>
        </p:nvSpPr>
        <p:spPr>
          <a:xfrm>
            <a:off x="457200" y="2834640"/>
            <a:ext cx="4160520" cy="512064"/>
          </a:xfrm>
          <a:prstGeom prst="rect">
            <a:avLst/>
          </a:prstGeom>
          <a:solidFill>
            <a:srgbClr val="1A3A5C"/>
          </a:solidFill>
          <a:ln/>
        </p:spPr>
        <p:txBody>
          <a:bodyPr/>
          <a:lstStyle/>
          <a:p>
            <a:endParaRPr lang="en-US"/>
          </a:p>
        </p:txBody>
      </p:sp>
      <p:sp>
        <p:nvSpPr>
          <p:cNvPr id="7" name="Shape 5"/>
          <p:cNvSpPr/>
          <p:nvPr/>
        </p:nvSpPr>
        <p:spPr>
          <a:xfrm>
            <a:off x="457200" y="2834640"/>
            <a:ext cx="64008" cy="512064"/>
          </a:xfrm>
          <a:prstGeom prst="rect">
            <a:avLst/>
          </a:prstGeom>
          <a:solidFill>
            <a:srgbClr val="B5D4F4"/>
          </a:solidFill>
          <a:ln/>
        </p:spPr>
        <p:txBody>
          <a:bodyPr/>
          <a:lstStyle/>
          <a:p>
            <a:endParaRPr lang="en-US"/>
          </a:p>
        </p:txBody>
      </p:sp>
      <p:sp>
        <p:nvSpPr>
          <p:cNvPr id="8" name="Text 6"/>
          <p:cNvSpPr/>
          <p:nvPr/>
        </p:nvSpPr>
        <p:spPr>
          <a:xfrm>
            <a:off x="621792" y="2834640"/>
            <a:ext cx="1645920" cy="512064"/>
          </a:xfrm>
          <a:prstGeom prst="rect">
            <a:avLst/>
          </a:prstGeom>
          <a:noFill/>
          <a:ln/>
        </p:spPr>
        <p:txBody>
          <a:bodyPr wrap="square" lIns="0" tIns="0" rIns="0" bIns="0" rtlCol="0" anchor="ctr"/>
          <a:lstStyle/>
          <a:p>
            <a:pPr marL="0" indent="0">
              <a:buNone/>
            </a:pPr>
            <a:r>
              <a:rPr lang="en-US" sz="1100" b="1" dirty="0">
                <a:solidFill>
                  <a:srgbClr val="B5D4F4"/>
                </a:solidFill>
                <a:latin typeface="Calibri" pitchFamily="34" charset="0"/>
                <a:ea typeface="Calibri" pitchFamily="34" charset="-122"/>
                <a:cs typeface="Calibri" pitchFamily="34" charset="-120"/>
              </a:rPr>
              <a:t>Payment terms</a:t>
            </a:r>
            <a:endParaRPr lang="en-US" sz="1100" dirty="0"/>
          </a:p>
        </p:txBody>
      </p:sp>
      <p:sp>
        <p:nvSpPr>
          <p:cNvPr id="9" name="Text 7"/>
          <p:cNvSpPr/>
          <p:nvPr/>
        </p:nvSpPr>
        <p:spPr>
          <a:xfrm>
            <a:off x="2331720" y="2834640"/>
            <a:ext cx="2148840" cy="51206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Net 30/60 — drives cash flow timing</a:t>
            </a:r>
            <a:endParaRPr lang="en-US" sz="1000" dirty="0"/>
          </a:p>
        </p:txBody>
      </p:sp>
      <p:sp>
        <p:nvSpPr>
          <p:cNvPr id="10" name="Shape 8"/>
          <p:cNvSpPr/>
          <p:nvPr/>
        </p:nvSpPr>
        <p:spPr>
          <a:xfrm>
            <a:off x="4846320" y="2834640"/>
            <a:ext cx="4160520" cy="512064"/>
          </a:xfrm>
          <a:prstGeom prst="rect">
            <a:avLst/>
          </a:prstGeom>
          <a:solidFill>
            <a:srgbClr val="1A3A5C"/>
          </a:solidFill>
          <a:ln/>
        </p:spPr>
        <p:txBody>
          <a:bodyPr/>
          <a:lstStyle/>
          <a:p>
            <a:endParaRPr lang="en-US"/>
          </a:p>
        </p:txBody>
      </p:sp>
      <p:sp>
        <p:nvSpPr>
          <p:cNvPr id="11" name="Shape 9"/>
          <p:cNvSpPr/>
          <p:nvPr/>
        </p:nvSpPr>
        <p:spPr>
          <a:xfrm>
            <a:off x="4846320" y="2834640"/>
            <a:ext cx="64008" cy="512064"/>
          </a:xfrm>
          <a:prstGeom prst="rect">
            <a:avLst/>
          </a:prstGeom>
          <a:solidFill>
            <a:srgbClr val="B5D4F4"/>
          </a:solidFill>
          <a:ln/>
        </p:spPr>
        <p:txBody>
          <a:bodyPr/>
          <a:lstStyle/>
          <a:p>
            <a:endParaRPr lang="en-US"/>
          </a:p>
        </p:txBody>
      </p:sp>
      <p:sp>
        <p:nvSpPr>
          <p:cNvPr id="12" name="Text 10"/>
          <p:cNvSpPr/>
          <p:nvPr/>
        </p:nvSpPr>
        <p:spPr>
          <a:xfrm>
            <a:off x="5010912" y="2834640"/>
            <a:ext cx="1645920" cy="512064"/>
          </a:xfrm>
          <a:prstGeom prst="rect">
            <a:avLst/>
          </a:prstGeom>
          <a:noFill/>
          <a:ln/>
        </p:spPr>
        <p:txBody>
          <a:bodyPr wrap="square" lIns="0" tIns="0" rIns="0" bIns="0" rtlCol="0" anchor="ctr"/>
          <a:lstStyle/>
          <a:p>
            <a:pPr marL="0" indent="0">
              <a:buNone/>
            </a:pPr>
            <a:r>
              <a:rPr lang="en-US" sz="1100" b="1" dirty="0">
                <a:solidFill>
                  <a:srgbClr val="B5D4F4"/>
                </a:solidFill>
                <a:latin typeface="Calibri" pitchFamily="34" charset="0"/>
                <a:ea typeface="Calibri" pitchFamily="34" charset="-122"/>
                <a:cs typeface="Calibri" pitchFamily="34" charset="-120"/>
              </a:rPr>
              <a:t>Liability cap</a:t>
            </a:r>
            <a:endParaRPr lang="en-US" sz="1100" dirty="0"/>
          </a:p>
        </p:txBody>
      </p:sp>
      <p:sp>
        <p:nvSpPr>
          <p:cNvPr id="13" name="Text 11"/>
          <p:cNvSpPr/>
          <p:nvPr/>
        </p:nvSpPr>
        <p:spPr>
          <a:xfrm>
            <a:off x="6720840" y="2834640"/>
            <a:ext cx="2148840" cy="51206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Max damages — usually capped at contract value</a:t>
            </a:r>
            <a:endParaRPr lang="en-US" sz="1000" dirty="0"/>
          </a:p>
        </p:txBody>
      </p:sp>
      <p:sp>
        <p:nvSpPr>
          <p:cNvPr id="14" name="Shape 12"/>
          <p:cNvSpPr/>
          <p:nvPr/>
        </p:nvSpPr>
        <p:spPr>
          <a:xfrm>
            <a:off x="457200" y="3456432"/>
            <a:ext cx="4160520" cy="512064"/>
          </a:xfrm>
          <a:prstGeom prst="rect">
            <a:avLst/>
          </a:prstGeom>
          <a:solidFill>
            <a:srgbClr val="1A3A5C"/>
          </a:solidFill>
          <a:ln/>
        </p:spPr>
        <p:txBody>
          <a:bodyPr/>
          <a:lstStyle/>
          <a:p>
            <a:endParaRPr lang="en-US"/>
          </a:p>
        </p:txBody>
      </p:sp>
      <p:sp>
        <p:nvSpPr>
          <p:cNvPr id="15" name="Shape 13"/>
          <p:cNvSpPr/>
          <p:nvPr/>
        </p:nvSpPr>
        <p:spPr>
          <a:xfrm>
            <a:off x="457200" y="3456432"/>
            <a:ext cx="64008" cy="512064"/>
          </a:xfrm>
          <a:prstGeom prst="rect">
            <a:avLst/>
          </a:prstGeom>
          <a:solidFill>
            <a:srgbClr val="B5D4F4"/>
          </a:solidFill>
          <a:ln/>
        </p:spPr>
        <p:txBody>
          <a:bodyPr/>
          <a:lstStyle/>
          <a:p>
            <a:endParaRPr lang="en-US"/>
          </a:p>
        </p:txBody>
      </p:sp>
      <p:sp>
        <p:nvSpPr>
          <p:cNvPr id="16" name="Text 14"/>
          <p:cNvSpPr/>
          <p:nvPr/>
        </p:nvSpPr>
        <p:spPr>
          <a:xfrm>
            <a:off x="621792" y="3456432"/>
            <a:ext cx="1645920" cy="512064"/>
          </a:xfrm>
          <a:prstGeom prst="rect">
            <a:avLst/>
          </a:prstGeom>
          <a:noFill/>
          <a:ln/>
        </p:spPr>
        <p:txBody>
          <a:bodyPr wrap="square" lIns="0" tIns="0" rIns="0" bIns="0" rtlCol="0" anchor="ctr"/>
          <a:lstStyle/>
          <a:p>
            <a:pPr marL="0" indent="0">
              <a:buNone/>
            </a:pPr>
            <a:r>
              <a:rPr lang="en-US" sz="1100" b="1" dirty="0">
                <a:solidFill>
                  <a:srgbClr val="B5D4F4"/>
                </a:solidFill>
                <a:latin typeface="Calibri" pitchFamily="34" charset="0"/>
                <a:ea typeface="Calibri" pitchFamily="34" charset="-122"/>
                <a:cs typeface="Calibri" pitchFamily="34" charset="-120"/>
              </a:rPr>
              <a:t>Auto-renewal</a:t>
            </a:r>
            <a:endParaRPr lang="en-US" sz="1100" dirty="0"/>
          </a:p>
        </p:txBody>
      </p:sp>
      <p:sp>
        <p:nvSpPr>
          <p:cNvPr id="17" name="Text 15"/>
          <p:cNvSpPr/>
          <p:nvPr/>
        </p:nvSpPr>
        <p:spPr>
          <a:xfrm>
            <a:off x="2331720" y="3456432"/>
            <a:ext cx="2148840" cy="51206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Miss the window; lose the renewal</a:t>
            </a:r>
            <a:endParaRPr lang="en-US" sz="1000" dirty="0"/>
          </a:p>
        </p:txBody>
      </p:sp>
      <p:sp>
        <p:nvSpPr>
          <p:cNvPr id="18" name="Shape 16"/>
          <p:cNvSpPr/>
          <p:nvPr/>
        </p:nvSpPr>
        <p:spPr>
          <a:xfrm>
            <a:off x="4846320" y="3456432"/>
            <a:ext cx="4160520" cy="512064"/>
          </a:xfrm>
          <a:prstGeom prst="rect">
            <a:avLst/>
          </a:prstGeom>
          <a:solidFill>
            <a:srgbClr val="1A3A5C"/>
          </a:solidFill>
          <a:ln/>
        </p:spPr>
        <p:txBody>
          <a:bodyPr/>
          <a:lstStyle/>
          <a:p>
            <a:endParaRPr lang="en-US"/>
          </a:p>
        </p:txBody>
      </p:sp>
      <p:sp>
        <p:nvSpPr>
          <p:cNvPr id="19" name="Shape 17"/>
          <p:cNvSpPr/>
          <p:nvPr/>
        </p:nvSpPr>
        <p:spPr>
          <a:xfrm>
            <a:off x="4846320" y="3456432"/>
            <a:ext cx="64008" cy="512064"/>
          </a:xfrm>
          <a:prstGeom prst="rect">
            <a:avLst/>
          </a:prstGeom>
          <a:solidFill>
            <a:srgbClr val="B5D4F4"/>
          </a:solidFill>
          <a:ln/>
        </p:spPr>
        <p:txBody>
          <a:bodyPr/>
          <a:lstStyle/>
          <a:p>
            <a:endParaRPr lang="en-US"/>
          </a:p>
        </p:txBody>
      </p:sp>
      <p:sp>
        <p:nvSpPr>
          <p:cNvPr id="20" name="Text 18"/>
          <p:cNvSpPr/>
          <p:nvPr/>
        </p:nvSpPr>
        <p:spPr>
          <a:xfrm>
            <a:off x="5010912" y="3456432"/>
            <a:ext cx="1645920" cy="512064"/>
          </a:xfrm>
          <a:prstGeom prst="rect">
            <a:avLst/>
          </a:prstGeom>
          <a:noFill/>
          <a:ln/>
        </p:spPr>
        <p:txBody>
          <a:bodyPr wrap="square" lIns="0" tIns="0" rIns="0" bIns="0" rtlCol="0" anchor="ctr"/>
          <a:lstStyle/>
          <a:p>
            <a:pPr marL="0" indent="0">
              <a:buNone/>
            </a:pPr>
            <a:r>
              <a:rPr lang="en-US" sz="1100" b="1" dirty="0">
                <a:solidFill>
                  <a:srgbClr val="B5D4F4"/>
                </a:solidFill>
                <a:latin typeface="Calibri" pitchFamily="34" charset="0"/>
                <a:ea typeface="Calibri" pitchFamily="34" charset="-122"/>
                <a:cs typeface="Calibri" pitchFamily="34" charset="-120"/>
              </a:rPr>
              <a:t>Indemnification</a:t>
            </a:r>
            <a:endParaRPr lang="en-US" sz="1100" dirty="0"/>
          </a:p>
        </p:txBody>
      </p:sp>
      <p:sp>
        <p:nvSpPr>
          <p:cNvPr id="21" name="Text 19"/>
          <p:cNvSpPr/>
          <p:nvPr/>
        </p:nvSpPr>
        <p:spPr>
          <a:xfrm>
            <a:off x="6720840" y="3456432"/>
            <a:ext cx="2148840" cy="51206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Who bears cost if a third party sues</a:t>
            </a:r>
            <a:endParaRPr lang="en-US" sz="1000" dirty="0"/>
          </a:p>
        </p:txBody>
      </p:sp>
      <p:sp>
        <p:nvSpPr>
          <p:cNvPr id="22" name="Shape 20"/>
          <p:cNvSpPr/>
          <p:nvPr/>
        </p:nvSpPr>
        <p:spPr>
          <a:xfrm>
            <a:off x="457200" y="4078224"/>
            <a:ext cx="4160520" cy="512064"/>
          </a:xfrm>
          <a:prstGeom prst="rect">
            <a:avLst/>
          </a:prstGeom>
          <a:solidFill>
            <a:srgbClr val="1A3A5C"/>
          </a:solidFill>
          <a:ln/>
        </p:spPr>
        <p:txBody>
          <a:bodyPr/>
          <a:lstStyle/>
          <a:p>
            <a:endParaRPr lang="en-US"/>
          </a:p>
        </p:txBody>
      </p:sp>
      <p:sp>
        <p:nvSpPr>
          <p:cNvPr id="23" name="Shape 21"/>
          <p:cNvSpPr/>
          <p:nvPr/>
        </p:nvSpPr>
        <p:spPr>
          <a:xfrm>
            <a:off x="457200" y="4078224"/>
            <a:ext cx="64008" cy="512064"/>
          </a:xfrm>
          <a:prstGeom prst="rect">
            <a:avLst/>
          </a:prstGeom>
          <a:solidFill>
            <a:srgbClr val="B5D4F4"/>
          </a:solidFill>
          <a:ln/>
        </p:spPr>
        <p:txBody>
          <a:bodyPr/>
          <a:lstStyle/>
          <a:p>
            <a:endParaRPr lang="en-US"/>
          </a:p>
        </p:txBody>
      </p:sp>
      <p:sp>
        <p:nvSpPr>
          <p:cNvPr id="24" name="Text 22"/>
          <p:cNvSpPr/>
          <p:nvPr/>
        </p:nvSpPr>
        <p:spPr>
          <a:xfrm>
            <a:off x="621792" y="4078224"/>
            <a:ext cx="1645920" cy="512064"/>
          </a:xfrm>
          <a:prstGeom prst="rect">
            <a:avLst/>
          </a:prstGeom>
          <a:noFill/>
          <a:ln/>
        </p:spPr>
        <p:txBody>
          <a:bodyPr wrap="square" lIns="0" tIns="0" rIns="0" bIns="0" rtlCol="0" anchor="ctr"/>
          <a:lstStyle/>
          <a:p>
            <a:pPr marL="0" indent="0">
              <a:buNone/>
            </a:pPr>
            <a:r>
              <a:rPr lang="en-US" sz="1100" b="1" dirty="0">
                <a:solidFill>
                  <a:srgbClr val="B5D4F4"/>
                </a:solidFill>
                <a:latin typeface="Calibri" pitchFamily="34" charset="0"/>
                <a:ea typeface="Calibri" pitchFamily="34" charset="-122"/>
                <a:cs typeface="Calibri" pitchFamily="34" charset="-120"/>
              </a:rPr>
              <a:t>Scope of work</a:t>
            </a:r>
            <a:endParaRPr lang="en-US" sz="1100" dirty="0"/>
          </a:p>
        </p:txBody>
      </p:sp>
      <p:sp>
        <p:nvSpPr>
          <p:cNvPr id="25" name="Text 23"/>
          <p:cNvSpPr/>
          <p:nvPr/>
        </p:nvSpPr>
        <p:spPr>
          <a:xfrm>
            <a:off x="2331720" y="4078224"/>
            <a:ext cx="2148840" cy="51206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Creep without amendment = free work</a:t>
            </a:r>
            <a:endParaRPr lang="en-US" sz="1000" dirty="0"/>
          </a:p>
        </p:txBody>
      </p:sp>
      <p:sp>
        <p:nvSpPr>
          <p:cNvPr id="26" name="Shape 24"/>
          <p:cNvSpPr/>
          <p:nvPr/>
        </p:nvSpPr>
        <p:spPr>
          <a:xfrm>
            <a:off x="4846320" y="4078224"/>
            <a:ext cx="4160520" cy="512064"/>
          </a:xfrm>
          <a:prstGeom prst="rect">
            <a:avLst/>
          </a:prstGeom>
          <a:solidFill>
            <a:srgbClr val="1A3A5C"/>
          </a:solidFill>
          <a:ln/>
        </p:spPr>
        <p:txBody>
          <a:bodyPr/>
          <a:lstStyle/>
          <a:p>
            <a:endParaRPr lang="en-US"/>
          </a:p>
        </p:txBody>
      </p:sp>
      <p:sp>
        <p:nvSpPr>
          <p:cNvPr id="27" name="Shape 25"/>
          <p:cNvSpPr/>
          <p:nvPr/>
        </p:nvSpPr>
        <p:spPr>
          <a:xfrm>
            <a:off x="4846320" y="4078224"/>
            <a:ext cx="64008" cy="512064"/>
          </a:xfrm>
          <a:prstGeom prst="rect">
            <a:avLst/>
          </a:prstGeom>
          <a:solidFill>
            <a:srgbClr val="B5D4F4"/>
          </a:solidFill>
          <a:ln/>
        </p:spPr>
        <p:txBody>
          <a:bodyPr/>
          <a:lstStyle/>
          <a:p>
            <a:endParaRPr lang="en-US"/>
          </a:p>
        </p:txBody>
      </p:sp>
      <p:sp>
        <p:nvSpPr>
          <p:cNvPr id="28" name="Text 26"/>
          <p:cNvSpPr/>
          <p:nvPr/>
        </p:nvSpPr>
        <p:spPr>
          <a:xfrm>
            <a:off x="5010912" y="4078224"/>
            <a:ext cx="1645920" cy="512064"/>
          </a:xfrm>
          <a:prstGeom prst="rect">
            <a:avLst/>
          </a:prstGeom>
          <a:noFill/>
          <a:ln/>
        </p:spPr>
        <p:txBody>
          <a:bodyPr wrap="square" lIns="0" tIns="0" rIns="0" bIns="0" rtlCol="0" anchor="ctr"/>
          <a:lstStyle/>
          <a:p>
            <a:pPr marL="0" indent="0">
              <a:buNone/>
            </a:pPr>
            <a:r>
              <a:rPr lang="en-US" sz="1100" b="1" dirty="0">
                <a:solidFill>
                  <a:srgbClr val="B5D4F4"/>
                </a:solidFill>
                <a:latin typeface="Calibri" pitchFamily="34" charset="0"/>
                <a:ea typeface="Calibri" pitchFamily="34" charset="-122"/>
                <a:cs typeface="Calibri" pitchFamily="34" charset="-120"/>
              </a:rPr>
              <a:t>Termination</a:t>
            </a:r>
            <a:endParaRPr lang="en-US" sz="1100" dirty="0"/>
          </a:p>
        </p:txBody>
      </p:sp>
      <p:sp>
        <p:nvSpPr>
          <p:cNvPr id="29" name="Text 27"/>
          <p:cNvSpPr/>
          <p:nvPr/>
        </p:nvSpPr>
        <p:spPr>
          <a:xfrm>
            <a:off x="6720840" y="4078224"/>
            <a:ext cx="2148840" cy="51206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What's your revenue exposure if they walk?</a:t>
            </a:r>
            <a:endParaRPr lang="en-US" sz="1000" dirty="0"/>
          </a:p>
        </p:txBody>
      </p:sp>
      <p:sp>
        <p:nvSpPr>
          <p:cNvPr id="30" name="Text 33">
            <a:extLst>
              <a:ext uri="{FF2B5EF4-FFF2-40B4-BE49-F238E27FC236}">
                <a16:creationId xmlns:a16="http://schemas.microsoft.com/office/drawing/2014/main" id="{4B3494E1-3FC3-2BC6-8FA5-CE0B9888BBB1}"/>
              </a:ext>
            </a:extLst>
          </p:cNvPr>
          <p:cNvSpPr/>
          <p:nvPr/>
        </p:nvSpPr>
        <p:spPr>
          <a:xfrm>
            <a:off x="457200" y="4663440"/>
            <a:ext cx="8321040" cy="34747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wrap="square" lIns="0" tIns="0" rIns="0" bIns="0" rtlCol="0" anchor="ctr"/>
          <a:lstStyle/>
          <a:p>
            <a:pPr marL="0" indent="0" algn="ctr">
              <a:buNone/>
            </a:pPr>
            <a:r>
              <a:rPr lang="en-US" sz="1600" dirty="0">
                <a:solidFill>
                  <a:srgbClr val="0070C0"/>
                </a:solidFill>
                <a:latin typeface="Calibri" pitchFamily="34" charset="0"/>
                <a:ea typeface="Calibri" pitchFamily="34" charset="-122"/>
                <a:cs typeface="Calibri" pitchFamily="34" charset="-120"/>
              </a:rPr>
              <a:t>Customer, vendor, insurance, partnership, confidentiality, benefits </a:t>
            </a:r>
            <a:endParaRPr lang="en-US" sz="1600" dirty="0">
              <a:solidFill>
                <a:srgbClr val="0070C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240"/>
          </a:solidFill>
          <a:ln/>
        </p:spPr>
        <p:txBody>
          <a:bodyPr/>
          <a:lstStyle/>
          <a:p>
            <a:endParaRPr lang="en-US"/>
          </a:p>
        </p:txBody>
      </p:sp>
      <p:sp>
        <p:nvSpPr>
          <p:cNvPr id="3" name="Text 1"/>
          <p:cNvSpPr/>
          <p:nvPr/>
        </p:nvSpPr>
        <p:spPr>
          <a:xfrm>
            <a:off x="365760" y="54864"/>
            <a:ext cx="68580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When Customer Issues Arise</a:t>
            </a:r>
            <a:endParaRPr lang="en-US" sz="1800" dirty="0"/>
          </a:p>
        </p:txBody>
      </p:sp>
      <p:sp>
        <p:nvSpPr>
          <p:cNvPr id="4" name="Text 2"/>
          <p:cNvSpPr/>
          <p:nvPr/>
        </p:nvSpPr>
        <p:spPr>
          <a:xfrm>
            <a:off x="365760" y="658368"/>
            <a:ext cx="8412480" cy="34747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How the CFO protects revenue and the relationship</a:t>
            </a:r>
            <a:endParaRPr lang="en-US" sz="1200" dirty="0"/>
          </a:p>
        </p:txBody>
      </p:sp>
      <p:sp>
        <p:nvSpPr>
          <p:cNvPr id="5" name="Shape 3"/>
          <p:cNvSpPr/>
          <p:nvPr/>
        </p:nvSpPr>
        <p:spPr>
          <a:xfrm>
            <a:off x="320040" y="1115568"/>
            <a:ext cx="2743200" cy="37033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6" name="Shape 4"/>
          <p:cNvSpPr/>
          <p:nvPr/>
        </p:nvSpPr>
        <p:spPr>
          <a:xfrm>
            <a:off x="320040" y="1115568"/>
            <a:ext cx="2743200" cy="438912"/>
          </a:xfrm>
          <a:prstGeom prst="rect">
            <a:avLst/>
          </a:prstGeom>
          <a:solidFill>
            <a:srgbClr val="2D7DD2"/>
          </a:solidFill>
          <a:ln/>
        </p:spPr>
        <p:txBody>
          <a:bodyPr/>
          <a:lstStyle/>
          <a:p>
            <a:endParaRPr lang="en-US"/>
          </a:p>
        </p:txBody>
      </p:sp>
      <p:sp>
        <p:nvSpPr>
          <p:cNvPr id="7" name="Text 5"/>
          <p:cNvSpPr/>
          <p:nvPr/>
        </p:nvSpPr>
        <p:spPr>
          <a:xfrm>
            <a:off x="320040" y="1115568"/>
            <a:ext cx="274320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Invoice dispute</a:t>
            </a:r>
            <a:endParaRPr lang="en-US" sz="1200" dirty="0"/>
          </a:p>
        </p:txBody>
      </p:sp>
      <p:sp>
        <p:nvSpPr>
          <p:cNvPr id="8" name="Text 6"/>
          <p:cNvSpPr/>
          <p:nvPr/>
        </p:nvSpPr>
        <p:spPr>
          <a:xfrm>
            <a:off x="457200" y="1664208"/>
            <a:ext cx="2514600" cy="3017520"/>
          </a:xfrm>
          <a:prstGeom prst="rect">
            <a:avLst/>
          </a:prstGeom>
          <a:noFill/>
          <a:ln/>
        </p:spPr>
        <p:txBody>
          <a:bodyPr wrap="square" lIns="0" tIns="0" rIns="0" bIns="0" rtlCol="0" anchor="t"/>
          <a:lstStyle/>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Align on facts internally before any call</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Never concede revenue without contractual basis</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Document all communications</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Offer a credit only if clearly earned</a:t>
            </a:r>
            <a:endParaRPr lang="en-US" sz="1000" dirty="0"/>
          </a:p>
        </p:txBody>
      </p:sp>
      <p:sp>
        <p:nvSpPr>
          <p:cNvPr id="9" name="Shape 7"/>
          <p:cNvSpPr/>
          <p:nvPr/>
        </p:nvSpPr>
        <p:spPr>
          <a:xfrm>
            <a:off x="3246120" y="1115568"/>
            <a:ext cx="2743200" cy="37033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0" name="Shape 8"/>
          <p:cNvSpPr/>
          <p:nvPr/>
        </p:nvSpPr>
        <p:spPr>
          <a:xfrm>
            <a:off x="3246120" y="1115568"/>
            <a:ext cx="2743200" cy="438912"/>
          </a:xfrm>
          <a:prstGeom prst="rect">
            <a:avLst/>
          </a:prstGeom>
          <a:solidFill>
            <a:srgbClr val="028090"/>
          </a:solidFill>
          <a:ln/>
        </p:spPr>
        <p:txBody>
          <a:bodyPr/>
          <a:lstStyle/>
          <a:p>
            <a:endParaRPr lang="en-US"/>
          </a:p>
        </p:txBody>
      </p:sp>
      <p:sp>
        <p:nvSpPr>
          <p:cNvPr id="11" name="Text 9"/>
          <p:cNvSpPr/>
          <p:nvPr/>
        </p:nvSpPr>
        <p:spPr>
          <a:xfrm>
            <a:off x="3246120" y="1115568"/>
            <a:ext cx="274320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Service failure / SLA breach</a:t>
            </a:r>
            <a:endParaRPr lang="en-US" sz="1200" dirty="0"/>
          </a:p>
        </p:txBody>
      </p:sp>
      <p:sp>
        <p:nvSpPr>
          <p:cNvPr id="12" name="Text 10"/>
          <p:cNvSpPr/>
          <p:nvPr/>
        </p:nvSpPr>
        <p:spPr>
          <a:xfrm>
            <a:off x="3383280" y="1664208"/>
            <a:ext cx="2514600" cy="3017520"/>
          </a:xfrm>
          <a:prstGeom prst="rect">
            <a:avLst/>
          </a:prstGeom>
          <a:noFill/>
          <a:ln/>
        </p:spPr>
        <p:txBody>
          <a:bodyPr wrap="square" lIns="0" tIns="0" rIns="0" bIns="0" rtlCol="0" anchor="t"/>
          <a:lstStyle/>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Document the incident immediately</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Calculate credit owed per contract terms</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Track in both CRM and financial system</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Determine if it's a trend vs. one-off</a:t>
            </a:r>
            <a:endParaRPr lang="en-US" sz="1000" dirty="0"/>
          </a:p>
        </p:txBody>
      </p:sp>
      <p:sp>
        <p:nvSpPr>
          <p:cNvPr id="13" name="Shape 11"/>
          <p:cNvSpPr/>
          <p:nvPr/>
        </p:nvSpPr>
        <p:spPr>
          <a:xfrm>
            <a:off x="6172200" y="1115568"/>
            <a:ext cx="2743200" cy="37033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4" name="Shape 12"/>
          <p:cNvSpPr/>
          <p:nvPr/>
        </p:nvSpPr>
        <p:spPr>
          <a:xfrm>
            <a:off x="6172200" y="1115568"/>
            <a:ext cx="2743200" cy="438912"/>
          </a:xfrm>
          <a:prstGeom prst="rect">
            <a:avLst/>
          </a:prstGeom>
          <a:solidFill>
            <a:srgbClr val="1E4976"/>
          </a:solidFill>
          <a:ln/>
        </p:spPr>
        <p:txBody>
          <a:bodyPr/>
          <a:lstStyle/>
          <a:p>
            <a:endParaRPr lang="en-US"/>
          </a:p>
        </p:txBody>
      </p:sp>
      <p:sp>
        <p:nvSpPr>
          <p:cNvPr id="15" name="Text 13"/>
          <p:cNvSpPr/>
          <p:nvPr/>
        </p:nvSpPr>
        <p:spPr>
          <a:xfrm>
            <a:off x="6172200" y="1115568"/>
            <a:ext cx="274320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Threatened non-payment</a:t>
            </a:r>
            <a:endParaRPr lang="en-US" sz="1200" dirty="0"/>
          </a:p>
        </p:txBody>
      </p:sp>
      <p:sp>
        <p:nvSpPr>
          <p:cNvPr id="16" name="Text 14"/>
          <p:cNvSpPr/>
          <p:nvPr/>
        </p:nvSpPr>
        <p:spPr>
          <a:xfrm>
            <a:off x="6309360" y="1664208"/>
            <a:ext cx="2514600" cy="3017520"/>
          </a:xfrm>
          <a:prstGeom prst="rect">
            <a:avLst/>
          </a:prstGeom>
          <a:noFill/>
          <a:ln/>
        </p:spPr>
        <p:txBody>
          <a:bodyPr wrap="square" lIns="0" tIns="0" rIns="0" bIns="0" rtlCol="0" anchor="t"/>
          <a:lstStyle/>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Engage outside counsel early — preserve emails</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Understand cure periods before escalating</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Assess collectability — reserve if needed</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Weigh cost of litigation vs. settlement</a:t>
            </a:r>
            <a:endParaRPr lang="en-US" sz="1000" dirty="0"/>
          </a:p>
        </p:txBody>
      </p:sp>
      <p:sp>
        <p:nvSpPr>
          <p:cNvPr id="17" name="Shape 11">
            <a:extLst>
              <a:ext uri="{FF2B5EF4-FFF2-40B4-BE49-F238E27FC236}">
                <a16:creationId xmlns:a16="http://schemas.microsoft.com/office/drawing/2014/main" id="{8179618D-FBD1-500E-6CF0-4048DD31052E}"/>
              </a:ext>
            </a:extLst>
          </p:cNvPr>
          <p:cNvSpPr/>
          <p:nvPr/>
        </p:nvSpPr>
        <p:spPr>
          <a:xfrm>
            <a:off x="320040" y="3520440"/>
            <a:ext cx="8503920" cy="1417320"/>
          </a:xfrm>
          <a:prstGeom prst="rect">
            <a:avLst/>
          </a:prstGeom>
          <a:solidFill>
            <a:srgbClr val="FAEEDA"/>
          </a:solidFill>
          <a:ln/>
        </p:spPr>
        <p:txBody>
          <a:bodyPr/>
          <a:lstStyle/>
          <a:p>
            <a:endParaRPr lang="en-US"/>
          </a:p>
        </p:txBody>
      </p:sp>
      <p:sp>
        <p:nvSpPr>
          <p:cNvPr id="18" name="Shape 12">
            <a:extLst>
              <a:ext uri="{FF2B5EF4-FFF2-40B4-BE49-F238E27FC236}">
                <a16:creationId xmlns:a16="http://schemas.microsoft.com/office/drawing/2014/main" id="{B3AB8616-5ABF-AA20-B273-B42631930993}"/>
              </a:ext>
            </a:extLst>
          </p:cNvPr>
          <p:cNvSpPr/>
          <p:nvPr/>
        </p:nvSpPr>
        <p:spPr>
          <a:xfrm>
            <a:off x="320040" y="3520440"/>
            <a:ext cx="64008" cy="1417320"/>
          </a:xfrm>
          <a:prstGeom prst="rect">
            <a:avLst/>
          </a:prstGeom>
          <a:solidFill>
            <a:srgbClr val="D97706"/>
          </a:solidFill>
          <a:ln/>
        </p:spPr>
        <p:txBody>
          <a:bodyPr/>
          <a:lstStyle/>
          <a:p>
            <a:endParaRPr lang="en-US"/>
          </a:p>
        </p:txBody>
      </p:sp>
      <p:sp>
        <p:nvSpPr>
          <p:cNvPr id="19" name="Text 13">
            <a:extLst>
              <a:ext uri="{FF2B5EF4-FFF2-40B4-BE49-F238E27FC236}">
                <a16:creationId xmlns:a16="http://schemas.microsoft.com/office/drawing/2014/main" id="{41BFCCC2-712F-8210-284C-D7E9F688214D}"/>
              </a:ext>
            </a:extLst>
          </p:cNvPr>
          <p:cNvSpPr/>
          <p:nvPr/>
        </p:nvSpPr>
        <p:spPr>
          <a:xfrm>
            <a:off x="502920" y="3584448"/>
            <a:ext cx="8229600" cy="292608"/>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Real decision: Natural disaster</a:t>
            </a:r>
            <a:endParaRPr lang="en-US" sz="1200" dirty="0"/>
          </a:p>
        </p:txBody>
      </p:sp>
      <p:sp>
        <p:nvSpPr>
          <p:cNvPr id="20" name="Text 14">
            <a:extLst>
              <a:ext uri="{FF2B5EF4-FFF2-40B4-BE49-F238E27FC236}">
                <a16:creationId xmlns:a16="http://schemas.microsoft.com/office/drawing/2014/main" id="{74BEA61B-3C8B-0208-E425-07AF82158FB9}"/>
              </a:ext>
            </a:extLst>
          </p:cNvPr>
          <p:cNvSpPr/>
          <p:nvPr/>
        </p:nvSpPr>
        <p:spPr>
          <a:xfrm>
            <a:off x="502920" y="3904488"/>
            <a:ext cx="8229600" cy="9144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cs typeface="Calibri" pitchFamily="34" charset="-120"/>
              </a:rPr>
              <a:t>Ryann (client partner) is working through a renewal with a customer based in Northern Marianas.  School is not in session, major infrastructure destroyed.  Customer needs our products to continue operating, but does not have the staff or infrastructure to process the renewal and make payment.  Ryann escalates to her manager, Ben, who has a call with the customer and escalates to Dave, our Head of Customer Success who assesses the situation and presents a solution to me for approval.  </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D2240"/>
        </a:solidFill>
        <a:effectLst/>
      </p:bgPr>
    </p:bg>
    <p:spTree>
      <p:nvGrpSpPr>
        <p:cNvPr id="1" name=""/>
        <p:cNvGrpSpPr/>
        <p:nvPr/>
      </p:nvGrpSpPr>
      <p:grpSpPr>
        <a:xfrm>
          <a:off x="0" y="0"/>
          <a:ext cx="0" cy="0"/>
          <a:chOff x="0" y="0"/>
          <a:chExt cx="0" cy="0"/>
        </a:xfrm>
      </p:grpSpPr>
      <p:sp>
        <p:nvSpPr>
          <p:cNvPr id="4" name="Text 2"/>
          <p:cNvSpPr/>
          <p:nvPr/>
        </p:nvSpPr>
        <p:spPr>
          <a:xfrm>
            <a:off x="457200" y="1325880"/>
            <a:ext cx="82296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Financial Levers</a:t>
            </a:r>
            <a:endParaRPr lang="en-US" sz="3400" dirty="0"/>
          </a:p>
        </p:txBody>
      </p:sp>
      <p:sp>
        <p:nvSpPr>
          <p:cNvPr id="5" name="Text 3"/>
          <p:cNvSpPr/>
          <p:nvPr/>
        </p:nvSpPr>
        <p:spPr>
          <a:xfrm>
            <a:off x="457200" y="2331720"/>
            <a:ext cx="7772400" cy="5029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Forecasting, strategy &amp; audits — planning for the future</a:t>
            </a:r>
            <a:endParaRPr lang="en-US" sz="1600" dirty="0"/>
          </a:p>
        </p:txBody>
      </p:sp>
      <p:sp>
        <p:nvSpPr>
          <p:cNvPr id="6" name="Text 4"/>
          <p:cNvSpPr/>
          <p:nvPr/>
        </p:nvSpPr>
        <p:spPr>
          <a:xfrm>
            <a:off x="457200" y="2788920"/>
            <a:ext cx="8229600" cy="320040"/>
          </a:xfrm>
          <a:prstGeom prst="rect">
            <a:avLst/>
          </a:prstGeom>
          <a:noFill/>
          <a:ln/>
        </p:spPr>
        <p:txBody>
          <a:bodyPr wrap="square" lIns="0" tIns="0" rIns="0" bIns="0" rtlCol="0" anchor="ctr"/>
          <a:lstStyle/>
          <a:p>
            <a:pPr marL="0" indent="0">
              <a:buNone/>
            </a:pPr>
            <a:r>
              <a:rPr lang="en-US" sz="1300" b="1" dirty="0">
                <a:solidFill>
                  <a:srgbClr val="B5D4F4"/>
                </a:solidFill>
                <a:latin typeface="Calibri" pitchFamily="34" charset="0"/>
                <a:ea typeface="Calibri" pitchFamily="34" charset="-122"/>
                <a:cs typeface="Calibri" pitchFamily="34" charset="-120"/>
              </a:rPr>
              <a:t>Forecast inputs → outputs</a:t>
            </a:r>
            <a:endParaRPr lang="en-US" sz="1300" dirty="0"/>
          </a:p>
        </p:txBody>
      </p:sp>
      <p:sp>
        <p:nvSpPr>
          <p:cNvPr id="7" name="Shape 5"/>
          <p:cNvSpPr/>
          <p:nvPr/>
        </p:nvSpPr>
        <p:spPr>
          <a:xfrm>
            <a:off x="457200" y="3200400"/>
            <a:ext cx="3657600" cy="292608"/>
          </a:xfrm>
          <a:prstGeom prst="rect">
            <a:avLst/>
          </a:prstGeom>
          <a:solidFill>
            <a:srgbClr val="1A3A5C"/>
          </a:solidFill>
          <a:ln/>
        </p:spPr>
        <p:txBody>
          <a:bodyPr/>
          <a:lstStyle/>
          <a:p>
            <a:endParaRPr lang="en-US"/>
          </a:p>
        </p:txBody>
      </p:sp>
      <p:sp>
        <p:nvSpPr>
          <p:cNvPr id="8" name="Text 6"/>
          <p:cNvSpPr/>
          <p:nvPr/>
        </p:nvSpPr>
        <p:spPr>
          <a:xfrm>
            <a:off x="548640" y="3200400"/>
            <a:ext cx="3474720" cy="29260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Sales pipeline (CRM)</a:t>
            </a:r>
            <a:endParaRPr lang="en-US" sz="1000" dirty="0"/>
          </a:p>
        </p:txBody>
      </p:sp>
      <p:sp>
        <p:nvSpPr>
          <p:cNvPr id="9" name="Shape 7"/>
          <p:cNvSpPr/>
          <p:nvPr/>
        </p:nvSpPr>
        <p:spPr>
          <a:xfrm>
            <a:off x="4206240" y="3346704"/>
            <a:ext cx="548640" cy="0"/>
          </a:xfrm>
          <a:prstGeom prst="line">
            <a:avLst/>
          </a:prstGeom>
          <a:noFill/>
          <a:ln w="19050">
            <a:solidFill>
              <a:srgbClr val="D97706"/>
            </a:solidFill>
            <a:prstDash val="solid"/>
          </a:ln>
        </p:spPr>
        <p:txBody>
          <a:bodyPr/>
          <a:lstStyle/>
          <a:p>
            <a:endParaRPr lang="en-US"/>
          </a:p>
        </p:txBody>
      </p:sp>
      <p:sp>
        <p:nvSpPr>
          <p:cNvPr id="10" name="Shape 8"/>
          <p:cNvSpPr/>
          <p:nvPr/>
        </p:nvSpPr>
        <p:spPr>
          <a:xfrm>
            <a:off x="4846320" y="3200400"/>
            <a:ext cx="3840480" cy="292608"/>
          </a:xfrm>
          <a:prstGeom prst="rect">
            <a:avLst/>
          </a:prstGeom>
          <a:solidFill>
            <a:srgbClr val="E6F1FB"/>
          </a:solidFill>
          <a:ln/>
        </p:spPr>
        <p:txBody>
          <a:bodyPr/>
          <a:lstStyle/>
          <a:p>
            <a:endParaRPr lang="en-US"/>
          </a:p>
        </p:txBody>
      </p:sp>
      <p:sp>
        <p:nvSpPr>
          <p:cNvPr id="11" name="Text 9"/>
          <p:cNvSpPr/>
          <p:nvPr/>
        </p:nvSpPr>
        <p:spPr>
          <a:xfrm>
            <a:off x="4937760" y="3200400"/>
            <a:ext cx="3657600" cy="292608"/>
          </a:xfrm>
          <a:prstGeom prst="rect">
            <a:avLst/>
          </a:prstGeom>
          <a:noFill/>
          <a:ln/>
        </p:spPr>
        <p:txBody>
          <a:bodyPr wrap="square" lIns="0" tIns="0" rIns="0" bIns="0" rtlCol="0" anchor="ctr"/>
          <a:lstStyle/>
          <a:p>
            <a:pPr marL="0" indent="0">
              <a:buNone/>
            </a:pPr>
            <a:r>
              <a:rPr lang="en-US" sz="1000" dirty="0">
                <a:solidFill>
                  <a:srgbClr val="0D2240"/>
                </a:solidFill>
                <a:latin typeface="Calibri" pitchFamily="34" charset="0"/>
                <a:ea typeface="Calibri" pitchFamily="34" charset="-122"/>
                <a:cs typeface="Calibri" pitchFamily="34" charset="-120"/>
              </a:rPr>
              <a:t>Revenue by month</a:t>
            </a:r>
            <a:endParaRPr lang="en-US" sz="1000" dirty="0"/>
          </a:p>
        </p:txBody>
      </p:sp>
      <p:sp>
        <p:nvSpPr>
          <p:cNvPr id="12" name="Shape 10"/>
          <p:cNvSpPr/>
          <p:nvPr/>
        </p:nvSpPr>
        <p:spPr>
          <a:xfrm>
            <a:off x="457200" y="3547872"/>
            <a:ext cx="3657600" cy="292608"/>
          </a:xfrm>
          <a:prstGeom prst="rect">
            <a:avLst/>
          </a:prstGeom>
          <a:solidFill>
            <a:srgbClr val="1A3A5C"/>
          </a:solidFill>
          <a:ln/>
        </p:spPr>
        <p:txBody>
          <a:bodyPr/>
          <a:lstStyle/>
          <a:p>
            <a:endParaRPr lang="en-US"/>
          </a:p>
        </p:txBody>
      </p:sp>
      <p:sp>
        <p:nvSpPr>
          <p:cNvPr id="13" name="Text 11"/>
          <p:cNvSpPr/>
          <p:nvPr/>
        </p:nvSpPr>
        <p:spPr>
          <a:xfrm>
            <a:off x="548640" y="3547872"/>
            <a:ext cx="3474720" cy="29260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Headcount plan (HR)</a:t>
            </a:r>
            <a:endParaRPr lang="en-US" sz="1000" dirty="0"/>
          </a:p>
        </p:txBody>
      </p:sp>
      <p:sp>
        <p:nvSpPr>
          <p:cNvPr id="14" name="Shape 12"/>
          <p:cNvSpPr/>
          <p:nvPr/>
        </p:nvSpPr>
        <p:spPr>
          <a:xfrm>
            <a:off x="4206240" y="3694176"/>
            <a:ext cx="548640" cy="0"/>
          </a:xfrm>
          <a:prstGeom prst="line">
            <a:avLst/>
          </a:prstGeom>
          <a:noFill/>
          <a:ln w="19050">
            <a:solidFill>
              <a:srgbClr val="D97706"/>
            </a:solidFill>
            <a:prstDash val="solid"/>
          </a:ln>
        </p:spPr>
        <p:txBody>
          <a:bodyPr/>
          <a:lstStyle/>
          <a:p>
            <a:endParaRPr lang="en-US"/>
          </a:p>
        </p:txBody>
      </p:sp>
      <p:sp>
        <p:nvSpPr>
          <p:cNvPr id="15" name="Shape 13"/>
          <p:cNvSpPr/>
          <p:nvPr/>
        </p:nvSpPr>
        <p:spPr>
          <a:xfrm>
            <a:off x="4846320" y="3547872"/>
            <a:ext cx="3840480" cy="292608"/>
          </a:xfrm>
          <a:prstGeom prst="rect">
            <a:avLst/>
          </a:prstGeom>
          <a:solidFill>
            <a:srgbClr val="E6F1FB"/>
          </a:solidFill>
          <a:ln/>
        </p:spPr>
        <p:txBody>
          <a:bodyPr/>
          <a:lstStyle/>
          <a:p>
            <a:endParaRPr lang="en-US"/>
          </a:p>
        </p:txBody>
      </p:sp>
      <p:sp>
        <p:nvSpPr>
          <p:cNvPr id="16" name="Text 14"/>
          <p:cNvSpPr/>
          <p:nvPr/>
        </p:nvSpPr>
        <p:spPr>
          <a:xfrm>
            <a:off x="4937760" y="3547872"/>
            <a:ext cx="3657600" cy="292608"/>
          </a:xfrm>
          <a:prstGeom prst="rect">
            <a:avLst/>
          </a:prstGeom>
          <a:noFill/>
          <a:ln/>
        </p:spPr>
        <p:txBody>
          <a:bodyPr wrap="square" lIns="0" tIns="0" rIns="0" bIns="0" rtlCol="0" anchor="ctr"/>
          <a:lstStyle/>
          <a:p>
            <a:pPr marL="0" indent="0">
              <a:buNone/>
            </a:pPr>
            <a:r>
              <a:rPr lang="en-US" sz="1000" dirty="0">
                <a:solidFill>
                  <a:srgbClr val="0D2240"/>
                </a:solidFill>
                <a:latin typeface="Calibri" pitchFamily="34" charset="0"/>
                <a:ea typeface="Calibri" pitchFamily="34" charset="-122"/>
                <a:cs typeface="Calibri" pitchFamily="34" charset="-120"/>
              </a:rPr>
              <a:t>Payroll &amp; benefits cost</a:t>
            </a:r>
            <a:endParaRPr lang="en-US" sz="1000" dirty="0"/>
          </a:p>
        </p:txBody>
      </p:sp>
      <p:sp>
        <p:nvSpPr>
          <p:cNvPr id="17" name="Shape 15"/>
          <p:cNvSpPr/>
          <p:nvPr/>
        </p:nvSpPr>
        <p:spPr>
          <a:xfrm>
            <a:off x="457200" y="3895344"/>
            <a:ext cx="3657600" cy="292608"/>
          </a:xfrm>
          <a:prstGeom prst="rect">
            <a:avLst/>
          </a:prstGeom>
          <a:solidFill>
            <a:srgbClr val="1A3A5C"/>
          </a:solidFill>
          <a:ln/>
        </p:spPr>
        <p:txBody>
          <a:bodyPr/>
          <a:lstStyle/>
          <a:p>
            <a:endParaRPr lang="en-US"/>
          </a:p>
        </p:txBody>
      </p:sp>
      <p:sp>
        <p:nvSpPr>
          <p:cNvPr id="18" name="Text 16"/>
          <p:cNvSpPr/>
          <p:nvPr/>
        </p:nvSpPr>
        <p:spPr>
          <a:xfrm>
            <a:off x="548640" y="3895344"/>
            <a:ext cx="3474720" cy="29260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Vendor contracts (Ops)</a:t>
            </a:r>
            <a:endParaRPr lang="en-US" sz="1000" dirty="0"/>
          </a:p>
        </p:txBody>
      </p:sp>
      <p:sp>
        <p:nvSpPr>
          <p:cNvPr id="19" name="Shape 17"/>
          <p:cNvSpPr/>
          <p:nvPr/>
        </p:nvSpPr>
        <p:spPr>
          <a:xfrm>
            <a:off x="4206240" y="4041648"/>
            <a:ext cx="548640" cy="0"/>
          </a:xfrm>
          <a:prstGeom prst="line">
            <a:avLst/>
          </a:prstGeom>
          <a:noFill/>
          <a:ln w="19050">
            <a:solidFill>
              <a:srgbClr val="D97706"/>
            </a:solidFill>
            <a:prstDash val="solid"/>
          </a:ln>
        </p:spPr>
        <p:txBody>
          <a:bodyPr/>
          <a:lstStyle/>
          <a:p>
            <a:endParaRPr lang="en-US"/>
          </a:p>
        </p:txBody>
      </p:sp>
      <p:sp>
        <p:nvSpPr>
          <p:cNvPr id="20" name="Shape 18"/>
          <p:cNvSpPr/>
          <p:nvPr/>
        </p:nvSpPr>
        <p:spPr>
          <a:xfrm>
            <a:off x="4846320" y="3895344"/>
            <a:ext cx="3840480" cy="292608"/>
          </a:xfrm>
          <a:prstGeom prst="rect">
            <a:avLst/>
          </a:prstGeom>
          <a:solidFill>
            <a:srgbClr val="E6F1FB"/>
          </a:solidFill>
          <a:ln/>
        </p:spPr>
        <p:txBody>
          <a:bodyPr/>
          <a:lstStyle/>
          <a:p>
            <a:endParaRPr lang="en-US"/>
          </a:p>
        </p:txBody>
      </p:sp>
      <p:sp>
        <p:nvSpPr>
          <p:cNvPr id="21" name="Text 19"/>
          <p:cNvSpPr/>
          <p:nvPr/>
        </p:nvSpPr>
        <p:spPr>
          <a:xfrm>
            <a:off x="4937760" y="3895344"/>
            <a:ext cx="3657600" cy="292608"/>
          </a:xfrm>
          <a:prstGeom prst="rect">
            <a:avLst/>
          </a:prstGeom>
          <a:noFill/>
          <a:ln/>
        </p:spPr>
        <p:txBody>
          <a:bodyPr wrap="square" lIns="0" tIns="0" rIns="0" bIns="0" rtlCol="0" anchor="ctr"/>
          <a:lstStyle/>
          <a:p>
            <a:pPr marL="0" indent="0">
              <a:buNone/>
            </a:pPr>
            <a:r>
              <a:rPr lang="en-US" sz="1000" dirty="0">
                <a:solidFill>
                  <a:srgbClr val="0D2240"/>
                </a:solidFill>
                <a:latin typeface="Calibri" pitchFamily="34" charset="0"/>
                <a:ea typeface="Calibri" pitchFamily="34" charset="-122"/>
                <a:cs typeface="Calibri" pitchFamily="34" charset="-120"/>
              </a:rPr>
              <a:t>COGS &amp; OpEx</a:t>
            </a:r>
            <a:endParaRPr lang="en-US" sz="1000" dirty="0"/>
          </a:p>
        </p:txBody>
      </p:sp>
      <p:sp>
        <p:nvSpPr>
          <p:cNvPr id="22" name="Shape 20"/>
          <p:cNvSpPr/>
          <p:nvPr/>
        </p:nvSpPr>
        <p:spPr>
          <a:xfrm>
            <a:off x="457200" y="4242816"/>
            <a:ext cx="3657600" cy="292608"/>
          </a:xfrm>
          <a:prstGeom prst="rect">
            <a:avLst/>
          </a:prstGeom>
          <a:solidFill>
            <a:srgbClr val="1A3A5C"/>
          </a:solidFill>
          <a:ln/>
        </p:spPr>
        <p:txBody>
          <a:bodyPr/>
          <a:lstStyle/>
          <a:p>
            <a:endParaRPr lang="en-US"/>
          </a:p>
        </p:txBody>
      </p:sp>
      <p:sp>
        <p:nvSpPr>
          <p:cNvPr id="23" name="Text 21"/>
          <p:cNvSpPr/>
          <p:nvPr/>
        </p:nvSpPr>
        <p:spPr>
          <a:xfrm>
            <a:off x="548640" y="4242816"/>
            <a:ext cx="3474720" cy="29260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Renewal rates (CS team)</a:t>
            </a:r>
            <a:endParaRPr lang="en-US" sz="1000" dirty="0"/>
          </a:p>
        </p:txBody>
      </p:sp>
      <p:sp>
        <p:nvSpPr>
          <p:cNvPr id="24" name="Shape 22"/>
          <p:cNvSpPr/>
          <p:nvPr/>
        </p:nvSpPr>
        <p:spPr>
          <a:xfrm>
            <a:off x="4206240" y="4389120"/>
            <a:ext cx="548640" cy="0"/>
          </a:xfrm>
          <a:prstGeom prst="line">
            <a:avLst/>
          </a:prstGeom>
          <a:noFill/>
          <a:ln w="19050">
            <a:solidFill>
              <a:srgbClr val="D97706"/>
            </a:solidFill>
            <a:prstDash val="solid"/>
          </a:ln>
        </p:spPr>
        <p:txBody>
          <a:bodyPr/>
          <a:lstStyle/>
          <a:p>
            <a:endParaRPr lang="en-US"/>
          </a:p>
        </p:txBody>
      </p:sp>
      <p:sp>
        <p:nvSpPr>
          <p:cNvPr id="25" name="Shape 23"/>
          <p:cNvSpPr/>
          <p:nvPr/>
        </p:nvSpPr>
        <p:spPr>
          <a:xfrm>
            <a:off x="4846320" y="4242816"/>
            <a:ext cx="3840480" cy="292608"/>
          </a:xfrm>
          <a:prstGeom prst="rect">
            <a:avLst/>
          </a:prstGeom>
          <a:solidFill>
            <a:srgbClr val="E6F1FB"/>
          </a:solidFill>
          <a:ln/>
        </p:spPr>
        <p:txBody>
          <a:bodyPr/>
          <a:lstStyle/>
          <a:p>
            <a:endParaRPr lang="en-US"/>
          </a:p>
        </p:txBody>
      </p:sp>
      <p:sp>
        <p:nvSpPr>
          <p:cNvPr id="26" name="Text 24"/>
          <p:cNvSpPr/>
          <p:nvPr/>
        </p:nvSpPr>
        <p:spPr>
          <a:xfrm>
            <a:off x="4937760" y="4242816"/>
            <a:ext cx="3657600" cy="292608"/>
          </a:xfrm>
          <a:prstGeom prst="rect">
            <a:avLst/>
          </a:prstGeom>
          <a:noFill/>
          <a:ln/>
        </p:spPr>
        <p:txBody>
          <a:bodyPr wrap="square" lIns="0" tIns="0" rIns="0" bIns="0" rtlCol="0" anchor="ctr"/>
          <a:lstStyle/>
          <a:p>
            <a:pPr marL="0" indent="0">
              <a:buNone/>
            </a:pPr>
            <a:r>
              <a:rPr lang="en-US" sz="1000" dirty="0">
                <a:solidFill>
                  <a:srgbClr val="0D2240"/>
                </a:solidFill>
                <a:latin typeface="Calibri" pitchFamily="34" charset="0"/>
                <a:ea typeface="Calibri" pitchFamily="34" charset="-122"/>
                <a:cs typeface="Calibri" pitchFamily="34" charset="-120"/>
              </a:rPr>
              <a:t>ARR retention &amp; churn</a:t>
            </a:r>
            <a:endParaRPr lang="en-US" sz="1000" dirty="0"/>
          </a:p>
        </p:txBody>
      </p:sp>
      <p:sp>
        <p:nvSpPr>
          <p:cNvPr id="27" name="Shape 25"/>
          <p:cNvSpPr/>
          <p:nvPr/>
        </p:nvSpPr>
        <p:spPr>
          <a:xfrm>
            <a:off x="457200" y="4590288"/>
            <a:ext cx="3657600" cy="292608"/>
          </a:xfrm>
          <a:prstGeom prst="rect">
            <a:avLst/>
          </a:prstGeom>
          <a:solidFill>
            <a:srgbClr val="1A3A5C"/>
          </a:solidFill>
          <a:ln/>
        </p:spPr>
        <p:txBody>
          <a:bodyPr/>
          <a:lstStyle/>
          <a:p>
            <a:endParaRPr lang="en-US"/>
          </a:p>
        </p:txBody>
      </p:sp>
      <p:sp>
        <p:nvSpPr>
          <p:cNvPr id="28" name="Text 26"/>
          <p:cNvSpPr/>
          <p:nvPr/>
        </p:nvSpPr>
        <p:spPr>
          <a:xfrm>
            <a:off x="548640" y="4590288"/>
            <a:ext cx="3474720" cy="29260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Capex plans (leadership)</a:t>
            </a:r>
            <a:endParaRPr lang="en-US" sz="1000" dirty="0"/>
          </a:p>
        </p:txBody>
      </p:sp>
      <p:sp>
        <p:nvSpPr>
          <p:cNvPr id="29" name="Shape 27"/>
          <p:cNvSpPr/>
          <p:nvPr/>
        </p:nvSpPr>
        <p:spPr>
          <a:xfrm>
            <a:off x="4206240" y="4736592"/>
            <a:ext cx="548640" cy="0"/>
          </a:xfrm>
          <a:prstGeom prst="line">
            <a:avLst/>
          </a:prstGeom>
          <a:noFill/>
          <a:ln w="19050">
            <a:solidFill>
              <a:srgbClr val="D97706"/>
            </a:solidFill>
            <a:prstDash val="solid"/>
          </a:ln>
        </p:spPr>
        <p:txBody>
          <a:bodyPr/>
          <a:lstStyle/>
          <a:p>
            <a:endParaRPr lang="en-US"/>
          </a:p>
        </p:txBody>
      </p:sp>
      <p:sp>
        <p:nvSpPr>
          <p:cNvPr id="30" name="Shape 28"/>
          <p:cNvSpPr/>
          <p:nvPr/>
        </p:nvSpPr>
        <p:spPr>
          <a:xfrm>
            <a:off x="4846320" y="4590288"/>
            <a:ext cx="3840480" cy="292608"/>
          </a:xfrm>
          <a:prstGeom prst="rect">
            <a:avLst/>
          </a:prstGeom>
          <a:solidFill>
            <a:srgbClr val="E6F1FB"/>
          </a:solidFill>
          <a:ln/>
        </p:spPr>
        <p:txBody>
          <a:bodyPr/>
          <a:lstStyle/>
          <a:p>
            <a:endParaRPr lang="en-US"/>
          </a:p>
        </p:txBody>
      </p:sp>
      <p:sp>
        <p:nvSpPr>
          <p:cNvPr id="31" name="Text 29"/>
          <p:cNvSpPr/>
          <p:nvPr/>
        </p:nvSpPr>
        <p:spPr>
          <a:xfrm>
            <a:off x="4937760" y="4590288"/>
            <a:ext cx="3657600" cy="292608"/>
          </a:xfrm>
          <a:prstGeom prst="rect">
            <a:avLst/>
          </a:prstGeom>
          <a:noFill/>
          <a:ln/>
        </p:spPr>
        <p:txBody>
          <a:bodyPr wrap="square" lIns="0" tIns="0" rIns="0" bIns="0" rtlCol="0" anchor="ctr"/>
          <a:lstStyle/>
          <a:p>
            <a:pPr marL="0" indent="0">
              <a:buNone/>
            </a:pPr>
            <a:r>
              <a:rPr lang="en-US" sz="1000" dirty="0">
                <a:solidFill>
                  <a:srgbClr val="0D2240"/>
                </a:solidFill>
                <a:latin typeface="Calibri" pitchFamily="34" charset="0"/>
                <a:ea typeface="Calibri" pitchFamily="34" charset="-122"/>
                <a:cs typeface="Calibri" pitchFamily="34" charset="-120"/>
              </a:rPr>
              <a:t>Cash out &amp; depreciation</a:t>
            </a:r>
            <a:endParaRPr lang="en-US" sz="1000" dirty="0"/>
          </a:p>
        </p:txBody>
      </p:sp>
      <p:sp>
        <p:nvSpPr>
          <p:cNvPr id="32" name="Shape 0">
            <a:extLst>
              <a:ext uri="{FF2B5EF4-FFF2-40B4-BE49-F238E27FC236}">
                <a16:creationId xmlns:a16="http://schemas.microsoft.com/office/drawing/2014/main" id="{72C6EFD9-C39B-AD02-DC3F-61F9BC76A0D5}"/>
              </a:ext>
            </a:extLst>
          </p:cNvPr>
          <p:cNvSpPr/>
          <p:nvPr/>
        </p:nvSpPr>
        <p:spPr>
          <a:xfrm>
            <a:off x="0" y="23451"/>
            <a:ext cx="9144000" cy="1051560"/>
          </a:xfrm>
          <a:prstGeom prst="rect">
            <a:avLst/>
          </a:prstGeom>
          <a:solidFill>
            <a:srgbClr val="1E4976"/>
          </a:solidFill>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D7DD2"/>
          </a:solidFill>
          <a:ln/>
        </p:spPr>
        <p:txBody>
          <a:bodyPr/>
          <a:lstStyle/>
          <a:p>
            <a:endParaRPr lang="en-US"/>
          </a:p>
        </p:txBody>
      </p:sp>
      <p:sp>
        <p:nvSpPr>
          <p:cNvPr id="3" name="Text 1"/>
          <p:cNvSpPr/>
          <p:nvPr/>
        </p:nvSpPr>
        <p:spPr>
          <a:xfrm>
            <a:off x="365760" y="54864"/>
            <a:ext cx="68580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Audits &amp; Key Financial Metrics</a:t>
            </a:r>
            <a:endParaRPr lang="en-US" sz="1800" dirty="0"/>
          </a:p>
        </p:txBody>
      </p:sp>
      <p:sp>
        <p:nvSpPr>
          <p:cNvPr id="4" name="Text 2"/>
          <p:cNvSpPr/>
          <p:nvPr/>
        </p:nvSpPr>
        <p:spPr>
          <a:xfrm>
            <a:off x="365760" y="658368"/>
            <a:ext cx="8412480" cy="34747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Verifying the numbers — and what to watch at $35M revenue</a:t>
            </a:r>
            <a:endParaRPr lang="en-US" sz="1200" dirty="0"/>
          </a:p>
        </p:txBody>
      </p:sp>
      <p:sp>
        <p:nvSpPr>
          <p:cNvPr id="5" name="Shape 3"/>
          <p:cNvSpPr/>
          <p:nvPr/>
        </p:nvSpPr>
        <p:spPr>
          <a:xfrm>
            <a:off x="320040" y="1115568"/>
            <a:ext cx="4114800" cy="333756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6" name="Shape 4"/>
          <p:cNvSpPr/>
          <p:nvPr/>
        </p:nvSpPr>
        <p:spPr>
          <a:xfrm>
            <a:off x="320040" y="1115568"/>
            <a:ext cx="4114800" cy="420624"/>
          </a:xfrm>
          <a:prstGeom prst="rect">
            <a:avLst/>
          </a:prstGeom>
          <a:solidFill>
            <a:srgbClr val="2D7DD2"/>
          </a:solidFill>
          <a:ln/>
        </p:spPr>
        <p:txBody>
          <a:bodyPr/>
          <a:lstStyle/>
          <a:p>
            <a:endParaRPr lang="en-US"/>
          </a:p>
        </p:txBody>
      </p:sp>
      <p:sp>
        <p:nvSpPr>
          <p:cNvPr id="7" name="Text 5"/>
          <p:cNvSpPr/>
          <p:nvPr/>
        </p:nvSpPr>
        <p:spPr>
          <a:xfrm>
            <a:off x="320040" y="1115568"/>
            <a:ext cx="4114800"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What an audit is</a:t>
            </a:r>
            <a:endParaRPr lang="en-US" sz="1300" dirty="0"/>
          </a:p>
        </p:txBody>
      </p:sp>
      <p:sp>
        <p:nvSpPr>
          <p:cNvPr id="8" name="Text 6"/>
          <p:cNvSpPr/>
          <p:nvPr/>
        </p:nvSpPr>
        <p:spPr>
          <a:xfrm>
            <a:off x="502920" y="1627632"/>
            <a:ext cx="3840480" cy="2743200"/>
          </a:xfrm>
          <a:prstGeom prst="rect">
            <a:avLst/>
          </a:prstGeom>
          <a:noFill/>
          <a:ln/>
        </p:spPr>
        <p:txBody>
          <a:bodyPr wrap="square" lIns="0" tIns="0" rIns="0" bIns="0" rtlCol="0" anchor="t"/>
          <a:lstStyle/>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An independent CPA firm verifies your financials follow GAAP</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Auditors test a sample of transactions and reconcile accounts</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They issue an opinion: clean (unqualified) or flagged (qualified)</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Required by most lenders, investors, and acquirers</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A $35M company typically has a review or full audit annually</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CFO spends weeks coordinating — gathering docs, managing the firm</a:t>
            </a:r>
            <a:endParaRPr lang="en-US" sz="1000" dirty="0"/>
          </a:p>
        </p:txBody>
      </p:sp>
      <p:sp>
        <p:nvSpPr>
          <p:cNvPr id="9" name="Shape 7"/>
          <p:cNvSpPr/>
          <p:nvPr/>
        </p:nvSpPr>
        <p:spPr>
          <a:xfrm>
            <a:off x="4663440" y="1115568"/>
            <a:ext cx="4160520" cy="768096"/>
          </a:xfrm>
          <a:prstGeom prst="rect">
            <a:avLst/>
          </a:prstGeom>
          <a:solidFill>
            <a:srgbClr val="F8F9FB"/>
          </a:solidFill>
          <a:ln/>
          <a:effectLst>
            <a:outerShdw blurRad="101600" dist="25400" dir="8100000" algn="bl" rotWithShape="0">
              <a:srgbClr val="000000">
                <a:alpha val="10000"/>
              </a:srgbClr>
            </a:outerShdw>
          </a:effectLst>
        </p:spPr>
        <p:txBody>
          <a:bodyPr/>
          <a:lstStyle/>
          <a:p>
            <a:endParaRPr lang="en-US"/>
          </a:p>
        </p:txBody>
      </p:sp>
      <p:sp>
        <p:nvSpPr>
          <p:cNvPr id="10" name="Text 8"/>
          <p:cNvSpPr/>
          <p:nvPr/>
        </p:nvSpPr>
        <p:spPr>
          <a:xfrm>
            <a:off x="4800600" y="1170432"/>
            <a:ext cx="201168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Gross margin</a:t>
            </a:r>
            <a:endParaRPr lang="en-US" sz="1000" dirty="0"/>
          </a:p>
        </p:txBody>
      </p:sp>
      <p:sp>
        <p:nvSpPr>
          <p:cNvPr id="11" name="Text 9"/>
          <p:cNvSpPr/>
          <p:nvPr/>
        </p:nvSpPr>
        <p:spPr>
          <a:xfrm>
            <a:off x="4800600" y="1426464"/>
            <a:ext cx="3840480" cy="320040"/>
          </a:xfrm>
          <a:prstGeom prst="rect">
            <a:avLst/>
          </a:prstGeom>
          <a:noFill/>
          <a:ln/>
        </p:spPr>
        <p:txBody>
          <a:bodyPr wrap="square" lIns="0" tIns="0" rIns="0" bIns="0" rtlCol="0" anchor="ctr"/>
          <a:lstStyle/>
          <a:p>
            <a:pPr marL="0" indent="0">
              <a:buNone/>
            </a:pPr>
            <a:r>
              <a:rPr lang="en-US" b="1" dirty="0">
                <a:solidFill>
                  <a:srgbClr val="0D2240"/>
                </a:solidFill>
                <a:latin typeface="Calibri" pitchFamily="34" charset="0"/>
                <a:ea typeface="Calibri" pitchFamily="34" charset="-122"/>
                <a:cs typeface="Calibri" pitchFamily="34" charset="-120"/>
              </a:rPr>
              <a:t>80</a:t>
            </a:r>
            <a:r>
              <a:rPr lang="en-US" sz="1800" b="1" dirty="0">
                <a:solidFill>
                  <a:srgbClr val="0D2240"/>
                </a:solidFill>
                <a:latin typeface="Calibri" pitchFamily="34" charset="0"/>
                <a:ea typeface="Calibri" pitchFamily="34" charset="-122"/>
                <a:cs typeface="Calibri" pitchFamily="34" charset="-120"/>
              </a:rPr>
              <a:t>–90%</a:t>
            </a:r>
            <a:endParaRPr lang="en-US" sz="1800" dirty="0"/>
          </a:p>
        </p:txBody>
      </p:sp>
      <p:sp>
        <p:nvSpPr>
          <p:cNvPr id="12" name="Text 10"/>
          <p:cNvSpPr/>
          <p:nvPr/>
        </p:nvSpPr>
        <p:spPr>
          <a:xfrm>
            <a:off x="4800600" y="1645920"/>
            <a:ext cx="384048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Revenue minus COGS</a:t>
            </a:r>
            <a:endParaRPr lang="en-US" sz="900" dirty="0"/>
          </a:p>
        </p:txBody>
      </p:sp>
      <p:sp>
        <p:nvSpPr>
          <p:cNvPr id="13" name="Shape 11"/>
          <p:cNvSpPr/>
          <p:nvPr/>
        </p:nvSpPr>
        <p:spPr>
          <a:xfrm>
            <a:off x="4663440" y="1993392"/>
            <a:ext cx="4160520" cy="768096"/>
          </a:xfrm>
          <a:prstGeom prst="rect">
            <a:avLst/>
          </a:prstGeom>
          <a:solidFill>
            <a:srgbClr val="F8F9FB"/>
          </a:solidFill>
          <a:ln/>
          <a:effectLst>
            <a:outerShdw blurRad="101600" dist="25400" dir="8100000" algn="bl" rotWithShape="0">
              <a:srgbClr val="000000">
                <a:alpha val="10000"/>
              </a:srgbClr>
            </a:outerShdw>
          </a:effectLst>
        </p:spPr>
        <p:txBody>
          <a:bodyPr/>
          <a:lstStyle/>
          <a:p>
            <a:endParaRPr lang="en-US"/>
          </a:p>
        </p:txBody>
      </p:sp>
      <p:sp>
        <p:nvSpPr>
          <p:cNvPr id="14" name="Text 12"/>
          <p:cNvSpPr/>
          <p:nvPr/>
        </p:nvSpPr>
        <p:spPr>
          <a:xfrm>
            <a:off x="4800600" y="2048256"/>
            <a:ext cx="201168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EBITDA margin</a:t>
            </a:r>
            <a:endParaRPr lang="en-US" sz="1000" dirty="0"/>
          </a:p>
        </p:txBody>
      </p:sp>
      <p:sp>
        <p:nvSpPr>
          <p:cNvPr id="15" name="Text 13"/>
          <p:cNvSpPr/>
          <p:nvPr/>
        </p:nvSpPr>
        <p:spPr>
          <a:xfrm>
            <a:off x="4800600" y="2304288"/>
            <a:ext cx="3840480" cy="320040"/>
          </a:xfrm>
          <a:prstGeom prst="rect">
            <a:avLst/>
          </a:prstGeom>
          <a:noFill/>
          <a:ln/>
        </p:spPr>
        <p:txBody>
          <a:bodyPr wrap="square" lIns="0" tIns="0" rIns="0" bIns="0" rtlCol="0" anchor="ctr"/>
          <a:lstStyle/>
          <a:p>
            <a:pPr marL="0" indent="0">
              <a:buNone/>
            </a:pPr>
            <a:r>
              <a:rPr lang="en-US" b="1" dirty="0">
                <a:solidFill>
                  <a:srgbClr val="0D2240"/>
                </a:solidFill>
                <a:latin typeface="Calibri" pitchFamily="34" charset="0"/>
                <a:ea typeface="Calibri" pitchFamily="34" charset="-122"/>
                <a:cs typeface="Calibri" pitchFamily="34" charset="-120"/>
              </a:rPr>
              <a:t>20</a:t>
            </a:r>
            <a:r>
              <a:rPr lang="en-US" sz="1800" b="1" dirty="0">
                <a:solidFill>
                  <a:srgbClr val="0D2240"/>
                </a:solidFill>
                <a:latin typeface="Calibri" pitchFamily="34" charset="0"/>
                <a:ea typeface="Calibri" pitchFamily="34" charset="-122"/>
                <a:cs typeface="Calibri" pitchFamily="34" charset="-120"/>
              </a:rPr>
              <a:t>–35%</a:t>
            </a:r>
            <a:endParaRPr lang="en-US" sz="1800" dirty="0"/>
          </a:p>
        </p:txBody>
      </p:sp>
      <p:sp>
        <p:nvSpPr>
          <p:cNvPr id="16" name="Text 14"/>
          <p:cNvSpPr/>
          <p:nvPr/>
        </p:nvSpPr>
        <p:spPr>
          <a:xfrm>
            <a:off x="4800600" y="2523744"/>
            <a:ext cx="384048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Healthy SMB range</a:t>
            </a:r>
            <a:endParaRPr lang="en-US" sz="900" dirty="0"/>
          </a:p>
        </p:txBody>
      </p:sp>
      <p:sp>
        <p:nvSpPr>
          <p:cNvPr id="17" name="Shape 15"/>
          <p:cNvSpPr/>
          <p:nvPr/>
        </p:nvSpPr>
        <p:spPr>
          <a:xfrm>
            <a:off x="4663440" y="2871216"/>
            <a:ext cx="4160520" cy="768096"/>
          </a:xfrm>
          <a:prstGeom prst="rect">
            <a:avLst/>
          </a:prstGeom>
          <a:solidFill>
            <a:srgbClr val="F8F9FB"/>
          </a:solidFill>
          <a:ln/>
          <a:effectLst>
            <a:outerShdw blurRad="101600" dist="25400" dir="8100000" algn="bl" rotWithShape="0">
              <a:srgbClr val="000000">
                <a:alpha val="10000"/>
              </a:srgbClr>
            </a:outerShdw>
          </a:effectLst>
        </p:spPr>
        <p:txBody>
          <a:bodyPr/>
          <a:lstStyle/>
          <a:p>
            <a:endParaRPr lang="en-US"/>
          </a:p>
        </p:txBody>
      </p:sp>
      <p:sp>
        <p:nvSpPr>
          <p:cNvPr id="18" name="Text 16"/>
          <p:cNvSpPr/>
          <p:nvPr/>
        </p:nvSpPr>
        <p:spPr>
          <a:xfrm>
            <a:off x="4800600" y="2926080"/>
            <a:ext cx="201168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Days Sales Outstanding</a:t>
            </a:r>
            <a:endParaRPr lang="en-US" sz="1000" dirty="0"/>
          </a:p>
        </p:txBody>
      </p:sp>
      <p:sp>
        <p:nvSpPr>
          <p:cNvPr id="19" name="Text 17"/>
          <p:cNvSpPr/>
          <p:nvPr/>
        </p:nvSpPr>
        <p:spPr>
          <a:xfrm>
            <a:off x="4800600" y="3182112"/>
            <a:ext cx="3840480" cy="320040"/>
          </a:xfrm>
          <a:prstGeom prst="rect">
            <a:avLst/>
          </a:prstGeom>
          <a:noFill/>
          <a:ln/>
        </p:spPr>
        <p:txBody>
          <a:bodyPr wrap="square" lIns="0" tIns="0" rIns="0" bIns="0" rtlCol="0" anchor="ctr"/>
          <a:lstStyle/>
          <a:p>
            <a:pPr marL="0" indent="0">
              <a:buNone/>
            </a:pPr>
            <a:r>
              <a:rPr lang="en-US" sz="1800" b="1" dirty="0">
                <a:solidFill>
                  <a:srgbClr val="0D2240"/>
                </a:solidFill>
                <a:latin typeface="Calibri" pitchFamily="34" charset="0"/>
                <a:ea typeface="Calibri" pitchFamily="34" charset="-122"/>
                <a:cs typeface="Calibri" pitchFamily="34" charset="-120"/>
              </a:rPr>
              <a:t>30–60 days</a:t>
            </a:r>
            <a:endParaRPr lang="en-US" sz="1800" dirty="0"/>
          </a:p>
        </p:txBody>
      </p:sp>
      <p:sp>
        <p:nvSpPr>
          <p:cNvPr id="20" name="Text 18"/>
          <p:cNvSpPr/>
          <p:nvPr/>
        </p:nvSpPr>
        <p:spPr>
          <a:xfrm>
            <a:off x="4800600" y="3401568"/>
            <a:ext cx="384048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Avg time to collect</a:t>
            </a:r>
            <a:endParaRPr lang="en-US" sz="900" dirty="0"/>
          </a:p>
        </p:txBody>
      </p:sp>
      <p:sp>
        <p:nvSpPr>
          <p:cNvPr id="21" name="Shape 19"/>
          <p:cNvSpPr/>
          <p:nvPr/>
        </p:nvSpPr>
        <p:spPr>
          <a:xfrm>
            <a:off x="4663440" y="3749040"/>
            <a:ext cx="4160520" cy="768096"/>
          </a:xfrm>
          <a:prstGeom prst="rect">
            <a:avLst/>
          </a:prstGeom>
          <a:solidFill>
            <a:srgbClr val="F8F9FB"/>
          </a:solidFill>
          <a:ln/>
          <a:effectLst>
            <a:outerShdw blurRad="101600" dist="25400" dir="8100000" algn="bl" rotWithShape="0">
              <a:srgbClr val="000000">
                <a:alpha val="10000"/>
              </a:srgbClr>
            </a:outerShdw>
          </a:effectLst>
        </p:spPr>
        <p:txBody>
          <a:bodyPr/>
          <a:lstStyle/>
          <a:p>
            <a:endParaRPr lang="en-US"/>
          </a:p>
        </p:txBody>
      </p:sp>
      <p:sp>
        <p:nvSpPr>
          <p:cNvPr id="22" name="Text 20"/>
          <p:cNvSpPr/>
          <p:nvPr/>
        </p:nvSpPr>
        <p:spPr>
          <a:xfrm>
            <a:off x="4800600" y="3803904"/>
            <a:ext cx="201168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Cash runway</a:t>
            </a:r>
            <a:endParaRPr lang="en-US" sz="1000" dirty="0"/>
          </a:p>
        </p:txBody>
      </p:sp>
      <p:sp>
        <p:nvSpPr>
          <p:cNvPr id="23" name="Text 21"/>
          <p:cNvSpPr/>
          <p:nvPr/>
        </p:nvSpPr>
        <p:spPr>
          <a:xfrm>
            <a:off x="4800600" y="4059936"/>
            <a:ext cx="3840480" cy="320040"/>
          </a:xfrm>
          <a:prstGeom prst="rect">
            <a:avLst/>
          </a:prstGeom>
          <a:noFill/>
          <a:ln/>
        </p:spPr>
        <p:txBody>
          <a:bodyPr wrap="square" lIns="0" tIns="0" rIns="0" bIns="0" rtlCol="0" anchor="ctr"/>
          <a:lstStyle/>
          <a:p>
            <a:pPr marL="0" indent="0">
              <a:buNone/>
            </a:pPr>
            <a:r>
              <a:rPr lang="en-US" sz="1800" b="1" dirty="0">
                <a:solidFill>
                  <a:srgbClr val="0D2240"/>
                </a:solidFill>
                <a:latin typeface="Calibri" pitchFamily="34" charset="0"/>
                <a:ea typeface="Calibri" pitchFamily="34" charset="-122"/>
                <a:cs typeface="Calibri" pitchFamily="34" charset="-120"/>
              </a:rPr>
              <a:t>6–18 months</a:t>
            </a:r>
            <a:endParaRPr lang="en-US" sz="1800" dirty="0"/>
          </a:p>
        </p:txBody>
      </p:sp>
      <p:sp>
        <p:nvSpPr>
          <p:cNvPr id="24" name="Text 22"/>
          <p:cNvSpPr/>
          <p:nvPr/>
        </p:nvSpPr>
        <p:spPr>
          <a:xfrm>
            <a:off x="4800600" y="4279392"/>
            <a:ext cx="384048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CFO watches closely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D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28090"/>
          </a:solidFill>
          <a:ln/>
        </p:spPr>
        <p:txBody>
          <a:bodyPr/>
          <a:lstStyle/>
          <a:p>
            <a:endParaRPr lang="en-US"/>
          </a:p>
        </p:txBody>
      </p:sp>
      <p:sp>
        <p:nvSpPr>
          <p:cNvPr id="4" name="Text 2"/>
          <p:cNvSpPr/>
          <p:nvPr/>
        </p:nvSpPr>
        <p:spPr>
          <a:xfrm>
            <a:off x="457200" y="1325880"/>
            <a:ext cx="82296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HR, Benefits &amp; Compensation</a:t>
            </a:r>
            <a:endParaRPr lang="en-US" sz="3400" dirty="0"/>
          </a:p>
        </p:txBody>
      </p:sp>
      <p:sp>
        <p:nvSpPr>
          <p:cNvPr id="5" name="Text 3"/>
          <p:cNvSpPr/>
          <p:nvPr/>
        </p:nvSpPr>
        <p:spPr>
          <a:xfrm>
            <a:off x="457200" y="2331720"/>
            <a:ext cx="7772400" cy="5029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People are the largest line item — and the hardest to get right</a:t>
            </a:r>
            <a:endParaRPr lang="en-US" sz="1600" dirty="0"/>
          </a:p>
        </p:txBody>
      </p:sp>
      <p:sp>
        <p:nvSpPr>
          <p:cNvPr id="6" name="Text 4"/>
          <p:cNvSpPr/>
          <p:nvPr/>
        </p:nvSpPr>
        <p:spPr>
          <a:xfrm>
            <a:off x="457200" y="2834640"/>
            <a:ext cx="8229600" cy="347472"/>
          </a:xfrm>
          <a:prstGeom prst="rect">
            <a:avLst/>
          </a:prstGeom>
          <a:noFill/>
          <a:ln/>
        </p:spPr>
        <p:txBody>
          <a:bodyPr wrap="square" lIns="0" tIns="0" rIns="0" bIns="0" rtlCol="0" anchor="ctr"/>
          <a:lstStyle/>
          <a:p>
            <a:pPr marL="0" indent="0">
              <a:buNone/>
            </a:pPr>
            <a:r>
              <a:rPr lang="en-US" sz="1400" b="1" dirty="0">
                <a:solidFill>
                  <a:srgbClr val="9FE1CB"/>
                </a:solidFill>
                <a:latin typeface="Calibri" pitchFamily="34" charset="0"/>
                <a:ea typeface="Calibri" pitchFamily="34" charset="-122"/>
                <a:cs typeface="Calibri" pitchFamily="34" charset="-120"/>
              </a:rPr>
              <a:t>True cost of a $100K employee:</a:t>
            </a:r>
            <a:endParaRPr lang="en-US" sz="1400" dirty="0"/>
          </a:p>
        </p:txBody>
      </p:sp>
      <p:sp>
        <p:nvSpPr>
          <p:cNvPr id="7" name="Shape 5"/>
          <p:cNvSpPr/>
          <p:nvPr/>
        </p:nvSpPr>
        <p:spPr>
          <a:xfrm>
            <a:off x="457200" y="3291840"/>
            <a:ext cx="8046720" cy="256032"/>
          </a:xfrm>
          <a:prstGeom prst="rect">
            <a:avLst/>
          </a:prstGeom>
          <a:solidFill>
            <a:srgbClr val="028090"/>
          </a:solidFill>
          <a:ln/>
        </p:spPr>
        <p:txBody>
          <a:bodyPr/>
          <a:lstStyle/>
          <a:p>
            <a:endParaRPr lang="en-US"/>
          </a:p>
        </p:txBody>
      </p:sp>
      <p:sp>
        <p:nvSpPr>
          <p:cNvPr id="8" name="Text 6"/>
          <p:cNvSpPr/>
          <p:nvPr/>
        </p:nvSpPr>
        <p:spPr>
          <a:xfrm>
            <a:off x="594360" y="3291840"/>
            <a:ext cx="5029200"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Base salary</a:t>
            </a:r>
            <a:endParaRPr lang="en-US" sz="1000" dirty="0"/>
          </a:p>
        </p:txBody>
      </p:sp>
      <p:sp>
        <p:nvSpPr>
          <p:cNvPr id="9" name="Text 7"/>
          <p:cNvSpPr/>
          <p:nvPr/>
        </p:nvSpPr>
        <p:spPr>
          <a:xfrm>
            <a:off x="5715000" y="3291840"/>
            <a:ext cx="1097280" cy="256032"/>
          </a:xfrm>
          <a:prstGeom prst="rect">
            <a:avLst/>
          </a:prstGeom>
          <a:noFill/>
          <a:ln/>
        </p:spPr>
        <p:txBody>
          <a:bodyPr wrap="square" lIns="0" tIns="0" rIns="0" bIns="0" rtlCol="0" anchor="ctr"/>
          <a:lstStyle/>
          <a:p>
            <a:pPr marL="0" indent="0" algn="ctr">
              <a:buNone/>
            </a:pPr>
            <a:r>
              <a:rPr lang="en-US" sz="1000" b="1" dirty="0">
                <a:solidFill>
                  <a:srgbClr val="B5D4F4"/>
                </a:solidFill>
                <a:latin typeface="Calibri" pitchFamily="34" charset="0"/>
                <a:ea typeface="Calibri" pitchFamily="34" charset="-122"/>
                <a:cs typeface="Calibri" pitchFamily="34" charset="-120"/>
              </a:rPr>
              <a:t>100%</a:t>
            </a:r>
            <a:endParaRPr lang="en-US" sz="1000" dirty="0"/>
          </a:p>
        </p:txBody>
      </p:sp>
      <p:sp>
        <p:nvSpPr>
          <p:cNvPr id="10" name="Text 8"/>
          <p:cNvSpPr/>
          <p:nvPr/>
        </p:nvSpPr>
        <p:spPr>
          <a:xfrm>
            <a:off x="6903720" y="3291840"/>
            <a:ext cx="1463040" cy="256032"/>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$100,000</a:t>
            </a:r>
            <a:endParaRPr lang="en-US" sz="1000" dirty="0"/>
          </a:p>
        </p:txBody>
      </p:sp>
      <p:sp>
        <p:nvSpPr>
          <p:cNvPr id="11" name="Shape 9"/>
          <p:cNvSpPr/>
          <p:nvPr/>
        </p:nvSpPr>
        <p:spPr>
          <a:xfrm>
            <a:off x="457200" y="3593592"/>
            <a:ext cx="8046720" cy="256032"/>
          </a:xfrm>
          <a:prstGeom prst="rect">
            <a:avLst/>
          </a:prstGeom>
          <a:solidFill>
            <a:srgbClr val="1A3A5C"/>
          </a:solidFill>
          <a:ln/>
        </p:spPr>
        <p:txBody>
          <a:bodyPr/>
          <a:lstStyle/>
          <a:p>
            <a:endParaRPr lang="en-US"/>
          </a:p>
        </p:txBody>
      </p:sp>
      <p:sp>
        <p:nvSpPr>
          <p:cNvPr id="12" name="Text 10"/>
          <p:cNvSpPr/>
          <p:nvPr/>
        </p:nvSpPr>
        <p:spPr>
          <a:xfrm>
            <a:off x="594360" y="3593592"/>
            <a:ext cx="5029200"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Payroll taxes (FICA, FUTA, SUI)</a:t>
            </a:r>
            <a:endParaRPr lang="en-US" sz="1000" dirty="0"/>
          </a:p>
        </p:txBody>
      </p:sp>
      <p:sp>
        <p:nvSpPr>
          <p:cNvPr id="13" name="Text 11"/>
          <p:cNvSpPr/>
          <p:nvPr/>
        </p:nvSpPr>
        <p:spPr>
          <a:xfrm>
            <a:off x="5715000" y="3593592"/>
            <a:ext cx="1097280" cy="256032"/>
          </a:xfrm>
          <a:prstGeom prst="rect">
            <a:avLst/>
          </a:prstGeom>
          <a:noFill/>
          <a:ln/>
        </p:spPr>
        <p:txBody>
          <a:bodyPr wrap="square" lIns="0" tIns="0" rIns="0" bIns="0" rtlCol="0" anchor="ctr"/>
          <a:lstStyle/>
          <a:p>
            <a:pPr marL="0" indent="0" algn="ctr">
              <a:buNone/>
            </a:pPr>
            <a:r>
              <a:rPr lang="en-US" sz="1000" b="1" dirty="0">
                <a:solidFill>
                  <a:srgbClr val="B5D4F4"/>
                </a:solidFill>
                <a:latin typeface="Calibri" pitchFamily="34" charset="0"/>
                <a:ea typeface="Calibri" pitchFamily="34" charset="-122"/>
                <a:cs typeface="Calibri" pitchFamily="34" charset="-120"/>
              </a:rPr>
              <a:t>+8%</a:t>
            </a:r>
            <a:endParaRPr lang="en-US" sz="1000" dirty="0"/>
          </a:p>
        </p:txBody>
      </p:sp>
      <p:sp>
        <p:nvSpPr>
          <p:cNvPr id="14" name="Text 12"/>
          <p:cNvSpPr/>
          <p:nvPr/>
        </p:nvSpPr>
        <p:spPr>
          <a:xfrm>
            <a:off x="6903720" y="3593592"/>
            <a:ext cx="1463040" cy="256032"/>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$8,000</a:t>
            </a:r>
            <a:endParaRPr lang="en-US" sz="1000" dirty="0"/>
          </a:p>
        </p:txBody>
      </p:sp>
      <p:sp>
        <p:nvSpPr>
          <p:cNvPr id="15" name="Shape 13"/>
          <p:cNvSpPr/>
          <p:nvPr/>
        </p:nvSpPr>
        <p:spPr>
          <a:xfrm>
            <a:off x="457200" y="3895344"/>
            <a:ext cx="8046720" cy="256032"/>
          </a:xfrm>
          <a:prstGeom prst="rect">
            <a:avLst/>
          </a:prstGeom>
          <a:solidFill>
            <a:srgbClr val="1A3A5C"/>
          </a:solidFill>
          <a:ln/>
        </p:spPr>
        <p:txBody>
          <a:bodyPr/>
          <a:lstStyle/>
          <a:p>
            <a:endParaRPr lang="en-US"/>
          </a:p>
        </p:txBody>
      </p:sp>
      <p:sp>
        <p:nvSpPr>
          <p:cNvPr id="16" name="Text 14"/>
          <p:cNvSpPr/>
          <p:nvPr/>
        </p:nvSpPr>
        <p:spPr>
          <a:xfrm>
            <a:off x="594360" y="3895344"/>
            <a:ext cx="5029200"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Health insurance (employer portion)</a:t>
            </a:r>
            <a:endParaRPr lang="en-US" sz="1000" dirty="0"/>
          </a:p>
        </p:txBody>
      </p:sp>
      <p:sp>
        <p:nvSpPr>
          <p:cNvPr id="17" name="Text 15"/>
          <p:cNvSpPr/>
          <p:nvPr/>
        </p:nvSpPr>
        <p:spPr>
          <a:xfrm>
            <a:off x="5715000" y="3895344"/>
            <a:ext cx="1097280" cy="256032"/>
          </a:xfrm>
          <a:prstGeom prst="rect">
            <a:avLst/>
          </a:prstGeom>
          <a:noFill/>
          <a:ln/>
        </p:spPr>
        <p:txBody>
          <a:bodyPr wrap="square" lIns="0" tIns="0" rIns="0" bIns="0" rtlCol="0" anchor="ctr"/>
          <a:lstStyle/>
          <a:p>
            <a:pPr marL="0" indent="0" algn="ctr">
              <a:buNone/>
            </a:pPr>
            <a:r>
              <a:rPr lang="en-US" sz="1000" b="1" dirty="0">
                <a:solidFill>
                  <a:srgbClr val="B5D4F4"/>
                </a:solidFill>
                <a:latin typeface="Calibri" pitchFamily="34" charset="0"/>
                <a:ea typeface="Calibri" pitchFamily="34" charset="-122"/>
                <a:cs typeface="Calibri" pitchFamily="34" charset="-120"/>
              </a:rPr>
              <a:t>+9%</a:t>
            </a:r>
            <a:endParaRPr lang="en-US" sz="1000" dirty="0"/>
          </a:p>
        </p:txBody>
      </p:sp>
      <p:sp>
        <p:nvSpPr>
          <p:cNvPr id="18" name="Text 16"/>
          <p:cNvSpPr/>
          <p:nvPr/>
        </p:nvSpPr>
        <p:spPr>
          <a:xfrm>
            <a:off x="6903720" y="3895344"/>
            <a:ext cx="1463040" cy="256032"/>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$9,000</a:t>
            </a:r>
            <a:endParaRPr lang="en-US" sz="1000" dirty="0"/>
          </a:p>
        </p:txBody>
      </p:sp>
      <p:sp>
        <p:nvSpPr>
          <p:cNvPr id="19" name="Shape 17"/>
          <p:cNvSpPr/>
          <p:nvPr/>
        </p:nvSpPr>
        <p:spPr>
          <a:xfrm>
            <a:off x="457200" y="4197096"/>
            <a:ext cx="8046720" cy="256032"/>
          </a:xfrm>
          <a:prstGeom prst="rect">
            <a:avLst/>
          </a:prstGeom>
          <a:solidFill>
            <a:srgbClr val="1A3A5C"/>
          </a:solidFill>
          <a:ln/>
        </p:spPr>
        <p:txBody>
          <a:bodyPr/>
          <a:lstStyle/>
          <a:p>
            <a:endParaRPr lang="en-US"/>
          </a:p>
        </p:txBody>
      </p:sp>
      <p:sp>
        <p:nvSpPr>
          <p:cNvPr id="20" name="Text 18"/>
          <p:cNvSpPr/>
          <p:nvPr/>
        </p:nvSpPr>
        <p:spPr>
          <a:xfrm>
            <a:off x="594360" y="4197096"/>
            <a:ext cx="5029200"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401(k) match</a:t>
            </a:r>
            <a:endParaRPr lang="en-US" sz="1000" dirty="0"/>
          </a:p>
        </p:txBody>
      </p:sp>
      <p:sp>
        <p:nvSpPr>
          <p:cNvPr id="21" name="Text 19"/>
          <p:cNvSpPr/>
          <p:nvPr/>
        </p:nvSpPr>
        <p:spPr>
          <a:xfrm>
            <a:off x="5715000" y="4197096"/>
            <a:ext cx="1097280" cy="256032"/>
          </a:xfrm>
          <a:prstGeom prst="rect">
            <a:avLst/>
          </a:prstGeom>
          <a:noFill/>
          <a:ln/>
        </p:spPr>
        <p:txBody>
          <a:bodyPr wrap="square" lIns="0" tIns="0" rIns="0" bIns="0" rtlCol="0" anchor="ctr"/>
          <a:lstStyle/>
          <a:p>
            <a:pPr marL="0" indent="0" algn="ctr">
              <a:buNone/>
            </a:pPr>
            <a:r>
              <a:rPr lang="en-US" sz="1000" b="1" dirty="0">
                <a:solidFill>
                  <a:srgbClr val="B5D4F4"/>
                </a:solidFill>
                <a:latin typeface="Calibri" pitchFamily="34" charset="0"/>
                <a:ea typeface="Calibri" pitchFamily="34" charset="-122"/>
                <a:cs typeface="Calibri" pitchFamily="34" charset="-120"/>
              </a:rPr>
              <a:t>+4%</a:t>
            </a:r>
            <a:endParaRPr lang="en-US" sz="1000" dirty="0"/>
          </a:p>
        </p:txBody>
      </p:sp>
      <p:sp>
        <p:nvSpPr>
          <p:cNvPr id="22" name="Text 20"/>
          <p:cNvSpPr/>
          <p:nvPr/>
        </p:nvSpPr>
        <p:spPr>
          <a:xfrm>
            <a:off x="6903720" y="4197096"/>
            <a:ext cx="1463040" cy="256032"/>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$4,000</a:t>
            </a:r>
            <a:endParaRPr lang="en-US" sz="1000" dirty="0"/>
          </a:p>
        </p:txBody>
      </p:sp>
      <p:sp>
        <p:nvSpPr>
          <p:cNvPr id="23" name="Shape 21"/>
          <p:cNvSpPr/>
          <p:nvPr/>
        </p:nvSpPr>
        <p:spPr>
          <a:xfrm>
            <a:off x="457200" y="4498848"/>
            <a:ext cx="8046720" cy="256032"/>
          </a:xfrm>
          <a:prstGeom prst="rect">
            <a:avLst/>
          </a:prstGeom>
          <a:solidFill>
            <a:srgbClr val="1A3A5C"/>
          </a:solidFill>
          <a:ln/>
        </p:spPr>
        <p:txBody>
          <a:bodyPr/>
          <a:lstStyle/>
          <a:p>
            <a:endParaRPr lang="en-US"/>
          </a:p>
        </p:txBody>
      </p:sp>
      <p:sp>
        <p:nvSpPr>
          <p:cNvPr id="24" name="Text 22"/>
          <p:cNvSpPr/>
          <p:nvPr/>
        </p:nvSpPr>
        <p:spPr>
          <a:xfrm>
            <a:off x="594360" y="4498848"/>
            <a:ext cx="5029200"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Other benefits (dental, vision, PTO)</a:t>
            </a:r>
            <a:endParaRPr lang="en-US" sz="1000" dirty="0"/>
          </a:p>
        </p:txBody>
      </p:sp>
      <p:sp>
        <p:nvSpPr>
          <p:cNvPr id="25" name="Text 23"/>
          <p:cNvSpPr/>
          <p:nvPr/>
        </p:nvSpPr>
        <p:spPr>
          <a:xfrm>
            <a:off x="5715000" y="4498848"/>
            <a:ext cx="1097280" cy="256032"/>
          </a:xfrm>
          <a:prstGeom prst="rect">
            <a:avLst/>
          </a:prstGeom>
          <a:noFill/>
          <a:ln/>
        </p:spPr>
        <p:txBody>
          <a:bodyPr wrap="square" lIns="0" tIns="0" rIns="0" bIns="0" rtlCol="0" anchor="ctr"/>
          <a:lstStyle/>
          <a:p>
            <a:pPr marL="0" indent="0" algn="ctr">
              <a:buNone/>
            </a:pPr>
            <a:r>
              <a:rPr lang="en-US" sz="1000" b="1" dirty="0">
                <a:solidFill>
                  <a:srgbClr val="B5D4F4"/>
                </a:solidFill>
                <a:latin typeface="Calibri" pitchFamily="34" charset="0"/>
                <a:ea typeface="Calibri" pitchFamily="34" charset="-122"/>
                <a:cs typeface="Calibri" pitchFamily="34" charset="-120"/>
              </a:rPr>
              <a:t>+5%</a:t>
            </a:r>
            <a:endParaRPr lang="en-US" sz="1000" dirty="0"/>
          </a:p>
        </p:txBody>
      </p:sp>
      <p:sp>
        <p:nvSpPr>
          <p:cNvPr id="26" name="Text 24"/>
          <p:cNvSpPr/>
          <p:nvPr/>
        </p:nvSpPr>
        <p:spPr>
          <a:xfrm>
            <a:off x="6903720" y="4498848"/>
            <a:ext cx="1463040" cy="256032"/>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$5,000</a:t>
            </a:r>
            <a:endParaRPr lang="en-US" sz="1000" dirty="0"/>
          </a:p>
        </p:txBody>
      </p:sp>
      <p:sp>
        <p:nvSpPr>
          <p:cNvPr id="27" name="Shape 25"/>
          <p:cNvSpPr/>
          <p:nvPr/>
        </p:nvSpPr>
        <p:spPr>
          <a:xfrm>
            <a:off x="457200" y="4800600"/>
            <a:ext cx="8046720" cy="256032"/>
          </a:xfrm>
          <a:prstGeom prst="rect">
            <a:avLst/>
          </a:prstGeom>
          <a:solidFill>
            <a:srgbClr val="D97706"/>
          </a:solidFill>
          <a:ln/>
        </p:spPr>
        <p:txBody>
          <a:bodyPr/>
          <a:lstStyle/>
          <a:p>
            <a:endParaRPr lang="en-US"/>
          </a:p>
        </p:txBody>
      </p:sp>
      <p:sp>
        <p:nvSpPr>
          <p:cNvPr id="28" name="Text 26"/>
          <p:cNvSpPr/>
          <p:nvPr/>
        </p:nvSpPr>
        <p:spPr>
          <a:xfrm>
            <a:off x="594360" y="4800600"/>
            <a:ext cx="5029200" cy="256032"/>
          </a:xfrm>
          <a:prstGeom prst="rect">
            <a:avLst/>
          </a:prstGeom>
          <a:noFill/>
          <a:ln/>
        </p:spPr>
        <p:txBody>
          <a:bodyPr wrap="square" lIns="0" tIns="0" rIns="0" bIns="0" rtlCol="0" anchor="ctr"/>
          <a:lstStyle/>
          <a:p>
            <a:pPr marL="0" indent="0">
              <a:buNone/>
            </a:pPr>
            <a:r>
              <a:rPr lang="en-US" sz="1000" dirty="0">
                <a:solidFill>
                  <a:srgbClr val="FAEEDA"/>
                </a:solidFill>
                <a:latin typeface="Calibri" pitchFamily="34" charset="0"/>
                <a:ea typeface="Calibri" pitchFamily="34" charset="-122"/>
                <a:cs typeface="Calibri" pitchFamily="34" charset="-120"/>
              </a:rPr>
              <a:t>Total fully-loaded cost</a:t>
            </a:r>
            <a:endParaRPr lang="en-US" sz="1000" dirty="0"/>
          </a:p>
        </p:txBody>
      </p:sp>
      <p:sp>
        <p:nvSpPr>
          <p:cNvPr id="29" name="Text 27"/>
          <p:cNvSpPr/>
          <p:nvPr/>
        </p:nvSpPr>
        <p:spPr>
          <a:xfrm>
            <a:off x="5715000" y="4800600"/>
            <a:ext cx="1097280" cy="256032"/>
          </a:xfrm>
          <a:prstGeom prst="rect">
            <a:avLst/>
          </a:prstGeom>
          <a:noFill/>
          <a:ln/>
        </p:spPr>
        <p:txBody>
          <a:bodyPr wrap="square" lIns="0" tIns="0" rIns="0" bIns="0" rtlCol="0" anchor="ctr"/>
          <a:lstStyle/>
          <a:p>
            <a:pPr marL="0" indent="0" algn="ctr">
              <a:buNone/>
            </a:pPr>
            <a:r>
              <a:rPr lang="en-US" sz="1000" b="1" dirty="0">
                <a:solidFill>
                  <a:srgbClr val="FAEEDA"/>
                </a:solidFill>
                <a:latin typeface="Calibri" pitchFamily="34" charset="0"/>
                <a:ea typeface="Calibri" pitchFamily="34" charset="-122"/>
                <a:cs typeface="Calibri" pitchFamily="34" charset="-120"/>
              </a:rPr>
              <a:t>~126%</a:t>
            </a:r>
            <a:endParaRPr lang="en-US" sz="1000" dirty="0"/>
          </a:p>
        </p:txBody>
      </p:sp>
      <p:sp>
        <p:nvSpPr>
          <p:cNvPr id="30" name="Text 28"/>
          <p:cNvSpPr/>
          <p:nvPr/>
        </p:nvSpPr>
        <p:spPr>
          <a:xfrm>
            <a:off x="6903720" y="4800600"/>
            <a:ext cx="1463040" cy="256032"/>
          </a:xfrm>
          <a:prstGeom prst="rect">
            <a:avLst/>
          </a:prstGeom>
          <a:noFill/>
          <a:ln/>
        </p:spPr>
        <p:txBody>
          <a:bodyPr wrap="square" lIns="0" tIns="0" rIns="0" bIns="0" rtlCol="0" anchor="ctr"/>
          <a:lstStyle/>
          <a:p>
            <a:pPr marL="0" indent="0" algn="r">
              <a:buNone/>
            </a:pPr>
            <a:r>
              <a:rPr lang="en-US" sz="1000" dirty="0">
                <a:solidFill>
                  <a:srgbClr val="FAEEDA"/>
                </a:solidFill>
                <a:latin typeface="Calibri" pitchFamily="34" charset="0"/>
                <a:ea typeface="Calibri" pitchFamily="34" charset="-122"/>
                <a:cs typeface="Calibri" pitchFamily="34" charset="-120"/>
              </a:rPr>
              <a:t>~$126,000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8090"/>
          </a:solidFill>
          <a:ln/>
        </p:spPr>
        <p:txBody>
          <a:bodyPr/>
          <a:lstStyle/>
          <a:p>
            <a:endParaRPr lang="en-US"/>
          </a:p>
        </p:txBody>
      </p:sp>
      <p:sp>
        <p:nvSpPr>
          <p:cNvPr id="3" name="Text 1"/>
          <p:cNvSpPr/>
          <p:nvPr/>
        </p:nvSpPr>
        <p:spPr>
          <a:xfrm>
            <a:off x="365760" y="54864"/>
            <a:ext cx="68580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Compensation Strategy &amp; HR Compliance</a:t>
            </a:r>
            <a:endParaRPr lang="en-US" sz="1800" dirty="0"/>
          </a:p>
        </p:txBody>
      </p:sp>
      <p:sp>
        <p:nvSpPr>
          <p:cNvPr id="4" name="Text 2"/>
          <p:cNvSpPr/>
          <p:nvPr/>
        </p:nvSpPr>
        <p:spPr>
          <a:xfrm>
            <a:off x="365760" y="658368"/>
            <a:ext cx="8412480" cy="34747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How pay is set, and what the CFO must get right legally</a:t>
            </a:r>
            <a:endParaRPr lang="en-US" sz="1200" dirty="0"/>
          </a:p>
        </p:txBody>
      </p:sp>
      <p:sp>
        <p:nvSpPr>
          <p:cNvPr id="5" name="Shape 3"/>
          <p:cNvSpPr/>
          <p:nvPr/>
        </p:nvSpPr>
        <p:spPr>
          <a:xfrm>
            <a:off x="320040" y="1115568"/>
            <a:ext cx="4160520" cy="219456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6" name="Shape 4"/>
          <p:cNvSpPr/>
          <p:nvPr/>
        </p:nvSpPr>
        <p:spPr>
          <a:xfrm>
            <a:off x="320040" y="1115568"/>
            <a:ext cx="64008" cy="2194560"/>
          </a:xfrm>
          <a:prstGeom prst="rect">
            <a:avLst/>
          </a:prstGeom>
          <a:solidFill>
            <a:srgbClr val="028090"/>
          </a:solidFill>
          <a:ln/>
        </p:spPr>
        <p:txBody>
          <a:bodyPr/>
          <a:lstStyle/>
          <a:p>
            <a:endParaRPr lang="en-US"/>
          </a:p>
        </p:txBody>
      </p:sp>
      <p:sp>
        <p:nvSpPr>
          <p:cNvPr id="7" name="Text 5"/>
          <p:cNvSpPr/>
          <p:nvPr/>
        </p:nvSpPr>
        <p:spPr>
          <a:xfrm>
            <a:off x="448056" y="1207008"/>
            <a:ext cx="3977640" cy="292608"/>
          </a:xfrm>
          <a:prstGeom prst="rect">
            <a:avLst/>
          </a:prstGeom>
          <a:noFill/>
          <a:ln/>
        </p:spPr>
        <p:txBody>
          <a:bodyPr wrap="square" lIns="0" tIns="0" rIns="0" bIns="0" rtlCol="0" anchor="ctr"/>
          <a:lstStyle/>
          <a:p>
            <a:pPr marL="0" indent="0">
              <a:buNone/>
            </a:pPr>
            <a:r>
              <a:rPr lang="en-US" sz="1100" b="1" dirty="0">
                <a:solidFill>
                  <a:srgbClr val="0D2240"/>
                </a:solidFill>
                <a:latin typeface="Calibri" pitchFamily="34" charset="0"/>
                <a:ea typeface="Calibri" pitchFamily="34" charset="-122"/>
                <a:cs typeface="Calibri" pitchFamily="34" charset="-120"/>
              </a:rPr>
              <a:t>Compensation levers</a:t>
            </a:r>
            <a:endParaRPr lang="en-US" sz="1100" dirty="0"/>
          </a:p>
        </p:txBody>
      </p:sp>
      <p:sp>
        <p:nvSpPr>
          <p:cNvPr id="8" name="Text 6"/>
          <p:cNvSpPr/>
          <p:nvPr/>
        </p:nvSpPr>
        <p:spPr>
          <a:xfrm>
            <a:off x="448056" y="1517904"/>
            <a:ext cx="3959352" cy="1691640"/>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Base salary: benchmarked against market data (Levels.fyi, Radford)</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Variable pay: commissions align sales reps with revenue goals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Bonuses: tied to individual or company performance targets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Equity (options/RSUs): non-cash today but real dilution later</a:t>
            </a:r>
            <a:endParaRPr lang="en-US" sz="1000" dirty="0"/>
          </a:p>
        </p:txBody>
      </p:sp>
      <p:sp>
        <p:nvSpPr>
          <p:cNvPr id="9" name="Shape 7"/>
          <p:cNvSpPr/>
          <p:nvPr/>
        </p:nvSpPr>
        <p:spPr>
          <a:xfrm>
            <a:off x="4663440" y="1115568"/>
            <a:ext cx="4160520" cy="219456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0" name="Shape 8"/>
          <p:cNvSpPr/>
          <p:nvPr/>
        </p:nvSpPr>
        <p:spPr>
          <a:xfrm>
            <a:off x="4663440" y="1115568"/>
            <a:ext cx="64008" cy="2194560"/>
          </a:xfrm>
          <a:prstGeom prst="rect">
            <a:avLst/>
          </a:prstGeom>
          <a:solidFill>
            <a:srgbClr val="028090"/>
          </a:solidFill>
          <a:ln/>
        </p:spPr>
        <p:txBody>
          <a:bodyPr/>
          <a:lstStyle/>
          <a:p>
            <a:endParaRPr lang="en-US"/>
          </a:p>
        </p:txBody>
      </p:sp>
      <p:sp>
        <p:nvSpPr>
          <p:cNvPr id="11" name="Text 9"/>
          <p:cNvSpPr/>
          <p:nvPr/>
        </p:nvSpPr>
        <p:spPr>
          <a:xfrm>
            <a:off x="4791456" y="1207008"/>
            <a:ext cx="3977640" cy="292608"/>
          </a:xfrm>
          <a:prstGeom prst="rect">
            <a:avLst/>
          </a:prstGeom>
          <a:noFill/>
          <a:ln/>
        </p:spPr>
        <p:txBody>
          <a:bodyPr wrap="square" lIns="0" tIns="0" rIns="0" bIns="0" rtlCol="0" anchor="ctr"/>
          <a:lstStyle/>
          <a:p>
            <a:pPr marL="0" indent="0">
              <a:buNone/>
            </a:pPr>
            <a:r>
              <a:rPr lang="en-US" sz="1100" b="1" dirty="0">
                <a:solidFill>
                  <a:srgbClr val="0D2240"/>
                </a:solidFill>
                <a:latin typeface="Calibri" pitchFamily="34" charset="0"/>
                <a:ea typeface="Calibri" pitchFamily="34" charset="-122"/>
                <a:cs typeface="Calibri" pitchFamily="34" charset="-120"/>
              </a:rPr>
              <a:t>HR compliance the CFO owns</a:t>
            </a:r>
            <a:endParaRPr lang="en-US" sz="1100" dirty="0"/>
          </a:p>
        </p:txBody>
      </p:sp>
      <p:sp>
        <p:nvSpPr>
          <p:cNvPr id="12" name="Text 10"/>
          <p:cNvSpPr/>
          <p:nvPr/>
        </p:nvSpPr>
        <p:spPr>
          <a:xfrm>
            <a:off x="4791456" y="1517904"/>
            <a:ext cx="3959352" cy="1691640"/>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Payroll tax filings — federal, state, and local</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Worker classification: employee vs. contractor (misclassification = penalties)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FLSA: overtime rules, exempt vs. non-exempt</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I-9 / E-Verify; EEO-1 reporting if 100+ employees</a:t>
            </a:r>
            <a:endParaRPr lang="en-US" sz="1000" dirty="0"/>
          </a:p>
        </p:txBody>
      </p:sp>
      <p:sp>
        <p:nvSpPr>
          <p:cNvPr id="13" name="Shape 11"/>
          <p:cNvSpPr/>
          <p:nvPr/>
        </p:nvSpPr>
        <p:spPr>
          <a:xfrm>
            <a:off x="320040" y="3520440"/>
            <a:ext cx="8503920" cy="1417320"/>
          </a:xfrm>
          <a:prstGeom prst="rect">
            <a:avLst/>
          </a:prstGeom>
          <a:solidFill>
            <a:srgbClr val="FAEEDA"/>
          </a:solidFill>
          <a:ln/>
        </p:spPr>
        <p:txBody>
          <a:bodyPr/>
          <a:lstStyle/>
          <a:p>
            <a:endParaRPr lang="en-US"/>
          </a:p>
        </p:txBody>
      </p:sp>
      <p:sp>
        <p:nvSpPr>
          <p:cNvPr id="14" name="Shape 12"/>
          <p:cNvSpPr/>
          <p:nvPr/>
        </p:nvSpPr>
        <p:spPr>
          <a:xfrm>
            <a:off x="320040" y="3520440"/>
            <a:ext cx="64008" cy="1417320"/>
          </a:xfrm>
          <a:prstGeom prst="rect">
            <a:avLst/>
          </a:prstGeom>
          <a:solidFill>
            <a:srgbClr val="D97706"/>
          </a:solidFill>
          <a:ln/>
        </p:spPr>
        <p:txBody>
          <a:bodyPr/>
          <a:lstStyle/>
          <a:p>
            <a:endParaRPr lang="en-US"/>
          </a:p>
        </p:txBody>
      </p:sp>
      <p:sp>
        <p:nvSpPr>
          <p:cNvPr id="15" name="Text 13"/>
          <p:cNvSpPr/>
          <p:nvPr/>
        </p:nvSpPr>
        <p:spPr>
          <a:xfrm>
            <a:off x="502920" y="3584448"/>
            <a:ext cx="8229600" cy="292608"/>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Real decision: health insurance renewal</a:t>
            </a:r>
            <a:endParaRPr lang="en-US" sz="1200" dirty="0"/>
          </a:p>
        </p:txBody>
      </p:sp>
      <p:sp>
        <p:nvSpPr>
          <p:cNvPr id="16" name="Text 14"/>
          <p:cNvSpPr/>
          <p:nvPr/>
        </p:nvSpPr>
        <p:spPr>
          <a:xfrm>
            <a:off x="502920" y="3904488"/>
            <a:ext cx="8229600" cy="9144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Carrier proposes 12% rate increase. CFO models three options: (1) absorb the full increase — hits EBITDA ~$80K; (2) pass 50% to employees — affects retention; (3) switch carriers — saves $60K but disrupts employees mid-year. No perfect answer.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0D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A5C"/>
          </a:solidFill>
          <a:ln/>
        </p:spPr>
        <p:txBody>
          <a:bodyPr/>
          <a:lstStyle/>
          <a:p>
            <a:endParaRPr lang="en-US"/>
          </a:p>
        </p:txBody>
      </p:sp>
      <p:sp>
        <p:nvSpPr>
          <p:cNvPr id="4" name="Text 2"/>
          <p:cNvSpPr/>
          <p:nvPr/>
        </p:nvSpPr>
        <p:spPr>
          <a:xfrm>
            <a:off x="457200" y="888221"/>
            <a:ext cx="82296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Risk Management &amp; Insurance</a:t>
            </a:r>
            <a:endParaRPr lang="en-US" sz="3400" dirty="0"/>
          </a:p>
        </p:txBody>
      </p:sp>
      <p:sp>
        <p:nvSpPr>
          <p:cNvPr id="5" name="Text 3"/>
          <p:cNvSpPr/>
          <p:nvPr/>
        </p:nvSpPr>
        <p:spPr>
          <a:xfrm>
            <a:off x="457200" y="1581451"/>
            <a:ext cx="7772400" cy="5029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The CFO's job is not just to grow — it's to protect</a:t>
            </a:r>
            <a:endParaRPr lang="en-US" sz="1600" dirty="0"/>
          </a:p>
        </p:txBody>
      </p:sp>
      <p:sp>
        <p:nvSpPr>
          <p:cNvPr id="6" name="Shape 4"/>
          <p:cNvSpPr/>
          <p:nvPr/>
        </p:nvSpPr>
        <p:spPr>
          <a:xfrm>
            <a:off x="457200" y="2084371"/>
            <a:ext cx="4160520" cy="512064"/>
          </a:xfrm>
          <a:prstGeom prst="rect">
            <a:avLst/>
          </a:prstGeom>
          <a:solidFill>
            <a:srgbClr val="1A3A5C"/>
          </a:solidFill>
          <a:ln/>
        </p:spPr>
        <p:txBody>
          <a:bodyPr/>
          <a:lstStyle/>
          <a:p>
            <a:endParaRPr lang="en-US"/>
          </a:p>
        </p:txBody>
      </p:sp>
      <p:sp>
        <p:nvSpPr>
          <p:cNvPr id="7" name="Shape 5"/>
          <p:cNvSpPr/>
          <p:nvPr/>
        </p:nvSpPr>
        <p:spPr>
          <a:xfrm>
            <a:off x="457200" y="2084371"/>
            <a:ext cx="64008" cy="512064"/>
          </a:xfrm>
          <a:prstGeom prst="rect">
            <a:avLst/>
          </a:prstGeom>
          <a:solidFill>
            <a:srgbClr val="B5D4F4"/>
          </a:solidFill>
          <a:ln/>
        </p:spPr>
        <p:txBody>
          <a:bodyPr/>
          <a:lstStyle/>
          <a:p>
            <a:endParaRPr lang="en-US"/>
          </a:p>
        </p:txBody>
      </p:sp>
      <p:sp>
        <p:nvSpPr>
          <p:cNvPr id="8" name="Text 6"/>
          <p:cNvSpPr/>
          <p:nvPr/>
        </p:nvSpPr>
        <p:spPr>
          <a:xfrm>
            <a:off x="640080" y="2084371"/>
            <a:ext cx="1737360" cy="512064"/>
          </a:xfrm>
          <a:prstGeom prst="rect">
            <a:avLst/>
          </a:prstGeom>
          <a:noFill/>
          <a:ln/>
        </p:spPr>
        <p:txBody>
          <a:bodyPr wrap="square" lIns="0" tIns="0" rIns="0" bIns="0" rtlCol="0" anchor="ctr"/>
          <a:lstStyle/>
          <a:p>
            <a:pPr marL="0" indent="0">
              <a:buNone/>
            </a:pPr>
            <a:r>
              <a:rPr lang="en-US" sz="1000" b="1" dirty="0">
                <a:solidFill>
                  <a:srgbClr val="B5D4F4"/>
                </a:solidFill>
                <a:latin typeface="Calibri" pitchFamily="34" charset="0"/>
                <a:ea typeface="Calibri" pitchFamily="34" charset="-122"/>
                <a:cs typeface="Calibri" pitchFamily="34" charset="-120"/>
              </a:rPr>
              <a:t>General Liability</a:t>
            </a:r>
            <a:endParaRPr lang="en-US" sz="1000" dirty="0"/>
          </a:p>
        </p:txBody>
      </p:sp>
      <p:sp>
        <p:nvSpPr>
          <p:cNvPr id="9" name="Text 7"/>
          <p:cNvSpPr/>
          <p:nvPr/>
        </p:nvSpPr>
        <p:spPr>
          <a:xfrm>
            <a:off x="2450592" y="2084371"/>
            <a:ext cx="2084832" cy="51206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Third-party injury/property damage; often required in contracts</a:t>
            </a:r>
            <a:endParaRPr lang="en-US" sz="950" dirty="0"/>
          </a:p>
        </p:txBody>
      </p:sp>
      <p:sp>
        <p:nvSpPr>
          <p:cNvPr id="10" name="Shape 8"/>
          <p:cNvSpPr/>
          <p:nvPr/>
        </p:nvSpPr>
        <p:spPr>
          <a:xfrm>
            <a:off x="4846320" y="2084371"/>
            <a:ext cx="4160520" cy="512064"/>
          </a:xfrm>
          <a:prstGeom prst="rect">
            <a:avLst/>
          </a:prstGeom>
          <a:solidFill>
            <a:srgbClr val="1A3A5C"/>
          </a:solidFill>
          <a:ln/>
        </p:spPr>
        <p:txBody>
          <a:bodyPr/>
          <a:lstStyle/>
          <a:p>
            <a:endParaRPr lang="en-US"/>
          </a:p>
        </p:txBody>
      </p:sp>
      <p:sp>
        <p:nvSpPr>
          <p:cNvPr id="11" name="Shape 9"/>
          <p:cNvSpPr/>
          <p:nvPr/>
        </p:nvSpPr>
        <p:spPr>
          <a:xfrm>
            <a:off x="4846320" y="2084371"/>
            <a:ext cx="64008" cy="512064"/>
          </a:xfrm>
          <a:prstGeom prst="rect">
            <a:avLst/>
          </a:prstGeom>
          <a:solidFill>
            <a:srgbClr val="B5D4F4"/>
          </a:solidFill>
          <a:ln/>
        </p:spPr>
        <p:txBody>
          <a:bodyPr/>
          <a:lstStyle/>
          <a:p>
            <a:endParaRPr lang="en-US"/>
          </a:p>
        </p:txBody>
      </p:sp>
      <p:sp>
        <p:nvSpPr>
          <p:cNvPr id="12" name="Text 10"/>
          <p:cNvSpPr/>
          <p:nvPr/>
        </p:nvSpPr>
        <p:spPr>
          <a:xfrm>
            <a:off x="5029200" y="2084371"/>
            <a:ext cx="1737360" cy="512064"/>
          </a:xfrm>
          <a:prstGeom prst="rect">
            <a:avLst/>
          </a:prstGeom>
          <a:noFill/>
          <a:ln/>
        </p:spPr>
        <p:txBody>
          <a:bodyPr wrap="square" lIns="0" tIns="0" rIns="0" bIns="0" rtlCol="0" anchor="ctr"/>
          <a:lstStyle/>
          <a:p>
            <a:pPr marL="0" indent="0">
              <a:buNone/>
            </a:pPr>
            <a:r>
              <a:rPr lang="en-US" sz="1000" b="1" dirty="0">
                <a:solidFill>
                  <a:srgbClr val="B5D4F4"/>
                </a:solidFill>
                <a:latin typeface="Calibri" pitchFamily="34" charset="0"/>
                <a:ea typeface="Calibri" pitchFamily="34" charset="-122"/>
                <a:cs typeface="Calibri" pitchFamily="34" charset="-120"/>
              </a:rPr>
              <a:t>E&amp;O / Prof. Liability</a:t>
            </a:r>
            <a:endParaRPr lang="en-US" sz="1000" dirty="0"/>
          </a:p>
        </p:txBody>
      </p:sp>
      <p:sp>
        <p:nvSpPr>
          <p:cNvPr id="13" name="Text 11"/>
          <p:cNvSpPr/>
          <p:nvPr/>
        </p:nvSpPr>
        <p:spPr>
          <a:xfrm>
            <a:off x="6839712" y="2084371"/>
            <a:ext cx="2084832" cy="51206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Errors in your professional services — essential for tech/consulting</a:t>
            </a:r>
            <a:endParaRPr lang="en-US" sz="950" dirty="0"/>
          </a:p>
        </p:txBody>
      </p:sp>
      <p:sp>
        <p:nvSpPr>
          <p:cNvPr id="14" name="Shape 12"/>
          <p:cNvSpPr/>
          <p:nvPr/>
        </p:nvSpPr>
        <p:spPr>
          <a:xfrm>
            <a:off x="457200" y="2706163"/>
            <a:ext cx="4160520" cy="512064"/>
          </a:xfrm>
          <a:prstGeom prst="rect">
            <a:avLst/>
          </a:prstGeom>
          <a:solidFill>
            <a:srgbClr val="1A3A5C"/>
          </a:solidFill>
          <a:ln/>
        </p:spPr>
        <p:txBody>
          <a:bodyPr/>
          <a:lstStyle/>
          <a:p>
            <a:endParaRPr lang="en-US"/>
          </a:p>
        </p:txBody>
      </p:sp>
      <p:sp>
        <p:nvSpPr>
          <p:cNvPr id="15" name="Shape 13"/>
          <p:cNvSpPr/>
          <p:nvPr/>
        </p:nvSpPr>
        <p:spPr>
          <a:xfrm>
            <a:off x="457200" y="2706163"/>
            <a:ext cx="64008" cy="512064"/>
          </a:xfrm>
          <a:prstGeom prst="rect">
            <a:avLst/>
          </a:prstGeom>
          <a:solidFill>
            <a:srgbClr val="B5D4F4"/>
          </a:solidFill>
          <a:ln/>
        </p:spPr>
        <p:txBody>
          <a:bodyPr/>
          <a:lstStyle/>
          <a:p>
            <a:endParaRPr lang="en-US"/>
          </a:p>
        </p:txBody>
      </p:sp>
      <p:sp>
        <p:nvSpPr>
          <p:cNvPr id="16" name="Text 14"/>
          <p:cNvSpPr/>
          <p:nvPr/>
        </p:nvSpPr>
        <p:spPr>
          <a:xfrm>
            <a:off x="640080" y="2706163"/>
            <a:ext cx="1737360" cy="512064"/>
          </a:xfrm>
          <a:prstGeom prst="rect">
            <a:avLst/>
          </a:prstGeom>
          <a:noFill/>
          <a:ln/>
        </p:spPr>
        <p:txBody>
          <a:bodyPr wrap="square" lIns="0" tIns="0" rIns="0" bIns="0" rtlCol="0" anchor="ctr"/>
          <a:lstStyle/>
          <a:p>
            <a:pPr marL="0" indent="0">
              <a:buNone/>
            </a:pPr>
            <a:r>
              <a:rPr lang="en-US" sz="1000" b="1" dirty="0">
                <a:solidFill>
                  <a:srgbClr val="B5D4F4"/>
                </a:solidFill>
                <a:latin typeface="Calibri" pitchFamily="34" charset="0"/>
                <a:ea typeface="Calibri" pitchFamily="34" charset="-122"/>
                <a:cs typeface="Calibri" pitchFamily="34" charset="-120"/>
              </a:rPr>
              <a:t>D&amp;O</a:t>
            </a:r>
            <a:endParaRPr lang="en-US" sz="1000" dirty="0"/>
          </a:p>
        </p:txBody>
      </p:sp>
      <p:sp>
        <p:nvSpPr>
          <p:cNvPr id="17" name="Text 15"/>
          <p:cNvSpPr/>
          <p:nvPr/>
        </p:nvSpPr>
        <p:spPr>
          <a:xfrm>
            <a:off x="2450592" y="2706163"/>
            <a:ext cx="2084832" cy="51206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Protects executives personally; required by investors and board members</a:t>
            </a:r>
            <a:endParaRPr lang="en-US" sz="950" dirty="0"/>
          </a:p>
        </p:txBody>
      </p:sp>
      <p:sp>
        <p:nvSpPr>
          <p:cNvPr id="18" name="Shape 16"/>
          <p:cNvSpPr/>
          <p:nvPr/>
        </p:nvSpPr>
        <p:spPr>
          <a:xfrm>
            <a:off x="4846320" y="2706163"/>
            <a:ext cx="4160520" cy="512064"/>
          </a:xfrm>
          <a:prstGeom prst="rect">
            <a:avLst/>
          </a:prstGeom>
          <a:solidFill>
            <a:srgbClr val="1A3A5C"/>
          </a:solidFill>
          <a:ln/>
        </p:spPr>
        <p:txBody>
          <a:bodyPr/>
          <a:lstStyle/>
          <a:p>
            <a:endParaRPr lang="en-US"/>
          </a:p>
        </p:txBody>
      </p:sp>
      <p:sp>
        <p:nvSpPr>
          <p:cNvPr id="19" name="Shape 17"/>
          <p:cNvSpPr/>
          <p:nvPr/>
        </p:nvSpPr>
        <p:spPr>
          <a:xfrm>
            <a:off x="4846320" y="2706163"/>
            <a:ext cx="64008" cy="512064"/>
          </a:xfrm>
          <a:prstGeom prst="rect">
            <a:avLst/>
          </a:prstGeom>
          <a:solidFill>
            <a:srgbClr val="B5D4F4"/>
          </a:solidFill>
          <a:ln/>
        </p:spPr>
        <p:txBody>
          <a:bodyPr/>
          <a:lstStyle/>
          <a:p>
            <a:endParaRPr lang="en-US"/>
          </a:p>
        </p:txBody>
      </p:sp>
      <p:sp>
        <p:nvSpPr>
          <p:cNvPr id="20" name="Text 18"/>
          <p:cNvSpPr/>
          <p:nvPr/>
        </p:nvSpPr>
        <p:spPr>
          <a:xfrm>
            <a:off x="5029200" y="2706163"/>
            <a:ext cx="1737360" cy="512064"/>
          </a:xfrm>
          <a:prstGeom prst="rect">
            <a:avLst/>
          </a:prstGeom>
          <a:noFill/>
          <a:ln/>
        </p:spPr>
        <p:txBody>
          <a:bodyPr wrap="square" lIns="0" tIns="0" rIns="0" bIns="0" rtlCol="0" anchor="ctr"/>
          <a:lstStyle/>
          <a:p>
            <a:pPr marL="0" indent="0">
              <a:buNone/>
            </a:pPr>
            <a:r>
              <a:rPr lang="en-US" sz="1000" b="1" dirty="0">
                <a:solidFill>
                  <a:srgbClr val="B5D4F4"/>
                </a:solidFill>
                <a:latin typeface="Calibri" pitchFamily="34" charset="0"/>
                <a:ea typeface="Calibri" pitchFamily="34" charset="-122"/>
                <a:cs typeface="Calibri" pitchFamily="34" charset="-120"/>
              </a:rPr>
              <a:t>Cyber Liability</a:t>
            </a:r>
            <a:endParaRPr lang="en-US" sz="1000" dirty="0"/>
          </a:p>
        </p:txBody>
      </p:sp>
      <p:sp>
        <p:nvSpPr>
          <p:cNvPr id="21" name="Text 19"/>
          <p:cNvSpPr/>
          <p:nvPr/>
        </p:nvSpPr>
        <p:spPr>
          <a:xfrm>
            <a:off x="6839712" y="2706163"/>
            <a:ext cx="2084832" cy="51206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Data breaches, ransomware — increasingly required by enterprise clients</a:t>
            </a:r>
            <a:endParaRPr lang="en-US" sz="950" dirty="0"/>
          </a:p>
        </p:txBody>
      </p:sp>
      <p:sp>
        <p:nvSpPr>
          <p:cNvPr id="22" name="Shape 20"/>
          <p:cNvSpPr/>
          <p:nvPr/>
        </p:nvSpPr>
        <p:spPr>
          <a:xfrm>
            <a:off x="457200" y="3327955"/>
            <a:ext cx="4160520" cy="512064"/>
          </a:xfrm>
          <a:prstGeom prst="rect">
            <a:avLst/>
          </a:prstGeom>
          <a:solidFill>
            <a:srgbClr val="1A3A5C"/>
          </a:solidFill>
          <a:ln/>
        </p:spPr>
        <p:txBody>
          <a:bodyPr/>
          <a:lstStyle/>
          <a:p>
            <a:endParaRPr lang="en-US"/>
          </a:p>
        </p:txBody>
      </p:sp>
      <p:sp>
        <p:nvSpPr>
          <p:cNvPr id="23" name="Shape 21"/>
          <p:cNvSpPr/>
          <p:nvPr/>
        </p:nvSpPr>
        <p:spPr>
          <a:xfrm>
            <a:off x="457200" y="3327955"/>
            <a:ext cx="64008" cy="512064"/>
          </a:xfrm>
          <a:prstGeom prst="rect">
            <a:avLst/>
          </a:prstGeom>
          <a:solidFill>
            <a:srgbClr val="B5D4F4"/>
          </a:solidFill>
          <a:ln/>
        </p:spPr>
        <p:txBody>
          <a:bodyPr/>
          <a:lstStyle/>
          <a:p>
            <a:endParaRPr lang="en-US"/>
          </a:p>
        </p:txBody>
      </p:sp>
      <p:sp>
        <p:nvSpPr>
          <p:cNvPr id="24" name="Text 22"/>
          <p:cNvSpPr/>
          <p:nvPr/>
        </p:nvSpPr>
        <p:spPr>
          <a:xfrm>
            <a:off x="640080" y="3327955"/>
            <a:ext cx="1737360" cy="512064"/>
          </a:xfrm>
          <a:prstGeom prst="rect">
            <a:avLst/>
          </a:prstGeom>
          <a:noFill/>
          <a:ln/>
        </p:spPr>
        <p:txBody>
          <a:bodyPr wrap="square" lIns="0" tIns="0" rIns="0" bIns="0" rtlCol="0" anchor="ctr"/>
          <a:lstStyle/>
          <a:p>
            <a:pPr marL="0" indent="0">
              <a:buNone/>
            </a:pPr>
            <a:r>
              <a:rPr lang="en-US" sz="1000" b="1" dirty="0">
                <a:solidFill>
                  <a:srgbClr val="B5D4F4"/>
                </a:solidFill>
                <a:latin typeface="Calibri" pitchFamily="34" charset="0"/>
                <a:ea typeface="Calibri" pitchFamily="34" charset="-122"/>
                <a:cs typeface="Calibri" pitchFamily="34" charset="-120"/>
              </a:rPr>
              <a:t>Workers Comp</a:t>
            </a:r>
            <a:endParaRPr lang="en-US" sz="1000" dirty="0"/>
          </a:p>
        </p:txBody>
      </p:sp>
      <p:sp>
        <p:nvSpPr>
          <p:cNvPr id="25" name="Text 23"/>
          <p:cNvSpPr/>
          <p:nvPr/>
        </p:nvSpPr>
        <p:spPr>
          <a:xfrm>
            <a:off x="2450592" y="3327955"/>
            <a:ext cx="2084832" cy="51206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Employee on-the-job injuries — legally required in most states</a:t>
            </a:r>
            <a:endParaRPr lang="en-US" sz="950" dirty="0"/>
          </a:p>
        </p:txBody>
      </p:sp>
      <p:sp>
        <p:nvSpPr>
          <p:cNvPr id="26" name="Shape 24"/>
          <p:cNvSpPr/>
          <p:nvPr/>
        </p:nvSpPr>
        <p:spPr>
          <a:xfrm>
            <a:off x="4846320" y="3327955"/>
            <a:ext cx="4160520" cy="512064"/>
          </a:xfrm>
          <a:prstGeom prst="rect">
            <a:avLst/>
          </a:prstGeom>
          <a:solidFill>
            <a:srgbClr val="1A3A5C"/>
          </a:solidFill>
          <a:ln/>
        </p:spPr>
        <p:txBody>
          <a:bodyPr/>
          <a:lstStyle/>
          <a:p>
            <a:endParaRPr lang="en-US"/>
          </a:p>
        </p:txBody>
      </p:sp>
      <p:sp>
        <p:nvSpPr>
          <p:cNvPr id="27" name="Shape 25"/>
          <p:cNvSpPr/>
          <p:nvPr/>
        </p:nvSpPr>
        <p:spPr>
          <a:xfrm>
            <a:off x="4846320" y="3327955"/>
            <a:ext cx="64008" cy="512064"/>
          </a:xfrm>
          <a:prstGeom prst="rect">
            <a:avLst/>
          </a:prstGeom>
          <a:solidFill>
            <a:srgbClr val="B5D4F4"/>
          </a:solidFill>
          <a:ln/>
        </p:spPr>
        <p:txBody>
          <a:bodyPr/>
          <a:lstStyle/>
          <a:p>
            <a:endParaRPr lang="en-US"/>
          </a:p>
        </p:txBody>
      </p:sp>
      <p:sp>
        <p:nvSpPr>
          <p:cNvPr id="28" name="Text 26"/>
          <p:cNvSpPr/>
          <p:nvPr/>
        </p:nvSpPr>
        <p:spPr>
          <a:xfrm>
            <a:off x="5029200" y="3327955"/>
            <a:ext cx="1737360" cy="512064"/>
          </a:xfrm>
          <a:prstGeom prst="rect">
            <a:avLst/>
          </a:prstGeom>
          <a:noFill/>
          <a:ln/>
        </p:spPr>
        <p:txBody>
          <a:bodyPr wrap="square" lIns="0" tIns="0" rIns="0" bIns="0" rtlCol="0" anchor="ctr"/>
          <a:lstStyle/>
          <a:p>
            <a:pPr marL="0" indent="0">
              <a:buNone/>
            </a:pPr>
            <a:r>
              <a:rPr lang="en-US" sz="1000" b="1" dirty="0">
                <a:solidFill>
                  <a:srgbClr val="B5D4F4"/>
                </a:solidFill>
                <a:latin typeface="Calibri" pitchFamily="34" charset="0"/>
                <a:ea typeface="Calibri" pitchFamily="34" charset="-122"/>
                <a:cs typeface="Calibri" pitchFamily="34" charset="-120"/>
              </a:rPr>
              <a:t>EPLI</a:t>
            </a:r>
            <a:endParaRPr lang="en-US" sz="1000" dirty="0"/>
          </a:p>
        </p:txBody>
      </p:sp>
      <p:sp>
        <p:nvSpPr>
          <p:cNvPr id="29" name="Text 27"/>
          <p:cNvSpPr/>
          <p:nvPr/>
        </p:nvSpPr>
        <p:spPr>
          <a:xfrm>
            <a:off x="6839712" y="3327955"/>
            <a:ext cx="2084832" cy="51206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Wrongful termination, harassment claims — critical as you scale</a:t>
            </a:r>
            <a:endParaRPr lang="en-US" sz="950" dirty="0"/>
          </a:p>
        </p:txBody>
      </p:sp>
      <p:sp>
        <p:nvSpPr>
          <p:cNvPr id="30" name="Shape 11">
            <a:extLst>
              <a:ext uri="{FF2B5EF4-FFF2-40B4-BE49-F238E27FC236}">
                <a16:creationId xmlns:a16="http://schemas.microsoft.com/office/drawing/2014/main" id="{D815761B-6BAB-0D14-F6F3-7DFC61539B9E}"/>
              </a:ext>
            </a:extLst>
          </p:cNvPr>
          <p:cNvSpPr/>
          <p:nvPr/>
        </p:nvSpPr>
        <p:spPr>
          <a:xfrm>
            <a:off x="320040" y="4019772"/>
            <a:ext cx="8503920" cy="887394"/>
          </a:xfrm>
          <a:prstGeom prst="rect">
            <a:avLst/>
          </a:prstGeom>
          <a:solidFill>
            <a:srgbClr val="FAEEDA"/>
          </a:solidFill>
          <a:ln/>
        </p:spPr>
        <p:txBody>
          <a:bodyPr/>
          <a:lstStyle/>
          <a:p>
            <a:endParaRPr lang="en-US"/>
          </a:p>
        </p:txBody>
      </p:sp>
      <p:sp>
        <p:nvSpPr>
          <p:cNvPr id="31" name="Shape 12">
            <a:extLst>
              <a:ext uri="{FF2B5EF4-FFF2-40B4-BE49-F238E27FC236}">
                <a16:creationId xmlns:a16="http://schemas.microsoft.com/office/drawing/2014/main" id="{D5B301ED-CE89-B96E-D9D9-437482B96D6F}"/>
              </a:ext>
            </a:extLst>
          </p:cNvPr>
          <p:cNvSpPr/>
          <p:nvPr/>
        </p:nvSpPr>
        <p:spPr>
          <a:xfrm>
            <a:off x="320040" y="4019772"/>
            <a:ext cx="64008" cy="887394"/>
          </a:xfrm>
          <a:prstGeom prst="rect">
            <a:avLst/>
          </a:prstGeom>
          <a:solidFill>
            <a:srgbClr val="D97706"/>
          </a:solidFill>
          <a:ln/>
        </p:spPr>
        <p:txBody>
          <a:bodyPr/>
          <a:lstStyle/>
          <a:p>
            <a:endParaRPr lang="en-US"/>
          </a:p>
        </p:txBody>
      </p:sp>
      <p:sp>
        <p:nvSpPr>
          <p:cNvPr id="32" name="Text 13">
            <a:extLst>
              <a:ext uri="{FF2B5EF4-FFF2-40B4-BE49-F238E27FC236}">
                <a16:creationId xmlns:a16="http://schemas.microsoft.com/office/drawing/2014/main" id="{DFBB2503-2785-6E87-955E-A72D609D40F8}"/>
              </a:ext>
            </a:extLst>
          </p:cNvPr>
          <p:cNvSpPr/>
          <p:nvPr/>
        </p:nvSpPr>
        <p:spPr>
          <a:xfrm>
            <a:off x="502920" y="4053449"/>
            <a:ext cx="8229600" cy="183204"/>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Real issue: Demand letter for improper website tracking</a:t>
            </a:r>
            <a:endParaRPr lang="en-US" sz="1200" dirty="0"/>
          </a:p>
        </p:txBody>
      </p:sp>
      <p:sp>
        <p:nvSpPr>
          <p:cNvPr id="33" name="Text 14">
            <a:extLst>
              <a:ext uri="{FF2B5EF4-FFF2-40B4-BE49-F238E27FC236}">
                <a16:creationId xmlns:a16="http://schemas.microsoft.com/office/drawing/2014/main" id="{D2102972-1F21-FD32-0033-69B4DCCBC55D}"/>
              </a:ext>
            </a:extLst>
          </p:cNvPr>
          <p:cNvSpPr/>
          <p:nvPr/>
        </p:nvSpPr>
        <p:spPr>
          <a:xfrm>
            <a:off x="502920" y="4390256"/>
            <a:ext cx="8229600" cy="572513"/>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We received a demand letter from an individual in CA claiming our website was illegally tracking personal data using tracing technology.  Action steps: 1) notify insurance carrier, 2) notify legal counsel, 3) internal investigation, 4) respond, defend, settlement decision &amp; agreement.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54864"/>
            <a:ext cx="9144000" cy="658368"/>
          </a:xfrm>
          <a:prstGeom prst="rect">
            <a:avLst/>
          </a:prstGeom>
          <a:solidFill>
            <a:srgbClr val="0D2240"/>
          </a:solidFill>
          <a:ln/>
        </p:spPr>
        <p:txBody>
          <a:bodyPr/>
          <a:lstStyle/>
          <a:p>
            <a:endParaRPr lang="en-US"/>
          </a:p>
        </p:txBody>
      </p:sp>
      <p:sp>
        <p:nvSpPr>
          <p:cNvPr id="3" name="Text 1"/>
          <p:cNvSpPr/>
          <p:nvPr/>
        </p:nvSpPr>
        <p:spPr>
          <a:xfrm>
            <a:off x="365760" y="54864"/>
            <a:ext cx="68580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Lease Management</a:t>
            </a:r>
            <a:endParaRPr lang="en-US" sz="1800" dirty="0"/>
          </a:p>
        </p:txBody>
      </p:sp>
      <p:sp>
        <p:nvSpPr>
          <p:cNvPr id="4" name="Text 2"/>
          <p:cNvSpPr/>
          <p:nvPr/>
        </p:nvSpPr>
        <p:spPr>
          <a:xfrm>
            <a:off x="365760" y="658368"/>
            <a:ext cx="8412480" cy="34747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Leases are more complex — and more visible — than they used to be</a:t>
            </a:r>
            <a:endParaRPr lang="en-US" sz="1200" dirty="0"/>
          </a:p>
        </p:txBody>
      </p:sp>
      <p:sp>
        <p:nvSpPr>
          <p:cNvPr id="5" name="Shape 3"/>
          <p:cNvSpPr/>
          <p:nvPr/>
        </p:nvSpPr>
        <p:spPr>
          <a:xfrm>
            <a:off x="320040" y="996696"/>
            <a:ext cx="4160520" cy="274320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6" name="Shape 4"/>
          <p:cNvSpPr/>
          <p:nvPr/>
        </p:nvSpPr>
        <p:spPr>
          <a:xfrm>
            <a:off x="320040" y="1115568"/>
            <a:ext cx="64008" cy="2743200"/>
          </a:xfrm>
          <a:prstGeom prst="rect">
            <a:avLst/>
          </a:prstGeom>
          <a:solidFill>
            <a:srgbClr val="2D7DD2"/>
          </a:solidFill>
          <a:ln/>
        </p:spPr>
        <p:txBody>
          <a:bodyPr/>
          <a:lstStyle/>
          <a:p>
            <a:endParaRPr lang="en-US"/>
          </a:p>
        </p:txBody>
      </p:sp>
      <p:sp>
        <p:nvSpPr>
          <p:cNvPr id="7" name="Text 5"/>
          <p:cNvSpPr/>
          <p:nvPr/>
        </p:nvSpPr>
        <p:spPr>
          <a:xfrm>
            <a:off x="448056" y="1207008"/>
            <a:ext cx="3977640" cy="292608"/>
          </a:xfrm>
          <a:prstGeom prst="rect">
            <a:avLst/>
          </a:prstGeom>
          <a:noFill/>
          <a:ln/>
        </p:spPr>
        <p:txBody>
          <a:bodyPr wrap="square" lIns="0" tIns="0" rIns="0" bIns="0" rtlCol="0" anchor="ctr"/>
          <a:lstStyle/>
          <a:p>
            <a:pPr marL="0" indent="0">
              <a:buNone/>
            </a:pPr>
            <a:r>
              <a:rPr lang="en-US" sz="1100" b="1" dirty="0">
                <a:solidFill>
                  <a:srgbClr val="0D2240"/>
                </a:solidFill>
                <a:latin typeface="Calibri" pitchFamily="34" charset="0"/>
                <a:ea typeface="Calibri" pitchFamily="34" charset="-122"/>
                <a:cs typeface="Calibri" pitchFamily="34" charset="-120"/>
              </a:rPr>
              <a:t>CFO's lease checklist</a:t>
            </a:r>
            <a:endParaRPr lang="en-US" sz="1100" dirty="0"/>
          </a:p>
        </p:txBody>
      </p:sp>
      <p:sp>
        <p:nvSpPr>
          <p:cNvPr id="8" name="Text 6"/>
          <p:cNvSpPr/>
          <p:nvPr/>
        </p:nvSpPr>
        <p:spPr>
          <a:xfrm>
            <a:off x="448056" y="1517904"/>
            <a:ext cx="3959352" cy="2240280"/>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Expiration dates and renewal option deadlines tracked</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Rent escalation clauses — know when rates step up</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CAM (common area maintenance) charges and caps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Subleasing rights if you need to downsize</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Personal guarantee exposure — can it be removed?</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ASC 842: operating leases now on the balance sheet</a:t>
            </a:r>
            <a:endParaRPr lang="en-US" sz="1000" dirty="0"/>
          </a:p>
        </p:txBody>
      </p:sp>
      <p:sp>
        <p:nvSpPr>
          <p:cNvPr id="9" name="Shape 7"/>
          <p:cNvSpPr/>
          <p:nvPr/>
        </p:nvSpPr>
        <p:spPr>
          <a:xfrm>
            <a:off x="4663440" y="1115568"/>
            <a:ext cx="4160520" cy="274320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0" name="Shape 8"/>
          <p:cNvSpPr/>
          <p:nvPr/>
        </p:nvSpPr>
        <p:spPr>
          <a:xfrm>
            <a:off x="4663440" y="1115568"/>
            <a:ext cx="64008" cy="2743200"/>
          </a:xfrm>
          <a:prstGeom prst="rect">
            <a:avLst/>
          </a:prstGeom>
          <a:solidFill>
            <a:srgbClr val="028090"/>
          </a:solidFill>
          <a:ln/>
        </p:spPr>
        <p:txBody>
          <a:bodyPr/>
          <a:lstStyle/>
          <a:p>
            <a:endParaRPr lang="en-US"/>
          </a:p>
        </p:txBody>
      </p:sp>
      <p:sp>
        <p:nvSpPr>
          <p:cNvPr id="11" name="Text 9"/>
          <p:cNvSpPr/>
          <p:nvPr/>
        </p:nvSpPr>
        <p:spPr>
          <a:xfrm>
            <a:off x="4791456" y="1207008"/>
            <a:ext cx="3977640" cy="292608"/>
          </a:xfrm>
          <a:prstGeom prst="rect">
            <a:avLst/>
          </a:prstGeom>
          <a:noFill/>
          <a:ln/>
        </p:spPr>
        <p:txBody>
          <a:bodyPr wrap="square" lIns="0" tIns="0" rIns="0" bIns="0" rtlCol="0" anchor="ctr"/>
          <a:lstStyle/>
          <a:p>
            <a:pPr marL="0" indent="0">
              <a:buNone/>
            </a:pPr>
            <a:r>
              <a:rPr lang="en-US" sz="1100" b="1" dirty="0">
                <a:solidFill>
                  <a:srgbClr val="0D2240"/>
                </a:solidFill>
                <a:latin typeface="Calibri" pitchFamily="34" charset="0"/>
                <a:ea typeface="Calibri" pitchFamily="34" charset="-122"/>
                <a:cs typeface="Calibri" pitchFamily="34" charset="-120"/>
              </a:rPr>
              <a:t>Negotiation levers</a:t>
            </a:r>
            <a:endParaRPr lang="en-US" sz="1100" dirty="0"/>
          </a:p>
        </p:txBody>
      </p:sp>
      <p:sp>
        <p:nvSpPr>
          <p:cNvPr id="12" name="Text 10"/>
          <p:cNvSpPr/>
          <p:nvPr/>
        </p:nvSpPr>
        <p:spPr>
          <a:xfrm>
            <a:off x="4791456" y="1517904"/>
            <a:ext cx="3959352" cy="2240280"/>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Free rent periods (months 1–3 of a new lease)</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Tenant improvement (TI) allowance — landlord pays for buildout</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Early termination / exit clause with defined fee</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Cap on annual CAM charge increases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Right of first refusal on adjacent space</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Multi-year rate lock on base rent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2240"/>
        </a:solidFill>
        <a:effectLst/>
      </p:bgPr>
    </p:bg>
    <p:spTree>
      <p:nvGrpSpPr>
        <p:cNvPr id="1" name="">
          <a:extLst>
            <a:ext uri="{FF2B5EF4-FFF2-40B4-BE49-F238E27FC236}">
              <a16:creationId xmlns:a16="http://schemas.microsoft.com/office/drawing/2014/main" id="{EC216756-C42B-015C-C1E9-C246FA615B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1BB7D5-F334-5795-B84E-57D9AA87540C}"/>
              </a:ext>
            </a:extLst>
          </p:cNvPr>
          <p:cNvSpPr/>
          <p:nvPr/>
        </p:nvSpPr>
        <p:spPr>
          <a:xfrm>
            <a:off x="0" y="17827"/>
            <a:ext cx="9144000" cy="1051560"/>
          </a:xfrm>
          <a:prstGeom prst="rect">
            <a:avLst/>
          </a:prstGeom>
          <a:solidFill>
            <a:srgbClr val="1A3A5C"/>
          </a:solidFill>
          <a:ln/>
        </p:spPr>
        <p:txBody>
          <a:bodyPr/>
          <a:lstStyle/>
          <a:p>
            <a:endParaRPr lang="en-US"/>
          </a:p>
        </p:txBody>
      </p:sp>
      <p:sp>
        <p:nvSpPr>
          <p:cNvPr id="4" name="Text 2">
            <a:extLst>
              <a:ext uri="{FF2B5EF4-FFF2-40B4-BE49-F238E27FC236}">
                <a16:creationId xmlns:a16="http://schemas.microsoft.com/office/drawing/2014/main" id="{878CD71D-96DC-A29C-D268-7CEC31FCDA36}"/>
              </a:ext>
            </a:extLst>
          </p:cNvPr>
          <p:cNvSpPr/>
          <p:nvPr/>
        </p:nvSpPr>
        <p:spPr>
          <a:xfrm>
            <a:off x="457200" y="888221"/>
            <a:ext cx="82296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cs typeface="Calibri" pitchFamily="34" charset="-120"/>
              </a:rPr>
              <a:t>Operations</a:t>
            </a:r>
            <a:endParaRPr lang="en-US" sz="3400" dirty="0"/>
          </a:p>
        </p:txBody>
      </p:sp>
      <p:sp>
        <p:nvSpPr>
          <p:cNvPr id="5" name="Text 3">
            <a:extLst>
              <a:ext uri="{FF2B5EF4-FFF2-40B4-BE49-F238E27FC236}">
                <a16:creationId xmlns:a16="http://schemas.microsoft.com/office/drawing/2014/main" id="{21BFC5EB-A8BB-3BDD-B079-CEAD1130688E}"/>
              </a:ext>
            </a:extLst>
          </p:cNvPr>
          <p:cNvSpPr/>
          <p:nvPr/>
        </p:nvSpPr>
        <p:spPr>
          <a:xfrm>
            <a:off x="457200" y="1581451"/>
            <a:ext cx="7772400" cy="502920"/>
          </a:xfrm>
          <a:prstGeom prst="rect">
            <a:avLst/>
          </a:prstGeom>
          <a:noFill/>
          <a:ln/>
        </p:spPr>
        <p:txBody>
          <a:bodyPr wrap="square" lIns="0" tIns="0" rIns="0" bIns="0" rtlCol="0" anchor="ctr"/>
          <a:lstStyle/>
          <a:p>
            <a:r>
              <a:rPr lang="en-US" dirty="0">
                <a:solidFill>
                  <a:schemeClr val="tx2">
                    <a:lumMod val="60000"/>
                    <a:lumOff val="40000"/>
                  </a:schemeClr>
                </a:solidFill>
              </a:rPr>
              <a:t>The engine room of the business, small but mighty</a:t>
            </a:r>
            <a:endParaRPr lang="en-US" sz="1600" dirty="0">
              <a:solidFill>
                <a:schemeClr val="tx2">
                  <a:lumMod val="60000"/>
                  <a:lumOff val="40000"/>
                </a:schemeClr>
              </a:solidFill>
            </a:endParaRPr>
          </a:p>
        </p:txBody>
      </p:sp>
      <p:sp>
        <p:nvSpPr>
          <p:cNvPr id="6" name="Shape 4">
            <a:extLst>
              <a:ext uri="{FF2B5EF4-FFF2-40B4-BE49-F238E27FC236}">
                <a16:creationId xmlns:a16="http://schemas.microsoft.com/office/drawing/2014/main" id="{BC9FBB70-0FB1-405B-65E6-E18E016D3557}"/>
              </a:ext>
            </a:extLst>
          </p:cNvPr>
          <p:cNvSpPr/>
          <p:nvPr/>
        </p:nvSpPr>
        <p:spPr>
          <a:xfrm>
            <a:off x="457200" y="2084371"/>
            <a:ext cx="4160520" cy="512064"/>
          </a:xfrm>
          <a:prstGeom prst="rect">
            <a:avLst/>
          </a:prstGeom>
          <a:solidFill>
            <a:srgbClr val="1A3A5C"/>
          </a:solidFill>
          <a:ln/>
        </p:spPr>
        <p:txBody>
          <a:bodyPr/>
          <a:lstStyle/>
          <a:p>
            <a:endParaRPr lang="en-US"/>
          </a:p>
        </p:txBody>
      </p:sp>
      <p:sp>
        <p:nvSpPr>
          <p:cNvPr id="7" name="Shape 5">
            <a:extLst>
              <a:ext uri="{FF2B5EF4-FFF2-40B4-BE49-F238E27FC236}">
                <a16:creationId xmlns:a16="http://schemas.microsoft.com/office/drawing/2014/main" id="{1989C06A-4C68-0697-CBB6-479EA0C468AF}"/>
              </a:ext>
            </a:extLst>
          </p:cNvPr>
          <p:cNvSpPr/>
          <p:nvPr/>
        </p:nvSpPr>
        <p:spPr>
          <a:xfrm>
            <a:off x="457200" y="2084371"/>
            <a:ext cx="64008" cy="512064"/>
          </a:xfrm>
          <a:prstGeom prst="rect">
            <a:avLst/>
          </a:prstGeom>
          <a:solidFill>
            <a:srgbClr val="B5D4F4"/>
          </a:solidFill>
          <a:ln/>
        </p:spPr>
        <p:txBody>
          <a:bodyPr/>
          <a:lstStyle/>
          <a:p>
            <a:endParaRPr lang="en-US"/>
          </a:p>
        </p:txBody>
      </p:sp>
      <p:sp>
        <p:nvSpPr>
          <p:cNvPr id="8" name="Text 6">
            <a:extLst>
              <a:ext uri="{FF2B5EF4-FFF2-40B4-BE49-F238E27FC236}">
                <a16:creationId xmlns:a16="http://schemas.microsoft.com/office/drawing/2014/main" id="{DCD6546A-3D32-3D60-348E-EB16D8853548}"/>
              </a:ext>
            </a:extLst>
          </p:cNvPr>
          <p:cNvSpPr/>
          <p:nvPr/>
        </p:nvSpPr>
        <p:spPr>
          <a:xfrm>
            <a:off x="640080" y="2084371"/>
            <a:ext cx="1737360" cy="512064"/>
          </a:xfrm>
          <a:prstGeom prst="rect">
            <a:avLst/>
          </a:prstGeom>
          <a:noFill/>
          <a:ln/>
        </p:spPr>
        <p:txBody>
          <a:bodyPr wrap="square" lIns="0" tIns="0" rIns="0" bIns="0" rtlCol="0" anchor="ctr"/>
          <a:lstStyle/>
          <a:p>
            <a:pPr marL="0" indent="0">
              <a:buNone/>
            </a:pPr>
            <a:r>
              <a:rPr lang="en-US" sz="1000" b="1" dirty="0">
                <a:solidFill>
                  <a:srgbClr val="B5D4F4"/>
                </a:solidFill>
                <a:latin typeface="Calibri" pitchFamily="34" charset="0"/>
                <a:ea typeface="Calibri" pitchFamily="34" charset="-122"/>
                <a:cs typeface="Calibri" pitchFamily="34" charset="-120"/>
              </a:rPr>
              <a:t>Sales operations</a:t>
            </a:r>
            <a:endParaRPr lang="en-US" sz="1000" dirty="0"/>
          </a:p>
        </p:txBody>
      </p:sp>
      <p:sp>
        <p:nvSpPr>
          <p:cNvPr id="9" name="Text 7">
            <a:extLst>
              <a:ext uri="{FF2B5EF4-FFF2-40B4-BE49-F238E27FC236}">
                <a16:creationId xmlns:a16="http://schemas.microsoft.com/office/drawing/2014/main" id="{0E6764C5-E9AF-7BFD-9CE3-7C97780294F2}"/>
              </a:ext>
            </a:extLst>
          </p:cNvPr>
          <p:cNvSpPr/>
          <p:nvPr/>
        </p:nvSpPr>
        <p:spPr>
          <a:xfrm>
            <a:off x="2450592" y="2084371"/>
            <a:ext cx="2084832" cy="51206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Managing tools, data, process, reporting</a:t>
            </a:r>
            <a:endParaRPr lang="en-US" sz="950" dirty="0"/>
          </a:p>
        </p:txBody>
      </p:sp>
      <p:sp>
        <p:nvSpPr>
          <p:cNvPr id="10" name="Shape 8">
            <a:extLst>
              <a:ext uri="{FF2B5EF4-FFF2-40B4-BE49-F238E27FC236}">
                <a16:creationId xmlns:a16="http://schemas.microsoft.com/office/drawing/2014/main" id="{DF1AF705-5E8A-183F-E496-560E4B500875}"/>
              </a:ext>
            </a:extLst>
          </p:cNvPr>
          <p:cNvSpPr/>
          <p:nvPr/>
        </p:nvSpPr>
        <p:spPr>
          <a:xfrm>
            <a:off x="4846320" y="2084371"/>
            <a:ext cx="4160520" cy="512064"/>
          </a:xfrm>
          <a:prstGeom prst="rect">
            <a:avLst/>
          </a:prstGeom>
          <a:solidFill>
            <a:srgbClr val="1A3A5C"/>
          </a:solidFill>
          <a:ln/>
        </p:spPr>
        <p:txBody>
          <a:bodyPr/>
          <a:lstStyle/>
          <a:p>
            <a:endParaRPr lang="en-US"/>
          </a:p>
        </p:txBody>
      </p:sp>
      <p:sp>
        <p:nvSpPr>
          <p:cNvPr id="11" name="Shape 9">
            <a:extLst>
              <a:ext uri="{FF2B5EF4-FFF2-40B4-BE49-F238E27FC236}">
                <a16:creationId xmlns:a16="http://schemas.microsoft.com/office/drawing/2014/main" id="{4DC51BA9-F2E1-9488-727D-BAD4283B1ACD}"/>
              </a:ext>
            </a:extLst>
          </p:cNvPr>
          <p:cNvSpPr/>
          <p:nvPr/>
        </p:nvSpPr>
        <p:spPr>
          <a:xfrm>
            <a:off x="4846320" y="2084371"/>
            <a:ext cx="64008" cy="512064"/>
          </a:xfrm>
          <a:prstGeom prst="rect">
            <a:avLst/>
          </a:prstGeom>
          <a:solidFill>
            <a:srgbClr val="B5D4F4"/>
          </a:solidFill>
          <a:ln/>
        </p:spPr>
        <p:txBody>
          <a:bodyPr/>
          <a:lstStyle/>
          <a:p>
            <a:endParaRPr lang="en-US"/>
          </a:p>
        </p:txBody>
      </p:sp>
      <p:sp>
        <p:nvSpPr>
          <p:cNvPr id="12" name="Text 10">
            <a:extLst>
              <a:ext uri="{FF2B5EF4-FFF2-40B4-BE49-F238E27FC236}">
                <a16:creationId xmlns:a16="http://schemas.microsoft.com/office/drawing/2014/main" id="{4E247FB2-92E9-CC2E-C872-15AE7882C8BF}"/>
              </a:ext>
            </a:extLst>
          </p:cNvPr>
          <p:cNvSpPr/>
          <p:nvPr/>
        </p:nvSpPr>
        <p:spPr>
          <a:xfrm>
            <a:off x="5029200" y="2084371"/>
            <a:ext cx="1737360" cy="512064"/>
          </a:xfrm>
          <a:prstGeom prst="rect">
            <a:avLst/>
          </a:prstGeom>
          <a:noFill/>
          <a:ln/>
        </p:spPr>
        <p:txBody>
          <a:bodyPr wrap="square" lIns="0" tIns="0" rIns="0" bIns="0" rtlCol="0" anchor="ctr"/>
          <a:lstStyle/>
          <a:p>
            <a:pPr marL="0" indent="0">
              <a:buNone/>
            </a:pPr>
            <a:r>
              <a:rPr lang="en-US" sz="1000" b="1" dirty="0">
                <a:solidFill>
                  <a:srgbClr val="B5D4F4"/>
                </a:solidFill>
                <a:latin typeface="Calibri" pitchFamily="34" charset="0"/>
                <a:ea typeface="Calibri" pitchFamily="34" charset="-122"/>
                <a:cs typeface="Calibri" pitchFamily="34" charset="-120"/>
              </a:rPr>
              <a:t>Documentation</a:t>
            </a:r>
            <a:endParaRPr lang="en-US" sz="1000" dirty="0"/>
          </a:p>
        </p:txBody>
      </p:sp>
      <p:sp>
        <p:nvSpPr>
          <p:cNvPr id="13" name="Text 11">
            <a:extLst>
              <a:ext uri="{FF2B5EF4-FFF2-40B4-BE49-F238E27FC236}">
                <a16:creationId xmlns:a16="http://schemas.microsoft.com/office/drawing/2014/main" id="{282051F0-BABA-435F-0A4E-D6995C218B82}"/>
              </a:ext>
            </a:extLst>
          </p:cNvPr>
          <p:cNvSpPr/>
          <p:nvPr/>
        </p:nvSpPr>
        <p:spPr>
          <a:xfrm>
            <a:off x="6839712" y="2084371"/>
            <a:ext cx="2084832" cy="51206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Ensure key processes are followed for smooth execution &amp; communication</a:t>
            </a:r>
            <a:endParaRPr lang="en-US" sz="950" dirty="0"/>
          </a:p>
        </p:txBody>
      </p:sp>
      <p:sp>
        <p:nvSpPr>
          <p:cNvPr id="14" name="Shape 12">
            <a:extLst>
              <a:ext uri="{FF2B5EF4-FFF2-40B4-BE49-F238E27FC236}">
                <a16:creationId xmlns:a16="http://schemas.microsoft.com/office/drawing/2014/main" id="{D598DAD3-0734-BD99-F33D-A693D0AB1249}"/>
              </a:ext>
            </a:extLst>
          </p:cNvPr>
          <p:cNvSpPr/>
          <p:nvPr/>
        </p:nvSpPr>
        <p:spPr>
          <a:xfrm>
            <a:off x="457200" y="2706163"/>
            <a:ext cx="4160520" cy="512064"/>
          </a:xfrm>
          <a:prstGeom prst="rect">
            <a:avLst/>
          </a:prstGeom>
          <a:solidFill>
            <a:srgbClr val="1A3A5C"/>
          </a:solidFill>
          <a:ln/>
        </p:spPr>
        <p:txBody>
          <a:bodyPr/>
          <a:lstStyle/>
          <a:p>
            <a:endParaRPr lang="en-US"/>
          </a:p>
        </p:txBody>
      </p:sp>
      <p:sp>
        <p:nvSpPr>
          <p:cNvPr id="15" name="Shape 13">
            <a:extLst>
              <a:ext uri="{FF2B5EF4-FFF2-40B4-BE49-F238E27FC236}">
                <a16:creationId xmlns:a16="http://schemas.microsoft.com/office/drawing/2014/main" id="{4776C690-1798-6EA6-FB4C-319E2C15F7E7}"/>
              </a:ext>
            </a:extLst>
          </p:cNvPr>
          <p:cNvSpPr/>
          <p:nvPr/>
        </p:nvSpPr>
        <p:spPr>
          <a:xfrm>
            <a:off x="457200" y="2706163"/>
            <a:ext cx="64008" cy="512064"/>
          </a:xfrm>
          <a:prstGeom prst="rect">
            <a:avLst/>
          </a:prstGeom>
          <a:solidFill>
            <a:srgbClr val="B5D4F4"/>
          </a:solidFill>
          <a:ln/>
        </p:spPr>
        <p:txBody>
          <a:bodyPr/>
          <a:lstStyle/>
          <a:p>
            <a:endParaRPr lang="en-US"/>
          </a:p>
        </p:txBody>
      </p:sp>
      <p:sp>
        <p:nvSpPr>
          <p:cNvPr id="16" name="Text 14">
            <a:extLst>
              <a:ext uri="{FF2B5EF4-FFF2-40B4-BE49-F238E27FC236}">
                <a16:creationId xmlns:a16="http://schemas.microsoft.com/office/drawing/2014/main" id="{3CC4552D-6525-AB1C-1EA7-16BEB36F0A07}"/>
              </a:ext>
            </a:extLst>
          </p:cNvPr>
          <p:cNvSpPr/>
          <p:nvPr/>
        </p:nvSpPr>
        <p:spPr>
          <a:xfrm>
            <a:off x="640080" y="2706163"/>
            <a:ext cx="1737360" cy="512064"/>
          </a:xfrm>
          <a:prstGeom prst="rect">
            <a:avLst/>
          </a:prstGeom>
          <a:noFill/>
          <a:ln/>
        </p:spPr>
        <p:txBody>
          <a:bodyPr wrap="square" lIns="0" tIns="0" rIns="0" bIns="0" rtlCol="0" anchor="ctr"/>
          <a:lstStyle/>
          <a:p>
            <a:pPr marL="0" indent="0">
              <a:buNone/>
            </a:pPr>
            <a:r>
              <a:rPr lang="en-US" sz="1000" b="1" dirty="0">
                <a:solidFill>
                  <a:srgbClr val="B5D4F4"/>
                </a:solidFill>
                <a:latin typeface="Calibri" pitchFamily="34" charset="0"/>
                <a:cs typeface="Calibri" pitchFamily="34" charset="-120"/>
              </a:rPr>
              <a:t>Contract operations</a:t>
            </a:r>
            <a:endParaRPr lang="en-US" sz="1000" dirty="0"/>
          </a:p>
        </p:txBody>
      </p:sp>
      <p:sp>
        <p:nvSpPr>
          <p:cNvPr id="17" name="Text 15">
            <a:extLst>
              <a:ext uri="{FF2B5EF4-FFF2-40B4-BE49-F238E27FC236}">
                <a16:creationId xmlns:a16="http://schemas.microsoft.com/office/drawing/2014/main" id="{62D6D96A-6005-BA4A-B197-8C1E745FA5EB}"/>
              </a:ext>
            </a:extLst>
          </p:cNvPr>
          <p:cNvSpPr/>
          <p:nvPr/>
        </p:nvSpPr>
        <p:spPr>
          <a:xfrm>
            <a:off x="2450592" y="2706163"/>
            <a:ext cx="2084832" cy="51206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Workflow management &amp; efficiency</a:t>
            </a:r>
            <a:endParaRPr lang="en-US" sz="950" dirty="0"/>
          </a:p>
        </p:txBody>
      </p:sp>
      <p:sp>
        <p:nvSpPr>
          <p:cNvPr id="18" name="Shape 16">
            <a:extLst>
              <a:ext uri="{FF2B5EF4-FFF2-40B4-BE49-F238E27FC236}">
                <a16:creationId xmlns:a16="http://schemas.microsoft.com/office/drawing/2014/main" id="{2C3AB2C9-F8E1-9146-853F-6D206D780C4C}"/>
              </a:ext>
            </a:extLst>
          </p:cNvPr>
          <p:cNvSpPr/>
          <p:nvPr/>
        </p:nvSpPr>
        <p:spPr>
          <a:xfrm>
            <a:off x="4846320" y="2706163"/>
            <a:ext cx="4160520" cy="512064"/>
          </a:xfrm>
          <a:prstGeom prst="rect">
            <a:avLst/>
          </a:prstGeom>
          <a:solidFill>
            <a:srgbClr val="1A3A5C"/>
          </a:solidFill>
          <a:ln/>
        </p:spPr>
        <p:txBody>
          <a:bodyPr/>
          <a:lstStyle/>
          <a:p>
            <a:endParaRPr lang="en-US"/>
          </a:p>
        </p:txBody>
      </p:sp>
      <p:sp>
        <p:nvSpPr>
          <p:cNvPr id="19" name="Shape 17">
            <a:extLst>
              <a:ext uri="{FF2B5EF4-FFF2-40B4-BE49-F238E27FC236}">
                <a16:creationId xmlns:a16="http://schemas.microsoft.com/office/drawing/2014/main" id="{D2D9EE36-DE0D-1D2B-9AA5-584B4EBFEF37}"/>
              </a:ext>
            </a:extLst>
          </p:cNvPr>
          <p:cNvSpPr/>
          <p:nvPr/>
        </p:nvSpPr>
        <p:spPr>
          <a:xfrm>
            <a:off x="4846320" y="2706163"/>
            <a:ext cx="64008" cy="512064"/>
          </a:xfrm>
          <a:prstGeom prst="rect">
            <a:avLst/>
          </a:prstGeom>
          <a:solidFill>
            <a:srgbClr val="B5D4F4"/>
          </a:solidFill>
          <a:ln/>
        </p:spPr>
        <p:txBody>
          <a:bodyPr/>
          <a:lstStyle/>
          <a:p>
            <a:endParaRPr lang="en-US"/>
          </a:p>
        </p:txBody>
      </p:sp>
      <p:sp>
        <p:nvSpPr>
          <p:cNvPr id="20" name="Text 18">
            <a:extLst>
              <a:ext uri="{FF2B5EF4-FFF2-40B4-BE49-F238E27FC236}">
                <a16:creationId xmlns:a16="http://schemas.microsoft.com/office/drawing/2014/main" id="{BBF72573-544E-9E1D-40E2-12D5CEDE0204}"/>
              </a:ext>
            </a:extLst>
          </p:cNvPr>
          <p:cNvSpPr/>
          <p:nvPr/>
        </p:nvSpPr>
        <p:spPr>
          <a:xfrm>
            <a:off x="5029200" y="2706163"/>
            <a:ext cx="1737360" cy="512064"/>
          </a:xfrm>
          <a:prstGeom prst="rect">
            <a:avLst/>
          </a:prstGeom>
          <a:noFill/>
          <a:ln/>
        </p:spPr>
        <p:txBody>
          <a:bodyPr wrap="square" lIns="0" tIns="0" rIns="0" bIns="0" rtlCol="0" anchor="ctr"/>
          <a:lstStyle/>
          <a:p>
            <a:pPr marL="0" indent="0">
              <a:buNone/>
            </a:pPr>
            <a:r>
              <a:rPr lang="en-US" sz="1000" b="1" dirty="0">
                <a:solidFill>
                  <a:srgbClr val="B5D4F4"/>
                </a:solidFill>
                <a:latin typeface="Calibri" pitchFamily="34" charset="0"/>
                <a:ea typeface="Calibri" pitchFamily="34" charset="-122"/>
                <a:cs typeface="Calibri" pitchFamily="34" charset="-120"/>
              </a:rPr>
              <a:t>IT operations</a:t>
            </a:r>
            <a:endParaRPr lang="en-US" sz="1000" dirty="0"/>
          </a:p>
        </p:txBody>
      </p:sp>
      <p:sp>
        <p:nvSpPr>
          <p:cNvPr id="21" name="Text 19">
            <a:extLst>
              <a:ext uri="{FF2B5EF4-FFF2-40B4-BE49-F238E27FC236}">
                <a16:creationId xmlns:a16="http://schemas.microsoft.com/office/drawing/2014/main" id="{CC72AA27-1CC3-F225-3C88-57E028594B13}"/>
              </a:ext>
            </a:extLst>
          </p:cNvPr>
          <p:cNvSpPr/>
          <p:nvPr/>
        </p:nvSpPr>
        <p:spPr>
          <a:xfrm>
            <a:off x="6839712" y="2706163"/>
            <a:ext cx="2084832" cy="51206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The tools, software, security policies &amp; licenses the company operates on</a:t>
            </a:r>
            <a:endParaRPr lang="en-US" sz="950" dirty="0"/>
          </a:p>
        </p:txBody>
      </p:sp>
      <p:sp>
        <p:nvSpPr>
          <p:cNvPr id="22" name="Shape 20">
            <a:extLst>
              <a:ext uri="{FF2B5EF4-FFF2-40B4-BE49-F238E27FC236}">
                <a16:creationId xmlns:a16="http://schemas.microsoft.com/office/drawing/2014/main" id="{8643DE2B-A94E-18D6-0AB3-BC5E5446E3B4}"/>
              </a:ext>
            </a:extLst>
          </p:cNvPr>
          <p:cNvSpPr/>
          <p:nvPr/>
        </p:nvSpPr>
        <p:spPr>
          <a:xfrm>
            <a:off x="457200" y="3327955"/>
            <a:ext cx="4160520" cy="512064"/>
          </a:xfrm>
          <a:prstGeom prst="rect">
            <a:avLst/>
          </a:prstGeom>
          <a:solidFill>
            <a:srgbClr val="1A3A5C"/>
          </a:solidFill>
          <a:ln/>
        </p:spPr>
        <p:txBody>
          <a:bodyPr/>
          <a:lstStyle/>
          <a:p>
            <a:endParaRPr lang="en-US"/>
          </a:p>
        </p:txBody>
      </p:sp>
      <p:sp>
        <p:nvSpPr>
          <p:cNvPr id="23" name="Shape 21">
            <a:extLst>
              <a:ext uri="{FF2B5EF4-FFF2-40B4-BE49-F238E27FC236}">
                <a16:creationId xmlns:a16="http://schemas.microsoft.com/office/drawing/2014/main" id="{E04B69C8-BC5D-76E3-E9F8-BD29AA296DFA}"/>
              </a:ext>
            </a:extLst>
          </p:cNvPr>
          <p:cNvSpPr/>
          <p:nvPr/>
        </p:nvSpPr>
        <p:spPr>
          <a:xfrm>
            <a:off x="457200" y="3327955"/>
            <a:ext cx="64008" cy="512064"/>
          </a:xfrm>
          <a:prstGeom prst="rect">
            <a:avLst/>
          </a:prstGeom>
          <a:solidFill>
            <a:srgbClr val="B5D4F4"/>
          </a:solidFill>
          <a:ln/>
        </p:spPr>
        <p:txBody>
          <a:bodyPr/>
          <a:lstStyle/>
          <a:p>
            <a:endParaRPr lang="en-US"/>
          </a:p>
        </p:txBody>
      </p:sp>
      <p:sp>
        <p:nvSpPr>
          <p:cNvPr id="24" name="Text 22">
            <a:extLst>
              <a:ext uri="{FF2B5EF4-FFF2-40B4-BE49-F238E27FC236}">
                <a16:creationId xmlns:a16="http://schemas.microsoft.com/office/drawing/2014/main" id="{D7CB6E85-A29C-A474-4D12-CF8A9CA7AC21}"/>
              </a:ext>
            </a:extLst>
          </p:cNvPr>
          <p:cNvSpPr/>
          <p:nvPr/>
        </p:nvSpPr>
        <p:spPr>
          <a:xfrm>
            <a:off x="640080" y="3327955"/>
            <a:ext cx="1737360" cy="512064"/>
          </a:xfrm>
          <a:prstGeom prst="rect">
            <a:avLst/>
          </a:prstGeom>
          <a:noFill/>
          <a:ln/>
        </p:spPr>
        <p:txBody>
          <a:bodyPr wrap="square" lIns="0" tIns="0" rIns="0" bIns="0" rtlCol="0" anchor="ctr"/>
          <a:lstStyle/>
          <a:p>
            <a:pPr marL="0" indent="0">
              <a:buNone/>
            </a:pPr>
            <a:r>
              <a:rPr lang="en-US" sz="1000" b="1" dirty="0">
                <a:solidFill>
                  <a:srgbClr val="B5D4F4"/>
                </a:solidFill>
                <a:latin typeface="Calibri" pitchFamily="34" charset="0"/>
                <a:ea typeface="Calibri" pitchFamily="34" charset="-122"/>
                <a:cs typeface="Calibri" pitchFamily="34" charset="-120"/>
              </a:rPr>
              <a:t>Software implementation</a:t>
            </a:r>
            <a:endParaRPr lang="en-US" sz="1000" dirty="0"/>
          </a:p>
        </p:txBody>
      </p:sp>
      <p:sp>
        <p:nvSpPr>
          <p:cNvPr id="25" name="Text 23">
            <a:extLst>
              <a:ext uri="{FF2B5EF4-FFF2-40B4-BE49-F238E27FC236}">
                <a16:creationId xmlns:a16="http://schemas.microsoft.com/office/drawing/2014/main" id="{6E8E7FF4-E97A-6ACE-A462-1E86452CBFEB}"/>
              </a:ext>
            </a:extLst>
          </p:cNvPr>
          <p:cNvSpPr/>
          <p:nvPr/>
        </p:nvSpPr>
        <p:spPr>
          <a:xfrm>
            <a:off x="2450592" y="3327955"/>
            <a:ext cx="2084832" cy="51206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Coordinate and lead effective use of selected tools</a:t>
            </a:r>
            <a:endParaRPr lang="en-US" sz="950" dirty="0"/>
          </a:p>
        </p:txBody>
      </p:sp>
      <p:sp>
        <p:nvSpPr>
          <p:cNvPr id="26" name="Shape 24">
            <a:extLst>
              <a:ext uri="{FF2B5EF4-FFF2-40B4-BE49-F238E27FC236}">
                <a16:creationId xmlns:a16="http://schemas.microsoft.com/office/drawing/2014/main" id="{31E8CD53-399F-7618-13A2-5F57BC7E7EB7}"/>
              </a:ext>
            </a:extLst>
          </p:cNvPr>
          <p:cNvSpPr/>
          <p:nvPr/>
        </p:nvSpPr>
        <p:spPr>
          <a:xfrm>
            <a:off x="4910328" y="3327955"/>
            <a:ext cx="4160520" cy="512064"/>
          </a:xfrm>
          <a:prstGeom prst="rect">
            <a:avLst/>
          </a:prstGeom>
          <a:solidFill>
            <a:srgbClr val="1A3A5C"/>
          </a:solidFill>
          <a:ln/>
        </p:spPr>
        <p:txBody>
          <a:bodyPr/>
          <a:lstStyle/>
          <a:p>
            <a:endParaRPr lang="en-US"/>
          </a:p>
        </p:txBody>
      </p:sp>
      <p:sp>
        <p:nvSpPr>
          <p:cNvPr id="27" name="Shape 25">
            <a:extLst>
              <a:ext uri="{FF2B5EF4-FFF2-40B4-BE49-F238E27FC236}">
                <a16:creationId xmlns:a16="http://schemas.microsoft.com/office/drawing/2014/main" id="{6D2D877F-E3C2-1BB4-2FE6-247EDC9220C3}"/>
              </a:ext>
            </a:extLst>
          </p:cNvPr>
          <p:cNvSpPr/>
          <p:nvPr/>
        </p:nvSpPr>
        <p:spPr>
          <a:xfrm>
            <a:off x="4846320" y="3327955"/>
            <a:ext cx="64008" cy="512064"/>
          </a:xfrm>
          <a:prstGeom prst="rect">
            <a:avLst/>
          </a:prstGeom>
          <a:solidFill>
            <a:srgbClr val="B5D4F4"/>
          </a:solidFill>
          <a:ln/>
        </p:spPr>
        <p:txBody>
          <a:bodyPr/>
          <a:lstStyle/>
          <a:p>
            <a:endParaRPr lang="en-US"/>
          </a:p>
        </p:txBody>
      </p:sp>
      <p:sp>
        <p:nvSpPr>
          <p:cNvPr id="28" name="Text 26">
            <a:extLst>
              <a:ext uri="{FF2B5EF4-FFF2-40B4-BE49-F238E27FC236}">
                <a16:creationId xmlns:a16="http://schemas.microsoft.com/office/drawing/2014/main" id="{0B4C0DCC-C8FC-7D93-A152-234C385C80B7}"/>
              </a:ext>
            </a:extLst>
          </p:cNvPr>
          <p:cNvSpPr/>
          <p:nvPr/>
        </p:nvSpPr>
        <p:spPr>
          <a:xfrm>
            <a:off x="5029200" y="3327955"/>
            <a:ext cx="1737360" cy="512064"/>
          </a:xfrm>
          <a:prstGeom prst="rect">
            <a:avLst/>
          </a:prstGeom>
          <a:noFill/>
          <a:ln/>
        </p:spPr>
        <p:txBody>
          <a:bodyPr wrap="square" lIns="0" tIns="0" rIns="0" bIns="0" rtlCol="0" anchor="ctr"/>
          <a:lstStyle/>
          <a:p>
            <a:pPr marL="0" indent="0">
              <a:buNone/>
            </a:pPr>
            <a:r>
              <a:rPr lang="en-US" sz="1000" b="1" dirty="0">
                <a:solidFill>
                  <a:srgbClr val="B5D4F4"/>
                </a:solidFill>
                <a:latin typeface="Calibri" pitchFamily="34" charset="0"/>
                <a:cs typeface="Calibri" pitchFamily="34" charset="-120"/>
              </a:rPr>
              <a:t>Centralization</a:t>
            </a:r>
            <a:endParaRPr lang="en-US" sz="1000" dirty="0"/>
          </a:p>
        </p:txBody>
      </p:sp>
      <p:sp>
        <p:nvSpPr>
          <p:cNvPr id="29" name="Text 27">
            <a:extLst>
              <a:ext uri="{FF2B5EF4-FFF2-40B4-BE49-F238E27FC236}">
                <a16:creationId xmlns:a16="http://schemas.microsoft.com/office/drawing/2014/main" id="{6AD2446A-3B8D-41A1-4E9A-1DC7385F51C7}"/>
              </a:ext>
            </a:extLst>
          </p:cNvPr>
          <p:cNvSpPr/>
          <p:nvPr/>
        </p:nvSpPr>
        <p:spPr>
          <a:xfrm>
            <a:off x="6839712" y="3327955"/>
            <a:ext cx="2084832" cy="51206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Purchasing, vendor management &amp; renewals, project management</a:t>
            </a:r>
            <a:endParaRPr lang="en-US" sz="950" dirty="0"/>
          </a:p>
        </p:txBody>
      </p:sp>
      <p:sp>
        <p:nvSpPr>
          <p:cNvPr id="33" name="Text 14">
            <a:extLst>
              <a:ext uri="{FF2B5EF4-FFF2-40B4-BE49-F238E27FC236}">
                <a16:creationId xmlns:a16="http://schemas.microsoft.com/office/drawing/2014/main" id="{4BBF8B7A-B41C-C983-BE77-46FBC31D5DAF}"/>
              </a:ext>
            </a:extLst>
          </p:cNvPr>
          <p:cNvSpPr/>
          <p:nvPr/>
        </p:nvSpPr>
        <p:spPr>
          <a:xfrm>
            <a:off x="502920" y="4390256"/>
            <a:ext cx="8229600" cy="572513"/>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We received a demand letter from an individual in CA claiming our website was illegally tracking personal data using tracing technology.  Action steps: 1) notify insurance carrier, 2) notify legal counsel, 3) internal investigation, 4) respond, defend, settlement decision &amp; agreement.</a:t>
            </a:r>
            <a:endParaRPr lang="en-US" sz="1050" dirty="0"/>
          </a:p>
        </p:txBody>
      </p:sp>
      <p:sp>
        <p:nvSpPr>
          <p:cNvPr id="36" name="Shape 0">
            <a:extLst>
              <a:ext uri="{FF2B5EF4-FFF2-40B4-BE49-F238E27FC236}">
                <a16:creationId xmlns:a16="http://schemas.microsoft.com/office/drawing/2014/main" id="{AD726C9E-1BE0-7AF1-E9E0-75CCB2A41B39}"/>
              </a:ext>
            </a:extLst>
          </p:cNvPr>
          <p:cNvSpPr/>
          <p:nvPr/>
        </p:nvSpPr>
        <p:spPr>
          <a:xfrm>
            <a:off x="0" y="0"/>
            <a:ext cx="9144000" cy="1051560"/>
          </a:xfrm>
          <a:prstGeom prst="rect">
            <a:avLst/>
          </a:prstGeom>
          <a:solidFill>
            <a:srgbClr val="028090"/>
          </a:solidFill>
          <a:ln/>
        </p:spPr>
        <p:txBody>
          <a:bodyPr/>
          <a:lstStyle/>
          <a:p>
            <a:endParaRPr lang="en-US"/>
          </a:p>
        </p:txBody>
      </p:sp>
    </p:spTree>
    <p:extLst>
      <p:ext uri="{BB962C8B-B14F-4D97-AF65-F5344CB8AC3E}">
        <p14:creationId xmlns:p14="http://schemas.microsoft.com/office/powerpoint/2010/main" val="4082394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D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2D7DD2"/>
          </a:solidFill>
          <a:ln/>
        </p:spPr>
        <p:txBody>
          <a:bodyPr/>
          <a:lstStyle/>
          <a:p>
            <a:endParaRPr lang="en-US"/>
          </a:p>
        </p:txBody>
      </p:sp>
      <p:sp>
        <p:nvSpPr>
          <p:cNvPr id="4" name="Text 2"/>
          <p:cNvSpPr/>
          <p:nvPr/>
        </p:nvSpPr>
        <p:spPr>
          <a:xfrm>
            <a:off x="457200" y="1325880"/>
            <a:ext cx="82296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Mergers &amp; Acquisitions</a:t>
            </a:r>
            <a:endParaRPr lang="en-US" sz="3400" dirty="0"/>
          </a:p>
        </p:txBody>
      </p:sp>
      <p:sp>
        <p:nvSpPr>
          <p:cNvPr id="5" name="Text 3"/>
          <p:cNvSpPr/>
          <p:nvPr/>
        </p:nvSpPr>
        <p:spPr>
          <a:xfrm>
            <a:off x="457200" y="2331720"/>
            <a:ext cx="7772400" cy="5029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How companies make big, fast strategic moves</a:t>
            </a:r>
            <a:endParaRPr lang="en-US" sz="1600" dirty="0"/>
          </a:p>
        </p:txBody>
      </p:sp>
      <p:sp>
        <p:nvSpPr>
          <p:cNvPr id="6" name="Shape 4"/>
          <p:cNvSpPr/>
          <p:nvPr/>
        </p:nvSpPr>
        <p:spPr>
          <a:xfrm>
            <a:off x="457200" y="2880360"/>
            <a:ext cx="2651760" cy="749808"/>
          </a:xfrm>
          <a:prstGeom prst="rect">
            <a:avLst/>
          </a:prstGeom>
          <a:solidFill>
            <a:srgbClr val="1A3A5C"/>
          </a:solidFill>
          <a:ln/>
        </p:spPr>
        <p:txBody>
          <a:bodyPr/>
          <a:lstStyle/>
          <a:p>
            <a:endParaRPr lang="en-US"/>
          </a:p>
        </p:txBody>
      </p:sp>
      <p:sp>
        <p:nvSpPr>
          <p:cNvPr id="7" name="Shape 5"/>
          <p:cNvSpPr/>
          <p:nvPr/>
        </p:nvSpPr>
        <p:spPr>
          <a:xfrm>
            <a:off x="457200" y="2880360"/>
            <a:ext cx="64008" cy="749808"/>
          </a:xfrm>
          <a:prstGeom prst="rect">
            <a:avLst/>
          </a:prstGeom>
          <a:solidFill>
            <a:srgbClr val="2D7DD2"/>
          </a:solidFill>
          <a:ln/>
        </p:spPr>
        <p:txBody>
          <a:bodyPr/>
          <a:lstStyle/>
          <a:p>
            <a:endParaRPr lang="en-US"/>
          </a:p>
        </p:txBody>
      </p:sp>
      <p:sp>
        <p:nvSpPr>
          <p:cNvPr id="8" name="Text 6"/>
          <p:cNvSpPr/>
          <p:nvPr/>
        </p:nvSpPr>
        <p:spPr>
          <a:xfrm>
            <a:off x="621792" y="2880360"/>
            <a:ext cx="2423160" cy="320040"/>
          </a:xfrm>
          <a:prstGeom prst="rect">
            <a:avLst/>
          </a:prstGeom>
          <a:noFill/>
          <a:ln/>
        </p:spPr>
        <p:txBody>
          <a:bodyPr wrap="square" lIns="0" tIns="0" rIns="0" bIns="0" rtlCol="0" anchor="b"/>
          <a:lstStyle/>
          <a:p>
            <a:pPr marL="0" indent="0">
              <a:buNone/>
            </a:pPr>
            <a:r>
              <a:rPr lang="en-US" sz="1200" b="1" dirty="0">
                <a:solidFill>
                  <a:srgbClr val="B5D4F4"/>
                </a:solidFill>
                <a:latin typeface="Calibri" pitchFamily="34" charset="0"/>
                <a:ea typeface="Calibri" pitchFamily="34" charset="-122"/>
                <a:cs typeface="Calibri" pitchFamily="34" charset="-120"/>
              </a:rPr>
              <a:t>Talent</a:t>
            </a:r>
            <a:endParaRPr lang="en-US" sz="1200" dirty="0"/>
          </a:p>
        </p:txBody>
      </p:sp>
      <p:sp>
        <p:nvSpPr>
          <p:cNvPr id="9" name="Text 7"/>
          <p:cNvSpPr/>
          <p:nvPr/>
        </p:nvSpPr>
        <p:spPr>
          <a:xfrm>
            <a:off x="621792" y="3218688"/>
            <a:ext cx="2423160" cy="384048"/>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Acqui-hire a team you can't recruit fast enough</a:t>
            </a:r>
            <a:endParaRPr lang="en-US" sz="950" dirty="0"/>
          </a:p>
        </p:txBody>
      </p:sp>
      <p:sp>
        <p:nvSpPr>
          <p:cNvPr id="10" name="Shape 8"/>
          <p:cNvSpPr/>
          <p:nvPr/>
        </p:nvSpPr>
        <p:spPr>
          <a:xfrm>
            <a:off x="3291840" y="2880360"/>
            <a:ext cx="2651760" cy="749808"/>
          </a:xfrm>
          <a:prstGeom prst="rect">
            <a:avLst/>
          </a:prstGeom>
          <a:solidFill>
            <a:srgbClr val="1A3A5C"/>
          </a:solidFill>
          <a:ln/>
        </p:spPr>
        <p:txBody>
          <a:bodyPr/>
          <a:lstStyle/>
          <a:p>
            <a:endParaRPr lang="en-US"/>
          </a:p>
        </p:txBody>
      </p:sp>
      <p:sp>
        <p:nvSpPr>
          <p:cNvPr id="11" name="Shape 9"/>
          <p:cNvSpPr/>
          <p:nvPr/>
        </p:nvSpPr>
        <p:spPr>
          <a:xfrm>
            <a:off x="3291840" y="2880360"/>
            <a:ext cx="64008" cy="749808"/>
          </a:xfrm>
          <a:prstGeom prst="rect">
            <a:avLst/>
          </a:prstGeom>
          <a:solidFill>
            <a:srgbClr val="2D7DD2"/>
          </a:solidFill>
          <a:ln/>
        </p:spPr>
        <p:txBody>
          <a:bodyPr/>
          <a:lstStyle/>
          <a:p>
            <a:endParaRPr lang="en-US"/>
          </a:p>
        </p:txBody>
      </p:sp>
      <p:sp>
        <p:nvSpPr>
          <p:cNvPr id="12" name="Text 10"/>
          <p:cNvSpPr/>
          <p:nvPr/>
        </p:nvSpPr>
        <p:spPr>
          <a:xfrm>
            <a:off x="3456432" y="2880360"/>
            <a:ext cx="2423160" cy="320040"/>
          </a:xfrm>
          <a:prstGeom prst="rect">
            <a:avLst/>
          </a:prstGeom>
          <a:noFill/>
          <a:ln/>
        </p:spPr>
        <p:txBody>
          <a:bodyPr wrap="square" lIns="0" tIns="0" rIns="0" bIns="0" rtlCol="0" anchor="b"/>
          <a:lstStyle/>
          <a:p>
            <a:pPr marL="0" indent="0">
              <a:buNone/>
            </a:pPr>
            <a:r>
              <a:rPr lang="en-US" sz="1200" b="1" dirty="0">
                <a:solidFill>
                  <a:srgbClr val="B5D4F4"/>
                </a:solidFill>
                <a:latin typeface="Calibri" pitchFamily="34" charset="0"/>
                <a:ea typeface="Calibri" pitchFamily="34" charset="-122"/>
                <a:cs typeface="Calibri" pitchFamily="34" charset="-120"/>
              </a:rPr>
              <a:t>Technology</a:t>
            </a:r>
            <a:endParaRPr lang="en-US" sz="1200" dirty="0"/>
          </a:p>
        </p:txBody>
      </p:sp>
      <p:sp>
        <p:nvSpPr>
          <p:cNvPr id="13" name="Text 11"/>
          <p:cNvSpPr/>
          <p:nvPr/>
        </p:nvSpPr>
        <p:spPr>
          <a:xfrm>
            <a:off x="3456432" y="3218688"/>
            <a:ext cx="2423160" cy="384048"/>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Buy a product faster than you could build it</a:t>
            </a:r>
            <a:endParaRPr lang="en-US" sz="950" dirty="0"/>
          </a:p>
        </p:txBody>
      </p:sp>
      <p:sp>
        <p:nvSpPr>
          <p:cNvPr id="14" name="Shape 12"/>
          <p:cNvSpPr/>
          <p:nvPr/>
        </p:nvSpPr>
        <p:spPr>
          <a:xfrm>
            <a:off x="6126480" y="2880360"/>
            <a:ext cx="2651760" cy="749808"/>
          </a:xfrm>
          <a:prstGeom prst="rect">
            <a:avLst/>
          </a:prstGeom>
          <a:solidFill>
            <a:srgbClr val="1A3A5C"/>
          </a:solidFill>
          <a:ln/>
        </p:spPr>
        <p:txBody>
          <a:bodyPr/>
          <a:lstStyle/>
          <a:p>
            <a:endParaRPr lang="en-US"/>
          </a:p>
        </p:txBody>
      </p:sp>
      <p:sp>
        <p:nvSpPr>
          <p:cNvPr id="15" name="Shape 13"/>
          <p:cNvSpPr/>
          <p:nvPr/>
        </p:nvSpPr>
        <p:spPr>
          <a:xfrm>
            <a:off x="6126480" y="2880360"/>
            <a:ext cx="64008" cy="749808"/>
          </a:xfrm>
          <a:prstGeom prst="rect">
            <a:avLst/>
          </a:prstGeom>
          <a:solidFill>
            <a:srgbClr val="2D7DD2"/>
          </a:solidFill>
          <a:ln/>
        </p:spPr>
        <p:txBody>
          <a:bodyPr/>
          <a:lstStyle/>
          <a:p>
            <a:endParaRPr lang="en-US"/>
          </a:p>
        </p:txBody>
      </p:sp>
      <p:sp>
        <p:nvSpPr>
          <p:cNvPr id="16" name="Text 14"/>
          <p:cNvSpPr/>
          <p:nvPr/>
        </p:nvSpPr>
        <p:spPr>
          <a:xfrm>
            <a:off x="6291072" y="2880360"/>
            <a:ext cx="2423160" cy="320040"/>
          </a:xfrm>
          <a:prstGeom prst="rect">
            <a:avLst/>
          </a:prstGeom>
          <a:noFill/>
          <a:ln/>
        </p:spPr>
        <p:txBody>
          <a:bodyPr wrap="square" lIns="0" tIns="0" rIns="0" bIns="0" rtlCol="0" anchor="b"/>
          <a:lstStyle/>
          <a:p>
            <a:pPr marL="0" indent="0">
              <a:buNone/>
            </a:pPr>
            <a:r>
              <a:rPr lang="en-US" sz="1200" b="1" dirty="0">
                <a:solidFill>
                  <a:srgbClr val="B5D4F4"/>
                </a:solidFill>
                <a:latin typeface="Calibri" pitchFamily="34" charset="0"/>
                <a:ea typeface="Calibri" pitchFamily="34" charset="-122"/>
                <a:cs typeface="Calibri" pitchFamily="34" charset="-120"/>
              </a:rPr>
              <a:t>Customers</a:t>
            </a:r>
            <a:endParaRPr lang="en-US" sz="1200" dirty="0"/>
          </a:p>
        </p:txBody>
      </p:sp>
      <p:sp>
        <p:nvSpPr>
          <p:cNvPr id="17" name="Text 15"/>
          <p:cNvSpPr/>
          <p:nvPr/>
        </p:nvSpPr>
        <p:spPr>
          <a:xfrm>
            <a:off x="6291072" y="3218688"/>
            <a:ext cx="2423160" cy="384048"/>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Add revenue and relationships instantly</a:t>
            </a:r>
            <a:endParaRPr lang="en-US" sz="950" dirty="0"/>
          </a:p>
        </p:txBody>
      </p:sp>
      <p:sp>
        <p:nvSpPr>
          <p:cNvPr id="18" name="Shape 16"/>
          <p:cNvSpPr/>
          <p:nvPr/>
        </p:nvSpPr>
        <p:spPr>
          <a:xfrm>
            <a:off x="457200" y="3749040"/>
            <a:ext cx="2651760" cy="749808"/>
          </a:xfrm>
          <a:prstGeom prst="rect">
            <a:avLst/>
          </a:prstGeom>
          <a:solidFill>
            <a:srgbClr val="1A3A5C"/>
          </a:solidFill>
          <a:ln/>
        </p:spPr>
        <p:txBody>
          <a:bodyPr/>
          <a:lstStyle/>
          <a:p>
            <a:endParaRPr lang="en-US"/>
          </a:p>
        </p:txBody>
      </p:sp>
      <p:sp>
        <p:nvSpPr>
          <p:cNvPr id="19" name="Shape 17"/>
          <p:cNvSpPr/>
          <p:nvPr/>
        </p:nvSpPr>
        <p:spPr>
          <a:xfrm>
            <a:off x="457200" y="3749040"/>
            <a:ext cx="64008" cy="749808"/>
          </a:xfrm>
          <a:prstGeom prst="rect">
            <a:avLst/>
          </a:prstGeom>
          <a:solidFill>
            <a:srgbClr val="2D7DD2"/>
          </a:solidFill>
          <a:ln/>
        </p:spPr>
        <p:txBody>
          <a:bodyPr/>
          <a:lstStyle/>
          <a:p>
            <a:endParaRPr lang="en-US"/>
          </a:p>
        </p:txBody>
      </p:sp>
      <p:sp>
        <p:nvSpPr>
          <p:cNvPr id="20" name="Text 18"/>
          <p:cNvSpPr/>
          <p:nvPr/>
        </p:nvSpPr>
        <p:spPr>
          <a:xfrm>
            <a:off x="621792" y="3749040"/>
            <a:ext cx="2423160" cy="320040"/>
          </a:xfrm>
          <a:prstGeom prst="rect">
            <a:avLst/>
          </a:prstGeom>
          <a:noFill/>
          <a:ln/>
        </p:spPr>
        <p:txBody>
          <a:bodyPr wrap="square" lIns="0" tIns="0" rIns="0" bIns="0" rtlCol="0" anchor="b"/>
          <a:lstStyle/>
          <a:p>
            <a:pPr marL="0" indent="0">
              <a:buNone/>
            </a:pPr>
            <a:r>
              <a:rPr lang="en-US" sz="1200" b="1" dirty="0">
                <a:solidFill>
                  <a:srgbClr val="B5D4F4"/>
                </a:solidFill>
                <a:latin typeface="Calibri" pitchFamily="34" charset="0"/>
                <a:ea typeface="Calibri" pitchFamily="34" charset="-122"/>
                <a:cs typeface="Calibri" pitchFamily="34" charset="-120"/>
              </a:rPr>
              <a:t>Geography</a:t>
            </a:r>
            <a:endParaRPr lang="en-US" sz="1200" dirty="0"/>
          </a:p>
        </p:txBody>
      </p:sp>
      <p:sp>
        <p:nvSpPr>
          <p:cNvPr id="21" name="Text 19"/>
          <p:cNvSpPr/>
          <p:nvPr/>
        </p:nvSpPr>
        <p:spPr>
          <a:xfrm>
            <a:off x="621792" y="4087368"/>
            <a:ext cx="2423160" cy="384048"/>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Enter a new market by buying a local player</a:t>
            </a:r>
            <a:endParaRPr lang="en-US" sz="950" dirty="0"/>
          </a:p>
        </p:txBody>
      </p:sp>
      <p:sp>
        <p:nvSpPr>
          <p:cNvPr id="22" name="Shape 20"/>
          <p:cNvSpPr/>
          <p:nvPr/>
        </p:nvSpPr>
        <p:spPr>
          <a:xfrm>
            <a:off x="3291840" y="3749040"/>
            <a:ext cx="2651760" cy="749808"/>
          </a:xfrm>
          <a:prstGeom prst="rect">
            <a:avLst/>
          </a:prstGeom>
          <a:solidFill>
            <a:srgbClr val="1A3A5C"/>
          </a:solidFill>
          <a:ln/>
        </p:spPr>
        <p:txBody>
          <a:bodyPr/>
          <a:lstStyle/>
          <a:p>
            <a:endParaRPr lang="en-US"/>
          </a:p>
        </p:txBody>
      </p:sp>
      <p:sp>
        <p:nvSpPr>
          <p:cNvPr id="23" name="Shape 21"/>
          <p:cNvSpPr/>
          <p:nvPr/>
        </p:nvSpPr>
        <p:spPr>
          <a:xfrm>
            <a:off x="3291840" y="3749040"/>
            <a:ext cx="64008" cy="749808"/>
          </a:xfrm>
          <a:prstGeom prst="rect">
            <a:avLst/>
          </a:prstGeom>
          <a:solidFill>
            <a:srgbClr val="2D7DD2"/>
          </a:solidFill>
          <a:ln/>
        </p:spPr>
        <p:txBody>
          <a:bodyPr/>
          <a:lstStyle/>
          <a:p>
            <a:endParaRPr lang="en-US"/>
          </a:p>
        </p:txBody>
      </p:sp>
      <p:sp>
        <p:nvSpPr>
          <p:cNvPr id="24" name="Text 22"/>
          <p:cNvSpPr/>
          <p:nvPr/>
        </p:nvSpPr>
        <p:spPr>
          <a:xfrm>
            <a:off x="3456432" y="3749040"/>
            <a:ext cx="2423160" cy="320040"/>
          </a:xfrm>
          <a:prstGeom prst="rect">
            <a:avLst/>
          </a:prstGeom>
          <a:noFill/>
          <a:ln/>
        </p:spPr>
        <p:txBody>
          <a:bodyPr wrap="square" lIns="0" tIns="0" rIns="0" bIns="0" rtlCol="0" anchor="b"/>
          <a:lstStyle/>
          <a:p>
            <a:pPr marL="0" indent="0">
              <a:buNone/>
            </a:pPr>
            <a:r>
              <a:rPr lang="en-US" sz="1200" b="1" dirty="0">
                <a:solidFill>
                  <a:srgbClr val="B5D4F4"/>
                </a:solidFill>
                <a:latin typeface="Calibri" pitchFamily="34" charset="0"/>
                <a:ea typeface="Calibri" pitchFamily="34" charset="-122"/>
                <a:cs typeface="Calibri" pitchFamily="34" charset="-120"/>
              </a:rPr>
              <a:t>Consolidation</a:t>
            </a:r>
            <a:endParaRPr lang="en-US" sz="1200" dirty="0"/>
          </a:p>
        </p:txBody>
      </p:sp>
      <p:sp>
        <p:nvSpPr>
          <p:cNvPr id="25" name="Text 23"/>
          <p:cNvSpPr/>
          <p:nvPr/>
        </p:nvSpPr>
        <p:spPr>
          <a:xfrm>
            <a:off x="3456432" y="4087368"/>
            <a:ext cx="2423160" cy="384048"/>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Buy a competitor; gain market share</a:t>
            </a:r>
            <a:endParaRPr lang="en-US" sz="950" dirty="0"/>
          </a:p>
        </p:txBody>
      </p:sp>
      <p:sp>
        <p:nvSpPr>
          <p:cNvPr id="26" name="Shape 24"/>
          <p:cNvSpPr/>
          <p:nvPr/>
        </p:nvSpPr>
        <p:spPr>
          <a:xfrm>
            <a:off x="6126480" y="3749040"/>
            <a:ext cx="2651760" cy="749808"/>
          </a:xfrm>
          <a:prstGeom prst="rect">
            <a:avLst/>
          </a:prstGeom>
          <a:solidFill>
            <a:srgbClr val="1A3A5C"/>
          </a:solidFill>
          <a:ln/>
        </p:spPr>
        <p:txBody>
          <a:bodyPr/>
          <a:lstStyle/>
          <a:p>
            <a:endParaRPr lang="en-US"/>
          </a:p>
        </p:txBody>
      </p:sp>
      <p:sp>
        <p:nvSpPr>
          <p:cNvPr id="27" name="Shape 25"/>
          <p:cNvSpPr/>
          <p:nvPr/>
        </p:nvSpPr>
        <p:spPr>
          <a:xfrm>
            <a:off x="6126480" y="3749040"/>
            <a:ext cx="64008" cy="749808"/>
          </a:xfrm>
          <a:prstGeom prst="rect">
            <a:avLst/>
          </a:prstGeom>
          <a:solidFill>
            <a:srgbClr val="2D7DD2"/>
          </a:solidFill>
          <a:ln/>
        </p:spPr>
        <p:txBody>
          <a:bodyPr/>
          <a:lstStyle/>
          <a:p>
            <a:endParaRPr lang="en-US"/>
          </a:p>
        </p:txBody>
      </p:sp>
      <p:sp>
        <p:nvSpPr>
          <p:cNvPr id="28" name="Text 26"/>
          <p:cNvSpPr/>
          <p:nvPr/>
        </p:nvSpPr>
        <p:spPr>
          <a:xfrm>
            <a:off x="6291072" y="3749040"/>
            <a:ext cx="2423160" cy="320040"/>
          </a:xfrm>
          <a:prstGeom prst="rect">
            <a:avLst/>
          </a:prstGeom>
          <a:noFill/>
          <a:ln/>
        </p:spPr>
        <p:txBody>
          <a:bodyPr wrap="square" lIns="0" tIns="0" rIns="0" bIns="0" rtlCol="0" anchor="b"/>
          <a:lstStyle/>
          <a:p>
            <a:pPr marL="0" indent="0">
              <a:buNone/>
            </a:pPr>
            <a:r>
              <a:rPr lang="en-US" sz="1200" b="1" dirty="0">
                <a:solidFill>
                  <a:srgbClr val="B5D4F4"/>
                </a:solidFill>
                <a:latin typeface="Calibri" pitchFamily="34" charset="0"/>
                <a:ea typeface="Calibri" pitchFamily="34" charset="-122"/>
                <a:cs typeface="Calibri" pitchFamily="34" charset="-120"/>
              </a:rPr>
              <a:t>Exit / liquidity</a:t>
            </a:r>
            <a:endParaRPr lang="en-US" sz="1200" dirty="0"/>
          </a:p>
        </p:txBody>
      </p:sp>
      <p:sp>
        <p:nvSpPr>
          <p:cNvPr id="29" name="Text 27"/>
          <p:cNvSpPr/>
          <p:nvPr/>
        </p:nvSpPr>
        <p:spPr>
          <a:xfrm>
            <a:off x="6291072" y="4087368"/>
            <a:ext cx="2423160" cy="384048"/>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Founders or investors want to cash out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8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D7DD2"/>
          </a:solidFill>
          <a:ln/>
        </p:spPr>
        <p:txBody>
          <a:bodyPr/>
          <a:lstStyle/>
          <a:p>
            <a:endParaRPr lang="en-US"/>
          </a:p>
        </p:txBody>
      </p:sp>
      <p:sp>
        <p:nvSpPr>
          <p:cNvPr id="3" name="Text 1"/>
          <p:cNvSpPr/>
          <p:nvPr/>
        </p:nvSpPr>
        <p:spPr>
          <a:xfrm>
            <a:off x="365760" y="54864"/>
            <a:ext cx="68580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How an M&amp;A Deal Works — The Process</a:t>
            </a:r>
            <a:endParaRPr lang="en-US" sz="1800" dirty="0"/>
          </a:p>
        </p:txBody>
      </p:sp>
      <p:sp>
        <p:nvSpPr>
          <p:cNvPr id="4" name="Text 2"/>
          <p:cNvSpPr/>
          <p:nvPr/>
        </p:nvSpPr>
        <p:spPr>
          <a:xfrm>
            <a:off x="365760" y="658368"/>
            <a:ext cx="8412480" cy="34747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From first call to integration — 5 phases, 4–6 months</a:t>
            </a:r>
            <a:endParaRPr lang="en-US" sz="1200" dirty="0"/>
          </a:p>
        </p:txBody>
      </p:sp>
      <p:sp>
        <p:nvSpPr>
          <p:cNvPr id="5" name="Shape 3"/>
          <p:cNvSpPr/>
          <p:nvPr/>
        </p:nvSpPr>
        <p:spPr>
          <a:xfrm>
            <a:off x="274320" y="1115568"/>
            <a:ext cx="1600200" cy="3337560"/>
          </a:xfrm>
          <a:prstGeom prst="rect">
            <a:avLst/>
          </a:prstGeom>
          <a:solidFill>
            <a:srgbClr val="B5D4F4"/>
          </a:solidFill>
          <a:ln/>
        </p:spPr>
        <p:txBody>
          <a:bodyPr/>
          <a:lstStyle/>
          <a:p>
            <a:endParaRPr lang="en-US"/>
          </a:p>
        </p:txBody>
      </p:sp>
      <p:sp>
        <p:nvSpPr>
          <p:cNvPr id="6" name="Text 4"/>
          <p:cNvSpPr/>
          <p:nvPr/>
        </p:nvSpPr>
        <p:spPr>
          <a:xfrm>
            <a:off x="274320" y="1188720"/>
            <a:ext cx="1600200" cy="502920"/>
          </a:xfrm>
          <a:prstGeom prst="rect">
            <a:avLst/>
          </a:prstGeom>
          <a:noFill/>
          <a:ln/>
        </p:spPr>
        <p:txBody>
          <a:bodyPr wrap="square" lIns="0" tIns="0" rIns="0" bIns="0" rtlCol="0" anchor="ctr"/>
          <a:lstStyle/>
          <a:p>
            <a:pPr marL="0" indent="0" algn="ctr">
              <a:buNone/>
            </a:pPr>
            <a:r>
              <a:rPr lang="en-US" sz="2800" b="1" dirty="0">
                <a:solidFill>
                  <a:srgbClr val="0D2240"/>
                </a:solidFill>
                <a:latin typeface="Calibri" pitchFamily="34" charset="0"/>
                <a:ea typeface="Calibri" pitchFamily="34" charset="-122"/>
                <a:cs typeface="Calibri" pitchFamily="34" charset="-120"/>
              </a:rPr>
              <a:t>1</a:t>
            </a:r>
            <a:endParaRPr lang="en-US" sz="2800" dirty="0"/>
          </a:p>
        </p:txBody>
      </p:sp>
      <p:sp>
        <p:nvSpPr>
          <p:cNvPr id="7" name="Text 5"/>
          <p:cNvSpPr/>
          <p:nvPr/>
        </p:nvSpPr>
        <p:spPr>
          <a:xfrm>
            <a:off x="274320" y="1719072"/>
            <a:ext cx="1600200" cy="347472"/>
          </a:xfrm>
          <a:prstGeom prst="rect">
            <a:avLst/>
          </a:prstGeom>
          <a:noFill/>
          <a:ln/>
        </p:spPr>
        <p:txBody>
          <a:bodyPr wrap="square" lIns="0" tIns="0" rIns="0" bIns="0" rtlCol="0" anchor="ctr"/>
          <a:lstStyle/>
          <a:p>
            <a:pPr marL="0" indent="0" algn="ctr">
              <a:buNone/>
            </a:pPr>
            <a:r>
              <a:rPr lang="en-US" sz="1200" b="1" dirty="0">
                <a:solidFill>
                  <a:srgbClr val="0D2240"/>
                </a:solidFill>
                <a:latin typeface="Calibri" pitchFamily="34" charset="0"/>
                <a:ea typeface="Calibri" pitchFamily="34" charset="-122"/>
                <a:cs typeface="Calibri" pitchFamily="34" charset="-120"/>
              </a:rPr>
              <a:t>Origination</a:t>
            </a:r>
            <a:endParaRPr lang="en-US" sz="1200" dirty="0"/>
          </a:p>
        </p:txBody>
      </p:sp>
      <p:sp>
        <p:nvSpPr>
          <p:cNvPr id="8" name="Text 6"/>
          <p:cNvSpPr/>
          <p:nvPr/>
        </p:nvSpPr>
        <p:spPr>
          <a:xfrm>
            <a:off x="274320" y="2084832"/>
            <a:ext cx="1600200" cy="256032"/>
          </a:xfrm>
          <a:prstGeom prst="rect">
            <a:avLst/>
          </a:prstGeom>
          <a:noFill/>
          <a:ln/>
        </p:spPr>
        <p:txBody>
          <a:bodyPr wrap="square" lIns="0" tIns="0" rIns="0" bIns="0" rtlCol="0" anchor="ctr"/>
          <a:lstStyle/>
          <a:p>
            <a:pPr marL="0" indent="0" algn="ctr">
              <a:buNone/>
            </a:pPr>
            <a:r>
              <a:rPr lang="en-US" sz="900" dirty="0">
                <a:solidFill>
                  <a:srgbClr val="1A3A5C"/>
                </a:solidFill>
                <a:latin typeface="Calibri" pitchFamily="34" charset="0"/>
                <a:ea typeface="Calibri" pitchFamily="34" charset="-122"/>
                <a:cs typeface="Calibri" pitchFamily="34" charset="-120"/>
              </a:rPr>
              <a:t>Wks 1–4</a:t>
            </a:r>
            <a:endParaRPr lang="en-US" sz="900" dirty="0"/>
          </a:p>
        </p:txBody>
      </p:sp>
      <p:sp>
        <p:nvSpPr>
          <p:cNvPr id="9" name="Shape 7"/>
          <p:cNvSpPr/>
          <p:nvPr/>
        </p:nvSpPr>
        <p:spPr>
          <a:xfrm>
            <a:off x="502920" y="2423160"/>
            <a:ext cx="1143000" cy="0"/>
          </a:xfrm>
          <a:prstGeom prst="line">
            <a:avLst/>
          </a:prstGeom>
          <a:noFill/>
          <a:ln w="9525">
            <a:solidFill>
              <a:srgbClr val="1A3A5C"/>
            </a:solidFill>
            <a:prstDash val="solid"/>
          </a:ln>
        </p:spPr>
        <p:txBody>
          <a:bodyPr/>
          <a:lstStyle/>
          <a:p>
            <a:endParaRPr lang="en-US"/>
          </a:p>
        </p:txBody>
      </p:sp>
      <p:sp>
        <p:nvSpPr>
          <p:cNvPr id="10" name="Text 8"/>
          <p:cNvSpPr/>
          <p:nvPr/>
        </p:nvSpPr>
        <p:spPr>
          <a:xfrm>
            <a:off x="365760" y="2487168"/>
            <a:ext cx="1417320" cy="1874520"/>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Target identified. NDA signed. Strategic fit assessed.</a:t>
            </a:r>
            <a:endParaRPr lang="en-US" sz="900" dirty="0"/>
          </a:p>
        </p:txBody>
      </p:sp>
      <p:sp>
        <p:nvSpPr>
          <p:cNvPr id="11" name="Shape 9"/>
          <p:cNvSpPr/>
          <p:nvPr/>
        </p:nvSpPr>
        <p:spPr>
          <a:xfrm>
            <a:off x="2011680" y="1115568"/>
            <a:ext cx="1600200" cy="3337560"/>
          </a:xfrm>
          <a:prstGeom prst="rect">
            <a:avLst/>
          </a:prstGeom>
          <a:solidFill>
            <a:srgbClr val="9FE1CB"/>
          </a:solidFill>
          <a:ln/>
        </p:spPr>
        <p:txBody>
          <a:bodyPr/>
          <a:lstStyle/>
          <a:p>
            <a:endParaRPr lang="en-US"/>
          </a:p>
        </p:txBody>
      </p:sp>
      <p:sp>
        <p:nvSpPr>
          <p:cNvPr id="12" name="Text 10"/>
          <p:cNvSpPr/>
          <p:nvPr/>
        </p:nvSpPr>
        <p:spPr>
          <a:xfrm>
            <a:off x="2011680" y="1188720"/>
            <a:ext cx="1600200" cy="502920"/>
          </a:xfrm>
          <a:prstGeom prst="rect">
            <a:avLst/>
          </a:prstGeom>
          <a:noFill/>
          <a:ln/>
        </p:spPr>
        <p:txBody>
          <a:bodyPr wrap="square" lIns="0" tIns="0" rIns="0" bIns="0" rtlCol="0" anchor="ctr"/>
          <a:lstStyle/>
          <a:p>
            <a:pPr marL="0" indent="0" algn="ctr">
              <a:buNone/>
            </a:pPr>
            <a:r>
              <a:rPr lang="en-US" sz="2800" b="1" dirty="0">
                <a:solidFill>
                  <a:srgbClr val="0D2240"/>
                </a:solidFill>
                <a:latin typeface="Calibri" pitchFamily="34" charset="0"/>
                <a:ea typeface="Calibri" pitchFamily="34" charset="-122"/>
                <a:cs typeface="Calibri" pitchFamily="34" charset="-120"/>
              </a:rPr>
              <a:t>2</a:t>
            </a:r>
            <a:endParaRPr lang="en-US" sz="2800" dirty="0"/>
          </a:p>
        </p:txBody>
      </p:sp>
      <p:sp>
        <p:nvSpPr>
          <p:cNvPr id="13" name="Text 11"/>
          <p:cNvSpPr/>
          <p:nvPr/>
        </p:nvSpPr>
        <p:spPr>
          <a:xfrm>
            <a:off x="2011680" y="1719072"/>
            <a:ext cx="1600200" cy="347472"/>
          </a:xfrm>
          <a:prstGeom prst="rect">
            <a:avLst/>
          </a:prstGeom>
          <a:noFill/>
          <a:ln/>
        </p:spPr>
        <p:txBody>
          <a:bodyPr wrap="square" lIns="0" tIns="0" rIns="0" bIns="0" rtlCol="0" anchor="ctr"/>
          <a:lstStyle/>
          <a:p>
            <a:pPr marL="0" indent="0" algn="ctr">
              <a:buNone/>
            </a:pPr>
            <a:r>
              <a:rPr lang="en-US" sz="1200" b="1" dirty="0">
                <a:solidFill>
                  <a:srgbClr val="0D2240"/>
                </a:solidFill>
                <a:latin typeface="Calibri" pitchFamily="34" charset="0"/>
                <a:ea typeface="Calibri" pitchFamily="34" charset="-122"/>
                <a:cs typeface="Calibri" pitchFamily="34" charset="-120"/>
              </a:rPr>
              <a:t>LOI</a:t>
            </a:r>
            <a:endParaRPr lang="en-US" sz="1200" dirty="0"/>
          </a:p>
        </p:txBody>
      </p:sp>
      <p:sp>
        <p:nvSpPr>
          <p:cNvPr id="14" name="Text 12"/>
          <p:cNvSpPr/>
          <p:nvPr/>
        </p:nvSpPr>
        <p:spPr>
          <a:xfrm>
            <a:off x="2011680" y="2084832"/>
            <a:ext cx="1600200" cy="256032"/>
          </a:xfrm>
          <a:prstGeom prst="rect">
            <a:avLst/>
          </a:prstGeom>
          <a:noFill/>
          <a:ln/>
        </p:spPr>
        <p:txBody>
          <a:bodyPr wrap="square" lIns="0" tIns="0" rIns="0" bIns="0" rtlCol="0" anchor="ctr"/>
          <a:lstStyle/>
          <a:p>
            <a:pPr marL="0" indent="0" algn="ctr">
              <a:buNone/>
            </a:pPr>
            <a:r>
              <a:rPr lang="en-US" sz="900" dirty="0">
                <a:solidFill>
                  <a:srgbClr val="1A3A5C"/>
                </a:solidFill>
                <a:latin typeface="Calibri" pitchFamily="34" charset="0"/>
                <a:ea typeface="Calibri" pitchFamily="34" charset="-122"/>
                <a:cs typeface="Calibri" pitchFamily="34" charset="-120"/>
              </a:rPr>
              <a:t>Wks 4–8</a:t>
            </a:r>
            <a:endParaRPr lang="en-US" sz="900" dirty="0"/>
          </a:p>
        </p:txBody>
      </p:sp>
      <p:sp>
        <p:nvSpPr>
          <p:cNvPr id="15" name="Shape 13"/>
          <p:cNvSpPr/>
          <p:nvPr/>
        </p:nvSpPr>
        <p:spPr>
          <a:xfrm>
            <a:off x="2240280" y="2423160"/>
            <a:ext cx="1143000" cy="0"/>
          </a:xfrm>
          <a:prstGeom prst="line">
            <a:avLst/>
          </a:prstGeom>
          <a:noFill/>
          <a:ln w="9525">
            <a:solidFill>
              <a:srgbClr val="1A3A5C"/>
            </a:solidFill>
            <a:prstDash val="solid"/>
          </a:ln>
        </p:spPr>
        <p:txBody>
          <a:bodyPr/>
          <a:lstStyle/>
          <a:p>
            <a:endParaRPr lang="en-US"/>
          </a:p>
        </p:txBody>
      </p:sp>
      <p:sp>
        <p:nvSpPr>
          <p:cNvPr id="16" name="Text 14"/>
          <p:cNvSpPr/>
          <p:nvPr/>
        </p:nvSpPr>
        <p:spPr>
          <a:xfrm>
            <a:off x="2103120" y="2487168"/>
            <a:ext cx="1417320" cy="1874520"/>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Buyer proposes price range (EBITDA or revenue multiple). Letter of intent signed.</a:t>
            </a:r>
            <a:endParaRPr lang="en-US" sz="900" dirty="0"/>
          </a:p>
        </p:txBody>
      </p:sp>
      <p:sp>
        <p:nvSpPr>
          <p:cNvPr id="17" name="Shape 15"/>
          <p:cNvSpPr/>
          <p:nvPr/>
        </p:nvSpPr>
        <p:spPr>
          <a:xfrm>
            <a:off x="3749040" y="1115568"/>
            <a:ext cx="1600200" cy="3337560"/>
          </a:xfrm>
          <a:prstGeom prst="rect">
            <a:avLst/>
          </a:prstGeom>
          <a:solidFill>
            <a:srgbClr val="FAC775"/>
          </a:solidFill>
          <a:ln/>
        </p:spPr>
        <p:txBody>
          <a:bodyPr/>
          <a:lstStyle/>
          <a:p>
            <a:endParaRPr lang="en-US"/>
          </a:p>
        </p:txBody>
      </p:sp>
      <p:sp>
        <p:nvSpPr>
          <p:cNvPr id="18" name="Text 16"/>
          <p:cNvSpPr/>
          <p:nvPr/>
        </p:nvSpPr>
        <p:spPr>
          <a:xfrm>
            <a:off x="3749040" y="1188720"/>
            <a:ext cx="1600200" cy="502920"/>
          </a:xfrm>
          <a:prstGeom prst="rect">
            <a:avLst/>
          </a:prstGeom>
          <a:noFill/>
          <a:ln/>
        </p:spPr>
        <p:txBody>
          <a:bodyPr wrap="square" lIns="0" tIns="0" rIns="0" bIns="0" rtlCol="0" anchor="ctr"/>
          <a:lstStyle/>
          <a:p>
            <a:pPr marL="0" indent="0" algn="ctr">
              <a:buNone/>
            </a:pPr>
            <a:r>
              <a:rPr lang="en-US" sz="2800" b="1" dirty="0">
                <a:solidFill>
                  <a:srgbClr val="0D2240"/>
                </a:solidFill>
                <a:latin typeface="Calibri" pitchFamily="34" charset="0"/>
                <a:ea typeface="Calibri" pitchFamily="34" charset="-122"/>
                <a:cs typeface="Calibri" pitchFamily="34" charset="-120"/>
              </a:rPr>
              <a:t>3</a:t>
            </a:r>
            <a:endParaRPr lang="en-US" sz="2800" dirty="0"/>
          </a:p>
        </p:txBody>
      </p:sp>
      <p:sp>
        <p:nvSpPr>
          <p:cNvPr id="19" name="Text 17"/>
          <p:cNvSpPr/>
          <p:nvPr/>
        </p:nvSpPr>
        <p:spPr>
          <a:xfrm>
            <a:off x="3749040" y="1719072"/>
            <a:ext cx="1600200" cy="347472"/>
          </a:xfrm>
          <a:prstGeom prst="rect">
            <a:avLst/>
          </a:prstGeom>
          <a:noFill/>
          <a:ln/>
        </p:spPr>
        <p:txBody>
          <a:bodyPr wrap="square" lIns="0" tIns="0" rIns="0" bIns="0" rtlCol="0" anchor="ctr"/>
          <a:lstStyle/>
          <a:p>
            <a:pPr marL="0" indent="0" algn="ctr">
              <a:buNone/>
            </a:pPr>
            <a:r>
              <a:rPr lang="en-US" sz="1200" b="1" dirty="0">
                <a:solidFill>
                  <a:srgbClr val="0D2240"/>
                </a:solidFill>
                <a:latin typeface="Calibri" pitchFamily="34" charset="0"/>
                <a:ea typeface="Calibri" pitchFamily="34" charset="-122"/>
                <a:cs typeface="Calibri" pitchFamily="34" charset="-120"/>
              </a:rPr>
              <a:t>Due Diligence</a:t>
            </a:r>
            <a:endParaRPr lang="en-US" sz="1200" dirty="0"/>
          </a:p>
        </p:txBody>
      </p:sp>
      <p:sp>
        <p:nvSpPr>
          <p:cNvPr id="20" name="Text 18"/>
          <p:cNvSpPr/>
          <p:nvPr/>
        </p:nvSpPr>
        <p:spPr>
          <a:xfrm>
            <a:off x="3749040" y="2084832"/>
            <a:ext cx="1600200" cy="256032"/>
          </a:xfrm>
          <a:prstGeom prst="rect">
            <a:avLst/>
          </a:prstGeom>
          <a:noFill/>
          <a:ln/>
        </p:spPr>
        <p:txBody>
          <a:bodyPr wrap="square" lIns="0" tIns="0" rIns="0" bIns="0" rtlCol="0" anchor="ctr"/>
          <a:lstStyle/>
          <a:p>
            <a:pPr marL="0" indent="0" algn="ctr">
              <a:buNone/>
            </a:pPr>
            <a:r>
              <a:rPr lang="en-US" sz="900" dirty="0">
                <a:solidFill>
                  <a:srgbClr val="1A3A5C"/>
                </a:solidFill>
                <a:latin typeface="Calibri" pitchFamily="34" charset="0"/>
                <a:ea typeface="Calibri" pitchFamily="34" charset="-122"/>
                <a:cs typeface="Calibri" pitchFamily="34" charset="-120"/>
              </a:rPr>
              <a:t>Wks 8–16</a:t>
            </a:r>
            <a:endParaRPr lang="en-US" sz="900" dirty="0"/>
          </a:p>
        </p:txBody>
      </p:sp>
      <p:sp>
        <p:nvSpPr>
          <p:cNvPr id="21" name="Shape 19"/>
          <p:cNvSpPr/>
          <p:nvPr/>
        </p:nvSpPr>
        <p:spPr>
          <a:xfrm>
            <a:off x="3977640" y="2423160"/>
            <a:ext cx="1143000" cy="0"/>
          </a:xfrm>
          <a:prstGeom prst="line">
            <a:avLst/>
          </a:prstGeom>
          <a:noFill/>
          <a:ln w="9525">
            <a:solidFill>
              <a:srgbClr val="1A3A5C"/>
            </a:solidFill>
            <a:prstDash val="solid"/>
          </a:ln>
        </p:spPr>
        <p:txBody>
          <a:bodyPr/>
          <a:lstStyle/>
          <a:p>
            <a:endParaRPr lang="en-US"/>
          </a:p>
        </p:txBody>
      </p:sp>
      <p:sp>
        <p:nvSpPr>
          <p:cNvPr id="22" name="Text 20"/>
          <p:cNvSpPr/>
          <p:nvPr/>
        </p:nvSpPr>
        <p:spPr>
          <a:xfrm>
            <a:off x="3840480" y="2487168"/>
            <a:ext cx="1417320" cy="1874520"/>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Financial, legal, tax, and technical verification. Deal price can shift.</a:t>
            </a:r>
            <a:endParaRPr lang="en-US" sz="900" dirty="0"/>
          </a:p>
        </p:txBody>
      </p:sp>
      <p:sp>
        <p:nvSpPr>
          <p:cNvPr id="23" name="Shape 21"/>
          <p:cNvSpPr/>
          <p:nvPr/>
        </p:nvSpPr>
        <p:spPr>
          <a:xfrm>
            <a:off x="5486400" y="1115568"/>
            <a:ext cx="1600200" cy="3337560"/>
          </a:xfrm>
          <a:prstGeom prst="rect">
            <a:avLst/>
          </a:prstGeom>
          <a:solidFill>
            <a:srgbClr val="1A3A5C"/>
          </a:solidFill>
          <a:ln/>
        </p:spPr>
        <p:txBody>
          <a:bodyPr/>
          <a:lstStyle/>
          <a:p>
            <a:endParaRPr lang="en-US"/>
          </a:p>
        </p:txBody>
      </p:sp>
      <p:sp>
        <p:nvSpPr>
          <p:cNvPr id="24" name="Text 22"/>
          <p:cNvSpPr/>
          <p:nvPr/>
        </p:nvSpPr>
        <p:spPr>
          <a:xfrm>
            <a:off x="5486400" y="1188720"/>
            <a:ext cx="1600200" cy="502920"/>
          </a:xfrm>
          <a:prstGeom prst="rect">
            <a:avLst/>
          </a:prstGeom>
          <a:noFill/>
          <a:ln/>
        </p:spPr>
        <p:txBody>
          <a:bodyPr wrap="square" lIns="0" tIns="0" rIns="0" bIns="0" rtlCol="0" anchor="ctr"/>
          <a:lstStyle/>
          <a:p>
            <a:pPr marL="0" indent="0" algn="ctr">
              <a:buNone/>
            </a:pPr>
            <a:r>
              <a:rPr lang="en-US" sz="2800" b="1" dirty="0">
                <a:solidFill>
                  <a:srgbClr val="B5D4F4"/>
                </a:solidFill>
                <a:latin typeface="Calibri" pitchFamily="34" charset="0"/>
                <a:ea typeface="Calibri" pitchFamily="34" charset="-122"/>
                <a:cs typeface="Calibri" pitchFamily="34" charset="-120"/>
              </a:rPr>
              <a:t>4</a:t>
            </a:r>
            <a:endParaRPr lang="en-US" sz="2800" dirty="0"/>
          </a:p>
        </p:txBody>
      </p:sp>
      <p:sp>
        <p:nvSpPr>
          <p:cNvPr id="25" name="Text 23"/>
          <p:cNvSpPr/>
          <p:nvPr/>
        </p:nvSpPr>
        <p:spPr>
          <a:xfrm>
            <a:off x="5486400" y="1719072"/>
            <a:ext cx="16002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Close</a:t>
            </a:r>
            <a:endParaRPr lang="en-US" sz="1200" dirty="0"/>
          </a:p>
        </p:txBody>
      </p:sp>
      <p:sp>
        <p:nvSpPr>
          <p:cNvPr id="26" name="Text 24"/>
          <p:cNvSpPr/>
          <p:nvPr/>
        </p:nvSpPr>
        <p:spPr>
          <a:xfrm>
            <a:off x="5486400" y="2084832"/>
            <a:ext cx="1600200" cy="256032"/>
          </a:xfrm>
          <a:prstGeom prst="rect">
            <a:avLst/>
          </a:prstGeom>
          <a:noFill/>
          <a:ln/>
        </p:spPr>
        <p:txBody>
          <a:bodyPr wrap="square" lIns="0" tIns="0" rIns="0" bIns="0" rtlCol="0" anchor="ctr"/>
          <a:lstStyle/>
          <a:p>
            <a:pPr marL="0" indent="0" algn="ctr">
              <a:buNone/>
            </a:pPr>
            <a:r>
              <a:rPr lang="en-US" sz="900" dirty="0">
                <a:solidFill>
                  <a:srgbClr val="B5D4F4"/>
                </a:solidFill>
                <a:latin typeface="Calibri" pitchFamily="34" charset="0"/>
                <a:ea typeface="Calibri" pitchFamily="34" charset="-122"/>
                <a:cs typeface="Calibri" pitchFamily="34" charset="-120"/>
              </a:rPr>
              <a:t>Wks 14–20</a:t>
            </a:r>
            <a:endParaRPr lang="en-US" sz="900" dirty="0"/>
          </a:p>
        </p:txBody>
      </p:sp>
      <p:sp>
        <p:nvSpPr>
          <p:cNvPr id="27" name="Shape 25"/>
          <p:cNvSpPr/>
          <p:nvPr/>
        </p:nvSpPr>
        <p:spPr>
          <a:xfrm>
            <a:off x="5715000" y="2423160"/>
            <a:ext cx="1143000" cy="0"/>
          </a:xfrm>
          <a:prstGeom prst="line">
            <a:avLst/>
          </a:prstGeom>
          <a:noFill/>
          <a:ln w="9525">
            <a:solidFill>
              <a:srgbClr val="B5D4F4"/>
            </a:solidFill>
            <a:prstDash val="solid"/>
          </a:ln>
        </p:spPr>
        <p:txBody>
          <a:bodyPr/>
          <a:lstStyle/>
          <a:p>
            <a:endParaRPr lang="en-US"/>
          </a:p>
        </p:txBody>
      </p:sp>
      <p:sp>
        <p:nvSpPr>
          <p:cNvPr id="28" name="Text 26"/>
          <p:cNvSpPr/>
          <p:nvPr/>
        </p:nvSpPr>
        <p:spPr>
          <a:xfrm>
            <a:off x="5577840" y="2487168"/>
            <a:ext cx="1417320" cy="1874520"/>
          </a:xfrm>
          <a:prstGeom prst="rect">
            <a:avLst/>
          </a:prstGeom>
          <a:noFill/>
          <a:ln/>
        </p:spPr>
        <p:txBody>
          <a:bodyPr wrap="square" lIns="0" tIns="0" rIns="0" bIns="0" rtlCol="0" anchor="t"/>
          <a:lstStyle/>
          <a:p>
            <a:pPr marL="0" indent="0">
              <a:buNone/>
            </a:pPr>
            <a:r>
              <a:rPr lang="en-US" sz="900" dirty="0">
                <a:solidFill>
                  <a:srgbClr val="FFFFFF"/>
                </a:solidFill>
                <a:latin typeface="Calibri" pitchFamily="34" charset="0"/>
                <a:ea typeface="Calibri" pitchFamily="34" charset="-122"/>
                <a:cs typeface="Calibri" pitchFamily="34" charset="-120"/>
              </a:rPr>
              <a:t>Purchase agreement signed. Reps &amp; warranties. Escrow holdback. Wire transfer.</a:t>
            </a:r>
            <a:endParaRPr lang="en-US" sz="900" dirty="0"/>
          </a:p>
        </p:txBody>
      </p:sp>
      <p:sp>
        <p:nvSpPr>
          <p:cNvPr id="29" name="Shape 27"/>
          <p:cNvSpPr/>
          <p:nvPr/>
        </p:nvSpPr>
        <p:spPr>
          <a:xfrm>
            <a:off x="7223760" y="1115568"/>
            <a:ext cx="1600200" cy="3337560"/>
          </a:xfrm>
          <a:prstGeom prst="rect">
            <a:avLst/>
          </a:prstGeom>
          <a:solidFill>
            <a:srgbClr val="0D2240"/>
          </a:solidFill>
          <a:ln/>
        </p:spPr>
        <p:txBody>
          <a:bodyPr/>
          <a:lstStyle/>
          <a:p>
            <a:endParaRPr lang="en-US"/>
          </a:p>
        </p:txBody>
      </p:sp>
      <p:sp>
        <p:nvSpPr>
          <p:cNvPr id="30" name="Text 28"/>
          <p:cNvSpPr/>
          <p:nvPr/>
        </p:nvSpPr>
        <p:spPr>
          <a:xfrm>
            <a:off x="7223760" y="1188720"/>
            <a:ext cx="1600200" cy="502920"/>
          </a:xfrm>
          <a:prstGeom prst="rect">
            <a:avLst/>
          </a:prstGeom>
          <a:noFill/>
          <a:ln/>
        </p:spPr>
        <p:txBody>
          <a:bodyPr wrap="square" lIns="0" tIns="0" rIns="0" bIns="0" rtlCol="0" anchor="ctr"/>
          <a:lstStyle/>
          <a:p>
            <a:pPr marL="0" indent="0" algn="ctr">
              <a:buNone/>
            </a:pPr>
            <a:r>
              <a:rPr lang="en-US" sz="2800" b="1" dirty="0">
                <a:solidFill>
                  <a:srgbClr val="B5D4F4"/>
                </a:solidFill>
                <a:latin typeface="Calibri" pitchFamily="34" charset="0"/>
                <a:ea typeface="Calibri" pitchFamily="34" charset="-122"/>
                <a:cs typeface="Calibri" pitchFamily="34" charset="-120"/>
              </a:rPr>
              <a:t>5</a:t>
            </a:r>
            <a:endParaRPr lang="en-US" sz="2800" dirty="0"/>
          </a:p>
        </p:txBody>
      </p:sp>
      <p:sp>
        <p:nvSpPr>
          <p:cNvPr id="31" name="Text 29"/>
          <p:cNvSpPr/>
          <p:nvPr/>
        </p:nvSpPr>
        <p:spPr>
          <a:xfrm>
            <a:off x="7223760" y="1719072"/>
            <a:ext cx="16002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Integration</a:t>
            </a:r>
            <a:endParaRPr lang="en-US" sz="1200" dirty="0"/>
          </a:p>
        </p:txBody>
      </p:sp>
      <p:sp>
        <p:nvSpPr>
          <p:cNvPr id="32" name="Text 30"/>
          <p:cNvSpPr/>
          <p:nvPr/>
        </p:nvSpPr>
        <p:spPr>
          <a:xfrm>
            <a:off x="7223760" y="2084832"/>
            <a:ext cx="1600200" cy="256032"/>
          </a:xfrm>
          <a:prstGeom prst="rect">
            <a:avLst/>
          </a:prstGeom>
          <a:noFill/>
          <a:ln/>
        </p:spPr>
        <p:txBody>
          <a:bodyPr wrap="square" lIns="0" tIns="0" rIns="0" bIns="0" rtlCol="0" anchor="ctr"/>
          <a:lstStyle/>
          <a:p>
            <a:pPr marL="0" indent="0" algn="ctr">
              <a:buNone/>
            </a:pPr>
            <a:r>
              <a:rPr lang="en-US" sz="900" dirty="0">
                <a:solidFill>
                  <a:srgbClr val="B5D4F4"/>
                </a:solidFill>
                <a:latin typeface="Calibri" pitchFamily="34" charset="0"/>
                <a:ea typeface="Calibri" pitchFamily="34" charset="-122"/>
                <a:cs typeface="Calibri" pitchFamily="34" charset="-120"/>
              </a:rPr>
              <a:t>Months 1–24</a:t>
            </a:r>
            <a:endParaRPr lang="en-US" sz="900" dirty="0"/>
          </a:p>
        </p:txBody>
      </p:sp>
      <p:sp>
        <p:nvSpPr>
          <p:cNvPr id="33" name="Shape 31"/>
          <p:cNvSpPr/>
          <p:nvPr/>
        </p:nvSpPr>
        <p:spPr>
          <a:xfrm>
            <a:off x="7452360" y="2423160"/>
            <a:ext cx="1143000" cy="0"/>
          </a:xfrm>
          <a:prstGeom prst="line">
            <a:avLst/>
          </a:prstGeom>
          <a:noFill/>
          <a:ln w="9525">
            <a:solidFill>
              <a:srgbClr val="B5D4F4"/>
            </a:solidFill>
            <a:prstDash val="solid"/>
          </a:ln>
        </p:spPr>
        <p:txBody>
          <a:bodyPr/>
          <a:lstStyle/>
          <a:p>
            <a:endParaRPr lang="en-US"/>
          </a:p>
        </p:txBody>
      </p:sp>
      <p:sp>
        <p:nvSpPr>
          <p:cNvPr id="34" name="Text 32"/>
          <p:cNvSpPr/>
          <p:nvPr/>
        </p:nvSpPr>
        <p:spPr>
          <a:xfrm>
            <a:off x="7315200" y="2487168"/>
            <a:ext cx="1417320" cy="1874520"/>
          </a:xfrm>
          <a:prstGeom prst="rect">
            <a:avLst/>
          </a:prstGeom>
          <a:noFill/>
          <a:ln/>
        </p:spPr>
        <p:txBody>
          <a:bodyPr wrap="square" lIns="0" tIns="0" rIns="0" bIns="0" rtlCol="0" anchor="t"/>
          <a:lstStyle/>
          <a:p>
            <a:pPr marL="0" indent="0">
              <a:buNone/>
            </a:pPr>
            <a:r>
              <a:rPr lang="en-US" sz="900" dirty="0">
                <a:solidFill>
                  <a:srgbClr val="FFFFFF"/>
                </a:solidFill>
                <a:latin typeface="Calibri" pitchFamily="34" charset="0"/>
                <a:ea typeface="Calibri" pitchFamily="34" charset="-122"/>
                <a:cs typeface="Calibri" pitchFamily="34" charset="-120"/>
              </a:rPr>
              <a:t>Systems, people, culture combined. Most value is won or lost here.</a:t>
            </a:r>
            <a:endParaRPr lang="en-US" sz="900" dirty="0"/>
          </a:p>
        </p:txBody>
      </p:sp>
      <p:sp>
        <p:nvSpPr>
          <p:cNvPr id="35" name="Shape 33"/>
          <p:cNvSpPr/>
          <p:nvPr/>
        </p:nvSpPr>
        <p:spPr>
          <a:xfrm>
            <a:off x="274320" y="4645152"/>
            <a:ext cx="8595360" cy="365760"/>
          </a:xfrm>
          <a:prstGeom prst="rect">
            <a:avLst/>
          </a:prstGeom>
          <a:solidFill>
            <a:srgbClr val="FAEEDA"/>
          </a:solidFill>
          <a:ln/>
        </p:spPr>
        <p:txBody>
          <a:bodyPr/>
          <a:lstStyle/>
          <a:p>
            <a:endParaRPr lang="en-US"/>
          </a:p>
        </p:txBody>
      </p:sp>
      <p:sp>
        <p:nvSpPr>
          <p:cNvPr id="36" name="Shape 34"/>
          <p:cNvSpPr/>
          <p:nvPr/>
        </p:nvSpPr>
        <p:spPr>
          <a:xfrm>
            <a:off x="274320" y="4645152"/>
            <a:ext cx="64008" cy="365760"/>
          </a:xfrm>
          <a:prstGeom prst="rect">
            <a:avLst/>
          </a:prstGeom>
          <a:solidFill>
            <a:srgbClr val="D97706"/>
          </a:solidFill>
          <a:ln/>
        </p:spPr>
        <p:txBody>
          <a:bodyPr/>
          <a:lstStyle/>
          <a:p>
            <a:endParaRPr lang="en-US"/>
          </a:p>
        </p:txBody>
      </p:sp>
      <p:sp>
        <p:nvSpPr>
          <p:cNvPr id="37" name="Text 35"/>
          <p:cNvSpPr/>
          <p:nvPr/>
        </p:nvSpPr>
        <p:spPr>
          <a:xfrm>
            <a:off x="429768" y="4645152"/>
            <a:ext cx="832104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Valuation methods: EBITDA multiple (5–10× typical for $35M B2B) · Revenue multiple (SaaS) · DCF · Comparable transactions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0653E-8583-7493-A7E1-5CDDF3674A0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4B6C1C-DD9E-E9F7-3EE7-E5BECC92AAC6}"/>
              </a:ext>
            </a:extLst>
          </p:cNvPr>
          <p:cNvSpPr/>
          <p:nvPr/>
        </p:nvSpPr>
        <p:spPr>
          <a:xfrm>
            <a:off x="0" y="0"/>
            <a:ext cx="164592" cy="5143500"/>
          </a:xfrm>
          <a:prstGeom prst="rect">
            <a:avLst/>
          </a:prstGeom>
          <a:solidFill>
            <a:srgbClr val="2D7DD2"/>
          </a:solidFill>
          <a:ln/>
        </p:spPr>
        <p:txBody>
          <a:bodyPr/>
          <a:lstStyle/>
          <a:p>
            <a:endParaRPr lang="en-US"/>
          </a:p>
        </p:txBody>
      </p:sp>
      <p:sp>
        <p:nvSpPr>
          <p:cNvPr id="3" name="Text 1">
            <a:extLst>
              <a:ext uri="{FF2B5EF4-FFF2-40B4-BE49-F238E27FC236}">
                <a16:creationId xmlns:a16="http://schemas.microsoft.com/office/drawing/2014/main" id="{68D71C89-C355-1303-F171-954C1064B31A}"/>
              </a:ext>
            </a:extLst>
          </p:cNvPr>
          <p:cNvSpPr/>
          <p:nvPr/>
        </p:nvSpPr>
        <p:spPr>
          <a:xfrm>
            <a:off x="411480" y="1005840"/>
            <a:ext cx="6400800" cy="7772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Business Fundamentals</a:t>
            </a:r>
            <a:endParaRPr lang="en-US" sz="4000" dirty="0"/>
          </a:p>
        </p:txBody>
      </p:sp>
      <p:sp>
        <p:nvSpPr>
          <p:cNvPr id="4" name="Text 2">
            <a:extLst>
              <a:ext uri="{FF2B5EF4-FFF2-40B4-BE49-F238E27FC236}">
                <a16:creationId xmlns:a16="http://schemas.microsoft.com/office/drawing/2014/main" id="{80E61EF2-7403-3A1F-F507-D10497B661CA}"/>
              </a:ext>
            </a:extLst>
          </p:cNvPr>
          <p:cNvSpPr/>
          <p:nvPr/>
        </p:nvSpPr>
        <p:spPr>
          <a:xfrm>
            <a:off x="411480" y="1783080"/>
            <a:ext cx="6400800" cy="640080"/>
          </a:xfrm>
          <a:prstGeom prst="rect">
            <a:avLst/>
          </a:prstGeom>
          <a:noFill/>
          <a:ln/>
        </p:spPr>
        <p:txBody>
          <a:bodyPr wrap="square" lIns="0" tIns="0" rIns="0" bIns="0" rtlCol="0" anchor="ctr"/>
          <a:lstStyle/>
          <a:p>
            <a:pPr marL="0" indent="0">
              <a:buNone/>
            </a:pPr>
            <a:r>
              <a:rPr lang="en-US" sz="4000" b="1" dirty="0">
                <a:solidFill>
                  <a:schemeClr val="accent1"/>
                </a:solidFill>
                <a:latin typeface="Calibri" pitchFamily="34" charset="0"/>
                <a:ea typeface="Calibri" pitchFamily="34" charset="-122"/>
                <a:cs typeface="Calibri" pitchFamily="34" charset="-120"/>
              </a:rPr>
              <a:t>Discussion</a:t>
            </a:r>
            <a:endParaRPr lang="en-US" sz="4000" dirty="0">
              <a:solidFill>
                <a:schemeClr val="accent1"/>
              </a:solidFill>
            </a:endParaRPr>
          </a:p>
        </p:txBody>
      </p:sp>
      <p:sp>
        <p:nvSpPr>
          <p:cNvPr id="6" name="Shape 4">
            <a:extLst>
              <a:ext uri="{FF2B5EF4-FFF2-40B4-BE49-F238E27FC236}">
                <a16:creationId xmlns:a16="http://schemas.microsoft.com/office/drawing/2014/main" id="{830C16C2-9DAC-7B19-DC66-044B657B1FB0}"/>
              </a:ext>
            </a:extLst>
          </p:cNvPr>
          <p:cNvSpPr/>
          <p:nvPr/>
        </p:nvSpPr>
        <p:spPr>
          <a:xfrm>
            <a:off x="7406640" y="0"/>
            <a:ext cx="1737360" cy="5143500"/>
          </a:xfrm>
          <a:prstGeom prst="rect">
            <a:avLst/>
          </a:prstGeom>
          <a:solidFill>
            <a:srgbClr val="1A3A5C"/>
          </a:solidFill>
          <a:ln/>
        </p:spPr>
        <p:txBody>
          <a:bodyPr/>
          <a:lstStyle/>
          <a:p>
            <a:endParaRPr lang="en-US"/>
          </a:p>
        </p:txBody>
      </p:sp>
      <p:sp>
        <p:nvSpPr>
          <p:cNvPr id="7" name="Shape 5">
            <a:extLst>
              <a:ext uri="{FF2B5EF4-FFF2-40B4-BE49-F238E27FC236}">
                <a16:creationId xmlns:a16="http://schemas.microsoft.com/office/drawing/2014/main" id="{A1F20B59-A423-6D17-E129-DADA3A915ED4}"/>
              </a:ext>
            </a:extLst>
          </p:cNvPr>
          <p:cNvSpPr/>
          <p:nvPr/>
        </p:nvSpPr>
        <p:spPr>
          <a:xfrm>
            <a:off x="7406640" y="1645920"/>
            <a:ext cx="1737360" cy="1828800"/>
          </a:xfrm>
          <a:prstGeom prst="rect">
            <a:avLst/>
          </a:prstGeom>
          <a:solidFill>
            <a:srgbClr val="1E4976"/>
          </a:solidFill>
          <a:ln/>
        </p:spPr>
        <p:txBody>
          <a:bodyPr/>
          <a:lstStyle/>
          <a:p>
            <a:endParaRPr lang="en-US"/>
          </a:p>
        </p:txBody>
      </p:sp>
      <p:pic>
        <p:nvPicPr>
          <p:cNvPr id="15" name="Picture 14">
            <a:extLst>
              <a:ext uri="{FF2B5EF4-FFF2-40B4-BE49-F238E27FC236}">
                <a16:creationId xmlns:a16="http://schemas.microsoft.com/office/drawing/2014/main" id="{1C63AEDC-34F3-22F7-7F5F-EE11EAB581BA}"/>
              </a:ext>
            </a:extLst>
          </p:cNvPr>
          <p:cNvPicPr>
            <a:picLocks noChangeAspect="1"/>
          </p:cNvPicPr>
          <p:nvPr/>
        </p:nvPicPr>
        <p:blipFill>
          <a:blip r:embed="rId3"/>
          <a:stretch>
            <a:fillRect/>
          </a:stretch>
        </p:blipFill>
        <p:spPr>
          <a:xfrm>
            <a:off x="609600" y="4256844"/>
            <a:ext cx="2461846" cy="376115"/>
          </a:xfrm>
          <a:prstGeom prst="rect">
            <a:avLst/>
          </a:prstGeom>
        </p:spPr>
      </p:pic>
    </p:spTree>
    <p:extLst>
      <p:ext uri="{BB962C8B-B14F-4D97-AF65-F5344CB8AC3E}">
        <p14:creationId xmlns:p14="http://schemas.microsoft.com/office/powerpoint/2010/main" val="22946967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85B18512D53F41BDE18DDF49B141B1" ma:contentTypeVersion="15" ma:contentTypeDescription="Create a new document." ma:contentTypeScope="" ma:versionID="e906cf6e48426ee06c66027bb80d6180">
  <xsd:schema xmlns:xsd="http://www.w3.org/2001/XMLSchema" xmlns:xs="http://www.w3.org/2001/XMLSchema" xmlns:p="http://schemas.microsoft.com/office/2006/metadata/properties" xmlns:ns2="dcd73cc7-3f1a-4f0c-93a2-52248963654a" xmlns:ns3="1b6a93da-3008-4b4c-a527-3918a3aa2c8d" targetNamespace="http://schemas.microsoft.com/office/2006/metadata/properties" ma:root="true" ma:fieldsID="7e970348c30aff7842b1d265af3f3d1b" ns2:_="" ns3:_="">
    <xsd:import namespace="dcd73cc7-3f1a-4f0c-93a2-52248963654a"/>
    <xsd:import namespace="1b6a93da-3008-4b4c-a527-3918a3aa2c8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d73cc7-3f1a-4f0c-93a2-5224896365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0605de8-6ea5-48e6-9496-7988cfd13a3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6a93da-3008-4b4c-a527-3918a3aa2c8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53ea22cc-db3d-48eb-9246-edf9007a76f7}" ma:internalName="TaxCatchAll" ma:showField="CatchAllData" ma:web="1b6a93da-3008-4b4c-a527-3918a3aa2c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cd73cc7-3f1a-4f0c-93a2-52248963654a">
      <Terms xmlns="http://schemas.microsoft.com/office/infopath/2007/PartnerControls"/>
    </lcf76f155ced4ddcb4097134ff3c332f>
    <TaxCatchAll xmlns="1b6a93da-3008-4b4c-a527-3918a3aa2c8d" xsi:nil="true"/>
  </documentManagement>
</p:properties>
</file>

<file path=customXml/itemProps1.xml><?xml version="1.0" encoding="utf-8"?>
<ds:datastoreItem xmlns:ds="http://schemas.openxmlformats.org/officeDocument/2006/customXml" ds:itemID="{03075C00-4419-47B3-9AA7-6ECDEE2DF900}"/>
</file>

<file path=customXml/itemProps2.xml><?xml version="1.0" encoding="utf-8"?>
<ds:datastoreItem xmlns:ds="http://schemas.openxmlformats.org/officeDocument/2006/customXml" ds:itemID="{8FED4843-1EDA-4EEF-8E0A-306F47F6EED7}"/>
</file>

<file path=customXml/itemProps3.xml><?xml version="1.0" encoding="utf-8"?>
<ds:datastoreItem xmlns:ds="http://schemas.openxmlformats.org/officeDocument/2006/customXml" ds:itemID="{A9624FFE-2A17-47DA-B6A8-54E0B3B70AF4}"/>
</file>

<file path=docProps/app.xml><?xml version="1.0" encoding="utf-8"?>
<Properties xmlns="http://schemas.openxmlformats.org/officeDocument/2006/extended-properties" xmlns:vt="http://schemas.openxmlformats.org/officeDocument/2006/docPropsVTypes">
  <TotalTime>5972</TotalTime>
  <Words>1631</Words>
  <Application>Microsoft Macintosh PowerPoint</Application>
  <PresentationFormat>On-screen Show (16:9)</PresentationFormat>
  <Paragraphs>273</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Jen Fleissner</cp:lastModifiedBy>
  <cp:revision>2</cp:revision>
  <dcterms:created xsi:type="dcterms:W3CDTF">2026-06-08T14:52:28Z</dcterms:created>
  <dcterms:modified xsi:type="dcterms:W3CDTF">2026-06-12T18:44:45Z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0x010100E585B18512D53F41BDE18DDF49B141B1</vt:lpwstr>
  </property>
</Properties>
</file>