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62" r:id="rId4"/>
    <p:sldId id="263" r:id="rId5"/>
    <p:sldId id="264" r:id="rId6"/>
    <p:sldId id="265" r:id="rId7"/>
    <p:sldId id="266"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A00656-09C2-1D5F-D711-ED25036F19B0}" v="599" dt="2026-06-10T21:39:06.610"/>
    <p1510:client id="{C06971EF-30A2-B33B-96A5-5BFDD09387AC}" v="2153" dt="2026-06-10T21:43:58.800"/>
    <p1510:client id="{F820C283-51BA-9F52-DE5D-D0C9586C34DB}" v="763" dt="2026-06-10T21:34:01.6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tableStyles" Target="tableStyles.xml" Id="rId13"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theme" Target="theme/theme1.xml" Id="rId12"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viewProps" Target="viewProps.xml" Id="rId11" /><Relationship Type="http://schemas.openxmlformats.org/officeDocument/2006/relationships/slide" Target="slides/slide4.xml" Id="rId5" /><Relationship Type="http://schemas.microsoft.com/office/2015/10/relationships/revisionInfo" Target="revisionInfo.xml" Id="rId15" /><Relationship Type="http://schemas.openxmlformats.org/officeDocument/2006/relationships/presProps" Target="presProps.xml" Id="rId10" /><Relationship Type="http://schemas.openxmlformats.org/officeDocument/2006/relationships/slide" Target="slides/slide3.xml" Id="rId4" /><Relationship Type="http://schemas.openxmlformats.org/officeDocument/2006/relationships/slide" Target="slides/slide8.xml" Id="rId9"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6/10/2026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2551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6/10/2026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42764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6/10/2026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91751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6/10/2026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793700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6/10/2026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058721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6/10/2026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06545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6/10/2026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24191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6/10/2026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672784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6/10/2026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160832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6/10/2026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72787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6/10/2026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010939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6/10/2026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424746588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a:t>Exploratory Testing Plan</a:t>
            </a:r>
          </a:p>
        </p:txBody>
      </p:sp>
      <p:sp>
        <p:nvSpPr>
          <p:cNvPr id="3" name="Subtitle 2"/>
          <p:cNvSpPr>
            <a:spLocks noGrp="1"/>
          </p:cNvSpPr>
          <p:nvPr>
            <p:ph type="subTitle" idx="1"/>
          </p:nvPr>
        </p:nvSpPr>
        <p:spPr/>
        <p:txBody>
          <a:bodyPr vert="horz" lIns="91440" tIns="45720" rIns="91440" bIns="45720" rtlCol="0" anchor="t">
            <a:normAutofit/>
          </a:bodyPr>
          <a:lstStyle/>
          <a:p>
            <a:endParaRPr lang="en-US"/>
          </a:p>
          <a:p>
            <a:r>
              <a:rPr lang="en-US"/>
              <a:t>Athziri Vega, Carter Ward, Jeremy Martel, Logan Foster</a:t>
            </a:r>
          </a:p>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D29E-C5D9-6A0D-6417-313362229FB5}"/>
              </a:ext>
            </a:extLst>
          </p:cNvPr>
          <p:cNvSpPr>
            <a:spLocks noGrp="1"/>
          </p:cNvSpPr>
          <p:nvPr>
            <p:ph type="title"/>
          </p:nvPr>
        </p:nvSpPr>
        <p:spPr/>
        <p:txBody>
          <a:bodyPr/>
          <a:lstStyle/>
          <a:p>
            <a:r>
              <a:rPr lang="en-US"/>
              <a:t>#1. Year of School entry field</a:t>
            </a:r>
          </a:p>
        </p:txBody>
      </p:sp>
      <p:sp>
        <p:nvSpPr>
          <p:cNvPr id="3" name="Content Placeholder 2">
            <a:extLst>
              <a:ext uri="{FF2B5EF4-FFF2-40B4-BE49-F238E27FC236}">
                <a16:creationId xmlns:a16="http://schemas.microsoft.com/office/drawing/2014/main" id="{A9FCA7AF-ABF4-E7C1-78DC-593A03022AC1}"/>
              </a:ext>
            </a:extLst>
          </p:cNvPr>
          <p:cNvSpPr>
            <a:spLocks noGrp="1"/>
          </p:cNvSpPr>
          <p:nvPr>
            <p:ph idx="1"/>
          </p:nvPr>
        </p:nvSpPr>
        <p:spPr/>
        <p:txBody>
          <a:bodyPr vert="horz" lIns="91440" tIns="45720" rIns="91440" bIns="45720" rtlCol="0" anchor="t">
            <a:normAutofit/>
          </a:bodyPr>
          <a:lstStyle/>
          <a:p>
            <a:r>
              <a:rPr lang="en-US" sz="2000"/>
              <a:t>Purpose: Check to see if non number inputs cause problems </a:t>
            </a:r>
          </a:p>
          <a:p>
            <a:r>
              <a:rPr lang="en-US" sz="2000"/>
              <a:t>Test steps &amp; inputs: enter numbers, letters, symbols, spaces</a:t>
            </a:r>
          </a:p>
          <a:p>
            <a:pPr lvl="1">
              <a:buFont typeface="Courier New" panose="020B0604020202020204" pitchFamily="34" charset="0"/>
              <a:buChar char="o"/>
            </a:pPr>
            <a:r>
              <a:rPr lang="en-US" sz="2000"/>
              <a:t>Expected results: Since our current version is not complex should just save whatever is inputted</a:t>
            </a:r>
          </a:p>
          <a:p>
            <a:r>
              <a:rPr lang="en-US" sz="2000"/>
              <a:t>Potential issues: In a more finished version anything not a number would probably cause issues with symbols potentially causing bigger issues depending on how the information is displayed and stored. Would be easy to solve by making the field on able to accept numbers 1-4 (or higher if appropriate) </a:t>
            </a:r>
          </a:p>
        </p:txBody>
      </p:sp>
    </p:spTree>
    <p:extLst>
      <p:ext uri="{BB962C8B-B14F-4D97-AF65-F5344CB8AC3E}">
        <p14:creationId xmlns:p14="http://schemas.microsoft.com/office/powerpoint/2010/main" val="161681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7B041-E7F7-BA2A-FFB4-A7C84250A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E89FD-2E3A-08E4-DF3F-5FEAC57DF386}"/>
              </a:ext>
            </a:extLst>
          </p:cNvPr>
          <p:cNvSpPr>
            <a:spLocks noGrp="1"/>
          </p:cNvSpPr>
          <p:nvPr>
            <p:ph type="title"/>
          </p:nvPr>
        </p:nvSpPr>
        <p:spPr/>
        <p:txBody>
          <a:bodyPr/>
          <a:lstStyle/>
          <a:p>
            <a:r>
              <a:rPr lang="en-US"/>
              <a:t>#2.KPI Tiles</a:t>
            </a:r>
          </a:p>
        </p:txBody>
      </p:sp>
      <p:sp>
        <p:nvSpPr>
          <p:cNvPr id="3" name="Content Placeholder 2">
            <a:extLst>
              <a:ext uri="{FF2B5EF4-FFF2-40B4-BE49-F238E27FC236}">
                <a16:creationId xmlns:a16="http://schemas.microsoft.com/office/drawing/2014/main" id="{8EB44C96-9630-FD09-AF96-49B0C8A6F2FF}"/>
              </a:ext>
            </a:extLst>
          </p:cNvPr>
          <p:cNvSpPr>
            <a:spLocks noGrp="1"/>
          </p:cNvSpPr>
          <p:nvPr>
            <p:ph idx="1"/>
          </p:nvPr>
        </p:nvSpPr>
        <p:spPr/>
        <p:txBody>
          <a:bodyPr vert="horz" lIns="91440" tIns="45720" rIns="91440" bIns="45720" rtlCol="0" anchor="t">
            <a:normAutofit lnSpcReduction="10000"/>
          </a:bodyPr>
          <a:lstStyle/>
          <a:p>
            <a:r>
              <a:rPr lang="en-US" sz="2000"/>
              <a:t>Purpose: </a:t>
            </a:r>
            <a:r>
              <a:rPr lang="en-US" sz="2000">
                <a:ea typeface="+mn-lt"/>
                <a:cs typeface="+mn-lt"/>
              </a:rPr>
              <a:t>To view delta vs. prior period with directional indicator on tiles on dashboard</a:t>
            </a:r>
            <a:endParaRPr lang="en-US" sz="2000"/>
          </a:p>
          <a:p>
            <a:r>
              <a:rPr lang="en-US" sz="2000"/>
              <a:t>Formula: Confirm data on tiles[</a:t>
            </a:r>
            <a:r>
              <a:rPr lang="en-US" sz="2000">
                <a:ea typeface="+mn-lt"/>
                <a:cs typeface="+mn-lt"/>
              </a:rPr>
              <a:t>Students Monitored, At-Risk Students, Avg Engagement Score, Sharp Declines/Week] is correct and discover the amount and changes in the number </a:t>
            </a:r>
          </a:p>
          <a:p>
            <a:r>
              <a:rPr lang="en-US" sz="2000">
                <a:ea typeface="+mn-lt"/>
                <a:cs typeface="+mn-lt"/>
              </a:rPr>
              <a:t>Test</a:t>
            </a:r>
            <a:r>
              <a:rPr lang="en-US" sz="2000"/>
              <a:t> steps &amp; inputs: input student information in respected tabs, go to main overview and interact with KPI tiles to make sure data displayed is estimated properly </a:t>
            </a:r>
          </a:p>
          <a:p>
            <a:pPr lvl="1">
              <a:buFont typeface="Courier New" panose="020B0604020202020204" pitchFamily="34" charset="0"/>
              <a:buChar char="o"/>
            </a:pPr>
            <a:r>
              <a:rPr lang="en-US" sz="2000"/>
              <a:t>Expected results: Correct estimated data on tiles</a:t>
            </a:r>
          </a:p>
          <a:p>
            <a:r>
              <a:rPr lang="en-US" sz="2000"/>
              <a:t>Potential issues: The information is incorrect or it's cutting out data</a:t>
            </a:r>
          </a:p>
        </p:txBody>
      </p:sp>
    </p:spTree>
    <p:extLst>
      <p:ext uri="{BB962C8B-B14F-4D97-AF65-F5344CB8AC3E}">
        <p14:creationId xmlns:p14="http://schemas.microsoft.com/office/powerpoint/2010/main" val="324500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FEF57-DFC8-FA78-2D89-25E6B1E8B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A5A78-45F9-757E-05BD-931A79CCF559}"/>
              </a:ext>
            </a:extLst>
          </p:cNvPr>
          <p:cNvSpPr>
            <a:spLocks noGrp="1"/>
          </p:cNvSpPr>
          <p:nvPr>
            <p:ph type="title"/>
          </p:nvPr>
        </p:nvSpPr>
        <p:spPr/>
        <p:txBody>
          <a:bodyPr/>
          <a:lstStyle/>
          <a:p>
            <a:r>
              <a:rPr lang="en-US"/>
              <a:t>#3. Student Detail View</a:t>
            </a:r>
          </a:p>
        </p:txBody>
      </p:sp>
      <p:sp>
        <p:nvSpPr>
          <p:cNvPr id="3" name="Content Placeholder 2">
            <a:extLst>
              <a:ext uri="{FF2B5EF4-FFF2-40B4-BE49-F238E27FC236}">
                <a16:creationId xmlns:a16="http://schemas.microsoft.com/office/drawing/2014/main" id="{9E5F05CD-51EF-113F-EC2D-94BB6DF320BB}"/>
              </a:ext>
            </a:extLst>
          </p:cNvPr>
          <p:cNvSpPr>
            <a:spLocks noGrp="1"/>
          </p:cNvSpPr>
          <p:nvPr>
            <p:ph idx="1"/>
          </p:nvPr>
        </p:nvSpPr>
        <p:spPr/>
        <p:txBody>
          <a:bodyPr vert="horz" lIns="91440" tIns="45720" rIns="91440" bIns="45720" rtlCol="0" anchor="t">
            <a:normAutofit fontScale="85000" lnSpcReduction="20000"/>
          </a:bodyPr>
          <a:lstStyle/>
          <a:p>
            <a:r>
              <a:rPr lang="en-US" sz="2000"/>
              <a:t>Charter: </a:t>
            </a:r>
            <a:r>
              <a:rPr lang="en-US" sz="2000">
                <a:ea typeface="+mn-lt"/>
                <a:cs typeface="+mn-lt"/>
              </a:rPr>
              <a:t>Explore the Student Detail view using students with different levels of data (full profile, zero activity, no survey response) to see how the screen handles missing or empty information</a:t>
            </a:r>
            <a:endParaRPr lang="en-US" sz="2000"/>
          </a:p>
          <a:p>
            <a:r>
              <a:rPr lang="en-US" sz="2000"/>
              <a:t>Test steps &amp; inputs: </a:t>
            </a:r>
          </a:p>
          <a:p>
            <a:pPr lvl="1">
              <a:buFont typeface="Courier New" panose="020B0604020202020204" pitchFamily="34" charset="0"/>
              <a:buChar char="o"/>
            </a:pPr>
            <a:r>
              <a:rPr lang="en-US" sz="2000"/>
              <a:t>1. Click "View" on the student profile from the At-Risk panel</a:t>
            </a:r>
          </a:p>
          <a:p>
            <a:pPr lvl="1">
              <a:buFont typeface="Courier New" panose="020B0604020202020204" pitchFamily="34" charset="0"/>
              <a:buChar char="o"/>
            </a:pPr>
            <a:r>
              <a:rPr lang="en-US" sz="2000"/>
              <a:t>2. Check all engagement activity fields (clubs, events, dining, rec center, etc.)</a:t>
            </a:r>
          </a:p>
          <a:p>
            <a:pPr lvl="1">
              <a:buFont typeface="Courier New" panose="020B0604020202020204" pitchFamily="34" charset="0"/>
              <a:buChar char="o"/>
            </a:pPr>
            <a:r>
              <a:rPr lang="en-US" sz="2000"/>
              <a:t>3. Check all student profile fields (year, major, housing, etc.)</a:t>
            </a:r>
          </a:p>
          <a:p>
            <a:pPr lvl="1">
              <a:buFont typeface="Courier New" panose="020B0604020202020204" pitchFamily="34" charset="0"/>
              <a:buChar char="o"/>
            </a:pPr>
            <a:r>
              <a:rPr lang="en-US" sz="2000"/>
              <a:t>4. Check engagement score badge, survey results, and suggested clubs panel</a:t>
            </a:r>
          </a:p>
          <a:p>
            <a:pPr lvl="1">
              <a:buFont typeface="Courier New" panose="020B0604020202020204" pitchFamily="34" charset="0"/>
              <a:buChar char="o"/>
            </a:pPr>
            <a:r>
              <a:rPr lang="en-US" sz="2000"/>
              <a:t>5. Open a student with zero activity and one with no survey response</a:t>
            </a:r>
          </a:p>
          <a:p>
            <a:pPr lvl="1">
              <a:buFont typeface="Courier New" panose="020B0604020202020204" pitchFamily="34" charset="0"/>
              <a:buChar char="o"/>
            </a:pPr>
            <a:r>
              <a:rPr lang="en-US" sz="2000"/>
              <a:t>Expected results: All fields show a value of "0"; score badge matches at-risk list; missing survey shows placeholder (no crash); suggested clubs populated based on profile</a:t>
            </a:r>
          </a:p>
          <a:p>
            <a:r>
              <a:rPr lang="en-US" sz="2000"/>
              <a:t>Potential issues: Zero-activity fields may be empty; suggested clubs may fail for undeclared majors; survey panel may break with no response on file</a:t>
            </a:r>
          </a:p>
        </p:txBody>
      </p:sp>
    </p:spTree>
    <p:extLst>
      <p:ext uri="{BB962C8B-B14F-4D97-AF65-F5344CB8AC3E}">
        <p14:creationId xmlns:p14="http://schemas.microsoft.com/office/powerpoint/2010/main" val="2645214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78848-B415-72FC-82D5-D22CDA174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858F9-9087-3006-217B-B83C4681C113}"/>
              </a:ext>
            </a:extLst>
          </p:cNvPr>
          <p:cNvSpPr>
            <a:spLocks noGrp="1"/>
          </p:cNvSpPr>
          <p:nvPr>
            <p:ph type="title"/>
          </p:nvPr>
        </p:nvSpPr>
        <p:spPr/>
        <p:txBody>
          <a:bodyPr/>
          <a:lstStyle/>
          <a:p>
            <a:r>
              <a:rPr lang="en-US"/>
              <a:t>#4. Surveys</a:t>
            </a:r>
          </a:p>
        </p:txBody>
      </p:sp>
      <p:sp>
        <p:nvSpPr>
          <p:cNvPr id="3" name="Content Placeholder 2">
            <a:extLst>
              <a:ext uri="{FF2B5EF4-FFF2-40B4-BE49-F238E27FC236}">
                <a16:creationId xmlns:a16="http://schemas.microsoft.com/office/drawing/2014/main" id="{3FCFA7BA-C99B-BA0F-5CD8-84771337E410}"/>
              </a:ext>
            </a:extLst>
          </p:cNvPr>
          <p:cNvSpPr>
            <a:spLocks noGrp="1"/>
          </p:cNvSpPr>
          <p:nvPr>
            <p:ph idx="1"/>
          </p:nvPr>
        </p:nvSpPr>
        <p:spPr/>
        <p:txBody>
          <a:bodyPr vert="horz" lIns="91440" tIns="45720" rIns="91440" bIns="45720" rtlCol="0" anchor="t">
            <a:normAutofit/>
          </a:bodyPr>
          <a:lstStyle/>
          <a:p>
            <a:r>
              <a:rPr lang="en-US" sz="2000"/>
              <a:t>Purpose: View student feedback and program requests. Can possibly lead to direct student contact/referrals </a:t>
            </a:r>
          </a:p>
          <a:p>
            <a:r>
              <a:rPr lang="en-US" sz="2000"/>
              <a:t>Test steps &amp; inputs: On sidebar, select surveys to view gathered information. View content of feedback to make sure system doesn't overload</a:t>
            </a:r>
          </a:p>
          <a:p>
            <a:pPr lvl="1">
              <a:buFont typeface="Courier New" panose="020B0604020202020204" pitchFamily="34" charset="0"/>
              <a:buChar char="o"/>
            </a:pPr>
            <a:r>
              <a:rPr lang="en-US" sz="2000"/>
              <a:t>Expected results: Collect student surveys based on events/engagement</a:t>
            </a:r>
          </a:p>
          <a:p>
            <a:r>
              <a:rPr lang="en-US" sz="2000"/>
              <a:t>Potential issues: surveys not accessible</a:t>
            </a:r>
          </a:p>
        </p:txBody>
      </p:sp>
    </p:spTree>
    <p:extLst>
      <p:ext uri="{BB962C8B-B14F-4D97-AF65-F5344CB8AC3E}">
        <p14:creationId xmlns:p14="http://schemas.microsoft.com/office/powerpoint/2010/main" val="4147096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4AA22-9DC3-E53C-332F-EEAD6381D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0F1C0-06D1-C10B-6609-45FCFBCFA92F}"/>
              </a:ext>
            </a:extLst>
          </p:cNvPr>
          <p:cNvSpPr>
            <a:spLocks noGrp="1"/>
          </p:cNvSpPr>
          <p:nvPr>
            <p:ph type="title"/>
          </p:nvPr>
        </p:nvSpPr>
        <p:spPr/>
        <p:txBody>
          <a:bodyPr/>
          <a:lstStyle/>
          <a:p>
            <a:r>
              <a:rPr lang="en-US"/>
              <a:t>#5. First-Generation Filter Field</a:t>
            </a:r>
          </a:p>
        </p:txBody>
      </p:sp>
      <p:sp>
        <p:nvSpPr>
          <p:cNvPr id="3" name="Content Placeholder 2">
            <a:extLst>
              <a:ext uri="{FF2B5EF4-FFF2-40B4-BE49-F238E27FC236}">
                <a16:creationId xmlns:a16="http://schemas.microsoft.com/office/drawing/2014/main" id="{FDF75901-6220-BE3D-28DF-D8B74AB49F75}"/>
              </a:ext>
            </a:extLst>
          </p:cNvPr>
          <p:cNvSpPr>
            <a:spLocks noGrp="1"/>
          </p:cNvSpPr>
          <p:nvPr>
            <p:ph idx="1"/>
          </p:nvPr>
        </p:nvSpPr>
        <p:spPr/>
        <p:txBody>
          <a:bodyPr vert="horz" lIns="91440" tIns="45720" rIns="91440" bIns="45720" rtlCol="0" anchor="t">
            <a:normAutofit fontScale="77500" lnSpcReduction="20000"/>
          </a:bodyPr>
          <a:lstStyle/>
          <a:p>
            <a:r>
              <a:rPr lang="en-US" sz="2000"/>
              <a:t>Purpose: Explore the First-Generation input field with various entry types to see how the field handles expected and unexpected inputs</a:t>
            </a:r>
            <a:endParaRPr lang="en-US" sz="2000">
              <a:solidFill>
                <a:schemeClr val="accent3">
                  <a:lumMod val="76000"/>
                </a:schemeClr>
              </a:solidFill>
            </a:endParaRPr>
          </a:p>
          <a:p>
            <a:r>
              <a:rPr lang="en-US" sz="2000"/>
              <a:t>Test steps &amp; inputs:</a:t>
            </a:r>
          </a:p>
          <a:p>
            <a:pPr lvl="1">
              <a:buFont typeface="Courier New" panose="020B0604020202020204" pitchFamily="34" charset="0"/>
              <a:buChar char="o"/>
            </a:pPr>
            <a:r>
              <a:rPr lang="en-US" sz="2000"/>
              <a:t>1. Enter a valid value (e.g., "Yes")</a:t>
            </a:r>
          </a:p>
          <a:p>
            <a:pPr lvl="1">
              <a:buFont typeface="Courier New" panose="020B0604020202020204" pitchFamily="34" charset="0"/>
              <a:buChar char="o"/>
            </a:pPr>
            <a:r>
              <a:rPr lang="en-US" sz="2000"/>
              <a:t>2. Enter multiple comma-separated values (e.g., "Yes, No")</a:t>
            </a:r>
          </a:p>
          <a:p>
            <a:pPr lvl="1">
              <a:buFont typeface="Courier New" panose="020B0604020202020204" pitchFamily="34" charset="0"/>
              <a:buChar char="o"/>
            </a:pPr>
            <a:r>
              <a:rPr lang="en-US" sz="2000"/>
              <a:t>3. Enter a number, symbol, or blank spaces</a:t>
            </a:r>
          </a:p>
          <a:p>
            <a:pPr lvl="1">
              <a:buFont typeface="Courier New" panose="020B0604020202020204" pitchFamily="34" charset="0"/>
              <a:buChar char="o"/>
            </a:pPr>
            <a:r>
              <a:rPr lang="en-US" sz="2000"/>
              <a:t>4. Enter a very long string</a:t>
            </a:r>
          </a:p>
          <a:p>
            <a:pPr lvl="1">
              <a:buFont typeface="Courier New" panose="020B0604020202020204" pitchFamily="34" charset="0"/>
              <a:buChar char="o"/>
            </a:pPr>
            <a:r>
              <a:rPr lang="en-US" sz="2000"/>
              <a:t>5. Leave blank and apply filters</a:t>
            </a:r>
          </a:p>
          <a:p>
            <a:pPr lvl="1">
              <a:buFont typeface="Courier New" panose="020B0604020202020204" pitchFamily="34" charset="0"/>
              <a:buChar char="o"/>
            </a:pPr>
            <a:r>
              <a:rPr lang="en-US" sz="2000"/>
              <a:t>Expected results: Valid values filter the student list correctly; comma-separated entries are parsed and not treated as one string; invalid inputs are rejected or handled; blank fields do not break the filter</a:t>
            </a:r>
          </a:p>
          <a:p>
            <a:r>
              <a:rPr lang="en-US" sz="2000"/>
              <a:t>Potential issues: Comma-separated values may be treated a single string; invalid inputs may silently apply and return wrong results; blank submissions may crash the filter or return all students unfiltered</a:t>
            </a:r>
          </a:p>
        </p:txBody>
      </p:sp>
    </p:spTree>
    <p:extLst>
      <p:ext uri="{BB962C8B-B14F-4D97-AF65-F5344CB8AC3E}">
        <p14:creationId xmlns:p14="http://schemas.microsoft.com/office/powerpoint/2010/main" val="3255871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AAB3B-482E-B9C6-CC79-F1B0417C8368}"/>
              </a:ext>
            </a:extLst>
          </p:cNvPr>
          <p:cNvSpPr>
            <a:spLocks noGrp="1"/>
          </p:cNvSpPr>
          <p:nvPr>
            <p:ph type="title"/>
          </p:nvPr>
        </p:nvSpPr>
        <p:spPr/>
        <p:txBody>
          <a:bodyPr/>
          <a:lstStyle/>
          <a:p>
            <a:r>
              <a:rPr lang="en-US"/>
              <a:t>Bonus Activity</a:t>
            </a:r>
          </a:p>
        </p:txBody>
      </p:sp>
      <p:sp>
        <p:nvSpPr>
          <p:cNvPr id="3" name="Content Placeholder 2">
            <a:extLst>
              <a:ext uri="{FF2B5EF4-FFF2-40B4-BE49-F238E27FC236}">
                <a16:creationId xmlns:a16="http://schemas.microsoft.com/office/drawing/2014/main" id="{D3280932-0073-CC2F-F4A1-25822EBE4F1D}"/>
              </a:ext>
            </a:extLst>
          </p:cNvPr>
          <p:cNvSpPr>
            <a:spLocks noGrp="1"/>
          </p:cNvSpPr>
          <p:nvPr>
            <p:ph idx="1"/>
          </p:nvPr>
        </p:nvSpPr>
        <p:spPr/>
        <p:txBody>
          <a:bodyPr vert="horz" lIns="91440" tIns="45720" rIns="91440" bIns="45720" rtlCol="0" anchor="t">
            <a:normAutofit/>
          </a:bodyPr>
          <a:lstStyle/>
          <a:p>
            <a:r>
              <a:rPr lang="en-US" sz="1600"/>
              <a:t>Include special characters to see if they are supported</a:t>
            </a:r>
          </a:p>
          <a:p>
            <a:r>
              <a:rPr lang="en-US" sz="1600"/>
              <a:t>Include numbers to see if they are supported</a:t>
            </a:r>
          </a:p>
          <a:p>
            <a:r>
              <a:rPr lang="en-US" sz="1600"/>
              <a:t>Include spaces to see if </a:t>
            </a:r>
            <a:r>
              <a:rPr lang="en-US" sz="1600" err="1"/>
              <a:t>i</a:t>
            </a:r>
            <a:r>
              <a:rPr lang="en-US" sz="1600"/>
              <a:t>t causes an error</a:t>
            </a:r>
          </a:p>
          <a:p>
            <a:r>
              <a:rPr lang="en-US" sz="1600"/>
              <a:t>Enter with a blank field to see if it accepts it</a:t>
            </a:r>
          </a:p>
          <a:p>
            <a:r>
              <a:rPr lang="en-US" sz="1600"/>
              <a:t>Enter under or over the 30-character limit to see if the field accepts it</a:t>
            </a:r>
          </a:p>
          <a:p>
            <a:r>
              <a:rPr lang="en-US" sz="1600"/>
              <a:t>Include letters from non-English languages</a:t>
            </a:r>
          </a:p>
          <a:p>
            <a:r>
              <a:rPr lang="en-US" sz="1600"/>
              <a:t>Confirm pasted input behaves the same as typed input</a:t>
            </a:r>
          </a:p>
          <a:p>
            <a:r>
              <a:rPr lang="en-US" sz="1600"/>
              <a:t>Confirm emojis are blocked or handled without breaking the field</a:t>
            </a:r>
          </a:p>
          <a:p>
            <a:r>
              <a:rPr lang="en-US" sz="1600"/>
              <a:t>Confirm input is saved when refreshing the page</a:t>
            </a:r>
          </a:p>
          <a:p>
            <a:endParaRPr lang="en-US" sz="1600"/>
          </a:p>
          <a:p>
            <a:pPr marL="0" indent="0">
              <a:buNone/>
            </a:pPr>
            <a:endParaRPr lang="en-US" sz="1600"/>
          </a:p>
          <a:p>
            <a:endParaRPr lang="en-US" sz="1600"/>
          </a:p>
        </p:txBody>
      </p:sp>
      <p:sp>
        <p:nvSpPr>
          <p:cNvPr id="4" name="Date Placeholder 3">
            <a:extLst>
              <a:ext uri="{FF2B5EF4-FFF2-40B4-BE49-F238E27FC236}">
                <a16:creationId xmlns:a16="http://schemas.microsoft.com/office/drawing/2014/main" id="{1BEE2D73-A73C-82C5-5C76-8499F1AC76F2}"/>
              </a:ext>
            </a:extLst>
          </p:cNvPr>
          <p:cNvSpPr>
            <a:spLocks noGrp="1"/>
          </p:cNvSpPr>
          <p:nvPr>
            <p:ph type="dt" sz="half" idx="10"/>
          </p:nvPr>
        </p:nvSpPr>
        <p:spPr/>
        <p:txBody>
          <a:bodyPr/>
          <a:lstStyle/>
          <a:p>
            <a:fld id="{3B99ABB1-ADF3-4A26-BDE0-0060C92581AB}" type="datetime1">
              <a:t>6/10/2026</a:t>
            </a:fld>
            <a:endParaRPr lang="en-US"/>
          </a:p>
        </p:txBody>
      </p:sp>
      <p:sp>
        <p:nvSpPr>
          <p:cNvPr id="6" name="Slide Number Placeholder 5">
            <a:extLst>
              <a:ext uri="{FF2B5EF4-FFF2-40B4-BE49-F238E27FC236}">
                <a16:creationId xmlns:a16="http://schemas.microsoft.com/office/drawing/2014/main" id="{7A82096C-5431-9BE5-F56E-9EEE2E279A88}"/>
              </a:ext>
            </a:extLst>
          </p:cNvPr>
          <p:cNvSpPr>
            <a:spLocks noGrp="1"/>
          </p:cNvSpPr>
          <p:nvPr>
            <p:ph type="sldNum" sz="quarter" idx="12"/>
          </p:nvPr>
        </p:nvSpPr>
        <p:spPr/>
        <p:txBody>
          <a:bodyPr/>
          <a:lstStyle/>
          <a:p>
            <a:fld id="{A65A5C87-DF58-40C8-B092-1DE63DB4547E}" type="slidenum">
              <a:rPr lang="en-US" dirty="0"/>
              <a:t>7</a:t>
            </a:fld>
            <a:endParaRPr lang="en-US"/>
          </a:p>
        </p:txBody>
      </p:sp>
    </p:spTree>
    <p:extLst>
      <p:ext uri="{BB962C8B-B14F-4D97-AF65-F5344CB8AC3E}">
        <p14:creationId xmlns:p14="http://schemas.microsoft.com/office/powerpoint/2010/main" val="11823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EB018-5DE0-6FCB-C0E3-62E7BFF60E09}"/>
              </a:ext>
            </a:extLst>
          </p:cNvPr>
          <p:cNvSpPr>
            <a:spLocks noGrp="1"/>
          </p:cNvSpPr>
          <p:nvPr>
            <p:ph type="title"/>
          </p:nvPr>
        </p:nvSpPr>
        <p:spPr/>
        <p:txBody>
          <a:bodyPr/>
          <a:lstStyle/>
          <a:p>
            <a:r>
              <a:rPr lang="en-US"/>
              <a:t>Bonus Activity (Cont.)</a:t>
            </a:r>
          </a:p>
        </p:txBody>
      </p:sp>
      <p:sp>
        <p:nvSpPr>
          <p:cNvPr id="3" name="Content Placeholder 2">
            <a:extLst>
              <a:ext uri="{FF2B5EF4-FFF2-40B4-BE49-F238E27FC236}">
                <a16:creationId xmlns:a16="http://schemas.microsoft.com/office/drawing/2014/main" id="{6197FF1B-D9E4-11D9-54FF-58DBD243C59B}"/>
              </a:ext>
            </a:extLst>
          </p:cNvPr>
          <p:cNvSpPr>
            <a:spLocks noGrp="1"/>
          </p:cNvSpPr>
          <p:nvPr>
            <p:ph idx="1"/>
          </p:nvPr>
        </p:nvSpPr>
        <p:spPr/>
        <p:txBody>
          <a:bodyPr vert="horz" lIns="91440" tIns="45720" rIns="91440" bIns="45720" rtlCol="0" anchor="t">
            <a:normAutofit/>
          </a:bodyPr>
          <a:lstStyle/>
          <a:p>
            <a:r>
              <a:rPr lang="en-US" sz="1600"/>
              <a:t>Confirm the field doesn't block duplicate entries that are valid</a:t>
            </a:r>
          </a:p>
          <a:p>
            <a:r>
              <a:rPr lang="en-US" sz="1600"/>
              <a:t>Click submit multiple times quickly to see if it creates duplicate records</a:t>
            </a:r>
          </a:p>
          <a:p>
            <a:endParaRPr lang="en-US" sz="1600"/>
          </a:p>
        </p:txBody>
      </p:sp>
      <p:sp>
        <p:nvSpPr>
          <p:cNvPr id="4" name="Date Placeholder 3">
            <a:extLst>
              <a:ext uri="{FF2B5EF4-FFF2-40B4-BE49-F238E27FC236}">
                <a16:creationId xmlns:a16="http://schemas.microsoft.com/office/drawing/2014/main" id="{7301A97F-6221-E018-F6B8-EB574A9DC13C}"/>
              </a:ext>
            </a:extLst>
          </p:cNvPr>
          <p:cNvSpPr>
            <a:spLocks noGrp="1"/>
          </p:cNvSpPr>
          <p:nvPr>
            <p:ph type="dt" sz="half" idx="10"/>
          </p:nvPr>
        </p:nvSpPr>
        <p:spPr/>
        <p:txBody>
          <a:bodyPr/>
          <a:lstStyle/>
          <a:p>
            <a:fld id="{5D9483D4-1318-4BFE-985E-BA0702BC7DAD}" type="datetime1">
              <a:t>6/10/2026</a:t>
            </a:fld>
            <a:endParaRPr lang="en-US"/>
          </a:p>
        </p:txBody>
      </p:sp>
      <p:sp>
        <p:nvSpPr>
          <p:cNvPr id="5" name="Footer Placeholder 4">
            <a:extLst>
              <a:ext uri="{FF2B5EF4-FFF2-40B4-BE49-F238E27FC236}">
                <a16:creationId xmlns:a16="http://schemas.microsoft.com/office/drawing/2014/main" id="{F2A34D83-0A6B-FDA7-EA8B-DFFEB33A1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B519F-985E-0C2F-B17B-A1C3773A8954}"/>
              </a:ext>
            </a:extLst>
          </p:cNvPr>
          <p:cNvSpPr>
            <a:spLocks noGrp="1"/>
          </p:cNvSpPr>
          <p:nvPr>
            <p:ph type="sldNum" sz="quarter" idx="12"/>
          </p:nvPr>
        </p:nvSpPr>
        <p:spPr/>
        <p:txBody>
          <a:bodyPr/>
          <a:lstStyle/>
          <a:p>
            <a:fld id="{A65A5C87-DF58-40C8-B092-1DE63DB4547E}" type="slidenum">
              <a:rPr lang="en-US" dirty="0"/>
              <a:t>8</a:t>
            </a:fld>
            <a:endParaRPr lang="en-US"/>
          </a:p>
        </p:txBody>
      </p:sp>
    </p:spTree>
    <p:extLst>
      <p:ext uri="{BB962C8B-B14F-4D97-AF65-F5344CB8AC3E}">
        <p14:creationId xmlns:p14="http://schemas.microsoft.com/office/powerpoint/2010/main" val="218017329"/>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AccentBoxVTI</vt:lpstr>
      <vt:lpstr>Exploratory Testing Plan</vt:lpstr>
      <vt:lpstr>#1. Year of School entry field</vt:lpstr>
      <vt:lpstr>#2.KPI Tiles</vt:lpstr>
      <vt:lpstr>#3. Student Detail View</vt:lpstr>
      <vt:lpstr>#4. Surveys</vt:lpstr>
      <vt:lpstr>#5. First-Generation Filter Field</vt:lpstr>
      <vt:lpstr>Bonus Activity</vt:lpstr>
      <vt:lpstr>Bonus Activity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2026-06-10T19:36:54Z</dcterms:created>
  <dcterms:modified xsi:type="dcterms:W3CDTF">2026-06-10T21:44:04Z</dcterms:modified>
</cp:coreProperties>
</file>