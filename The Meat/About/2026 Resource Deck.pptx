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82" r:id="rId6"/>
    <p:sldId id="309" r:id="rId7"/>
    <p:sldId id="257" r:id="rId8"/>
    <p:sldId id="258" r:id="rId9"/>
    <p:sldId id="259" r:id="rId10"/>
    <p:sldId id="260" r:id="rId11"/>
    <p:sldId id="263" r:id="rId12"/>
    <p:sldId id="261" r:id="rId13"/>
    <p:sldId id="297" r:id="rId14"/>
    <p:sldId id="284" r:id="rId15"/>
    <p:sldId id="264" r:id="rId16"/>
    <p:sldId id="285" r:id="rId17"/>
    <p:sldId id="295" r:id="rId18"/>
    <p:sldId id="265" r:id="rId19"/>
    <p:sldId id="266" r:id="rId20"/>
    <p:sldId id="267" r:id="rId21"/>
    <p:sldId id="268" r:id="rId22"/>
    <p:sldId id="269" r:id="rId23"/>
    <p:sldId id="270" r:id="rId24"/>
    <p:sldId id="273" r:id="rId25"/>
    <p:sldId id="303" r:id="rId26"/>
    <p:sldId id="271" r:id="rId27"/>
    <p:sldId id="302" r:id="rId28"/>
    <p:sldId id="275" r:id="rId29"/>
    <p:sldId id="304" r:id="rId30"/>
    <p:sldId id="277" r:id="rId31"/>
    <p:sldId id="308" r:id="rId32"/>
    <p:sldId id="279" r:id="rId33"/>
    <p:sldId id="301" r:id="rId34"/>
    <p:sldId id="294" r:id="rId35"/>
    <p:sldId id="286" r:id="rId36"/>
    <p:sldId id="287" r:id="rId37"/>
    <p:sldId id="306" r:id="rId38"/>
    <p:sldId id="307" r:id="rId39"/>
    <p:sldId id="288" r:id="rId40"/>
    <p:sldId id="296" r:id="rId41"/>
  </p:sldIdLst>
  <p:sldSz cx="12192000" cy="6858000"/>
  <p:notesSz cx="6858000" cy="9144000"/>
  <p:embeddedFontLst>
    <p:embeddedFont>
      <p:font typeface="Montserrat" panose="00000500000000000000" pitchFamily="2" charset="0"/>
      <p:regular r:id="rId43"/>
      <p:bold r:id="rId44"/>
      <p:italic r:id="rId45"/>
      <p:boldItalic r:id="rId46"/>
    </p:embeddedFont>
    <p:embeddedFont>
      <p:font typeface="Segoe UI" panose="020B0502040204020203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1uKQWNtPWXEOZEKryH6/k1kBC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063117-9DE9-C325-41C7-0D1CEAD05476}" name="Theresa Gartland" initials="TG" userId="S::theresa.gartland@evisions.com::7d3a5e13-4d12-4287-b1b2-3b2377523835" providerId="AD"/>
  <p188:author id="{4F8C3668-0BB4-4EAA-C6AF-39D9E33749BB}" name="Maya Kvesic" initials="MK" userId="S::maya.kvesic@evisions.com::18f9e2cf-4df6-4c7d-b41d-796a5f83d1f3" providerId="AD"/>
  <p188:author id="{9D0F8595-3329-72D8-4819-A93FEE422355}" name="Nicole Cliff" initials="NC" userId="S::nicole.cliff@evisions.com::e0cec6f9-be1f-467b-aab9-a4dc2007503a" providerId="AD"/>
  <p188:author id="{A012B8A3-8730-F703-F01B-FAEC1AA11090}" name="tgartland1027@gmail.com" initials="" userId="484851eaac0a0c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A1DD"/>
    <a:srgbClr val="CDD4EA"/>
    <a:srgbClr val="E1EAF3"/>
    <a:srgbClr val="CFD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FACD3-E16C-0AE6-8379-57F3AC9BE1E9}" v="74" dt="2026-07-16T19:29:53.735"/>
    <p1510:client id="{AC22D542-051C-62F7-370E-79C24AF16E46}" v="48" dt="2026-07-15T18:33:43.414"/>
    <p1510:client id="{B92129D0-D00D-2C93-B2BB-8F1248370007}" v="42" dt="2026-07-15T17:45:43.013"/>
  </p1510:revLst>
</p1510:revInfo>
</file>

<file path=ppt/tableStyles.xml><?xml version="1.0" encoding="utf-8"?>
<a:tblStyleLst xmlns:a="http://schemas.openxmlformats.org/drawingml/2006/main" def="{5189DC33-B204-43F0-AB97-1E3E6497E47D}">
  <a:tblStyle styleId="{5189DC33-B204-43F0-AB97-1E3E6497E4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7ECECF-697F-40F5-9450-1CA89B255B9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customschemas.google.com/relationships/presentationmetadata" Target="meta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7FD1AFA-4078-A0BC-72C5-17223A66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d4497d81f_0_26:notes">
            <a:extLst>
              <a:ext uri="{FF2B5EF4-FFF2-40B4-BE49-F238E27FC236}">
                <a16:creationId xmlns:a16="http://schemas.microsoft.com/office/drawing/2014/main" id="{1D17607F-8219-AA4B-7C67-F2BB9B17C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dd4497d81f_0_26:notes">
            <a:extLst>
              <a:ext uri="{FF2B5EF4-FFF2-40B4-BE49-F238E27FC236}">
                <a16:creationId xmlns:a16="http://schemas.microsoft.com/office/drawing/2014/main" id="{B6A6B403-6948-AE17-45FC-A4317F8DB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3129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d4497d81f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dd4497d81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f522b2a8c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1f522b2a8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building activity in afternoon? Day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 2 – how is Evisions structured # of people, customer, revenue, -- general business background and information  (day 2 in between strategy and goals)</a:t>
            </a:r>
            <a:endParaRPr/>
          </a:p>
        </p:txBody>
      </p:sp>
      <p:sp>
        <p:nvSpPr>
          <p:cNvPr id="91" name="Google Shape;9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8a786ee07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2c8a786ee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8a786ee07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c8a786ee0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8a786ee0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c8a786ee07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Preparation for next day – day in the life, etc.  </a:t>
            </a:r>
            <a:endParaRPr/>
          </a:p>
        </p:txBody>
      </p:sp>
      <p:sp>
        <p:nvSpPr>
          <p:cNvPr id="109" name="Google Shape;109;g2c8a786ee07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8a786ee07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2c8a786ee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12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Capstone check in’s:  </a:t>
            </a:r>
            <a:r>
              <a:rPr lang="en-US" sz="1600"/>
              <a:t>Check in on and contribute to your final presentation.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Daily reflections w/ Stuart:  </a:t>
            </a:r>
            <a:r>
              <a:rPr lang="en-US" sz="1600"/>
              <a:t>End each shared workday with a 15-minute team reflection.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Connections: Participate in a weekly program that build your interpersonal skills, communication skills, collaboration and teamwork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Fun group activities:  </a:t>
            </a:r>
            <a:r>
              <a:rPr lang="en-US" sz="1600"/>
              <a:t>Throughout the program you’ll participate in 7 different fun and enriching activities from scavenger hunts to yoga (no video needed ☺) and wood burning class.</a:t>
            </a:r>
            <a:r>
              <a:rPr lang="en-US"/>
              <a:t>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9e504a386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2c9e504a3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Capstone check in’s:  </a:t>
            </a:r>
            <a:r>
              <a:rPr lang="en-US" sz="1600"/>
              <a:t>Check in on and contribute to your final presentation.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Daily reflections w/ Stuart:  </a:t>
            </a:r>
            <a:r>
              <a:rPr lang="en-US" sz="1600"/>
              <a:t>End each shared workday with a 15-minute team reflection.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Connections: Participate in a weekly program that build your interpersonal skills, communication skills, collaboration and teamwork</a:t>
            </a:r>
            <a:endParaRPr sz="1400"/>
          </a:p>
          <a:p>
            <a:pPr marL="396875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Fun group activities:  </a:t>
            </a:r>
            <a:r>
              <a:rPr lang="en-US" sz="1600"/>
              <a:t>Throughout the program you’ll participate in 7 different fun and enriching activities from scavenger hunts to yoga (no video needed ☺) and wood burning class.</a:t>
            </a:r>
            <a:r>
              <a:rPr lang="en-US"/>
              <a:t>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703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f314519c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f314519ca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8f314519ca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95741ece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c95741ece2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2c95741ece2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f314519c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f314519c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/>
              <a:t>Monday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9-10: Jeff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10-11: Jeff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11-12: Jeff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/>
              <a:t>12-1: Dan Fitzgerald, Juan Cortez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/>
              <a:t>Tuesday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9-10: Jeff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10-11: William Young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/>
              <a:t>11-12: Chris Fleissner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12-1: Trevor Harwell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u="none"/>
          </a:p>
        </p:txBody>
      </p:sp>
      <p:sp>
        <p:nvSpPr>
          <p:cNvPr id="189" name="Google Shape;189;g28f314519ca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95741ece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c95741ece2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c95741ece2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AC78FB01-EB67-3669-2919-62171691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f314519ca_0_18:notes">
            <a:extLst>
              <a:ext uri="{FF2B5EF4-FFF2-40B4-BE49-F238E27FC236}">
                <a16:creationId xmlns:a16="http://schemas.microsoft.com/office/drawing/2014/main" id="{07F8EE60-2438-5A4D-0531-88D038897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f314519ca_0_18:notes">
            <a:extLst>
              <a:ext uri="{FF2B5EF4-FFF2-40B4-BE49-F238E27FC236}">
                <a16:creationId xmlns:a16="http://schemas.microsoft.com/office/drawing/2014/main" id="{0D4400D2-0673-9FFE-8902-9F14AA938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8f314519ca_0_18:notes">
            <a:extLst>
              <a:ext uri="{FF2B5EF4-FFF2-40B4-BE49-F238E27FC236}">
                <a16:creationId xmlns:a16="http://schemas.microsoft.com/office/drawing/2014/main" id="{EFA61BA7-3901-ECC0-CDEF-16CB8B9331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772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95741ece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c95741ece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c95741ece2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2E79760-13F0-168A-9770-9A45C781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f314519ca_0_9:notes">
            <a:extLst>
              <a:ext uri="{FF2B5EF4-FFF2-40B4-BE49-F238E27FC236}">
                <a16:creationId xmlns:a16="http://schemas.microsoft.com/office/drawing/2014/main" id="{969D7DD2-8B55-9E02-A952-5CC731F2E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f314519ca_0_9:notes">
            <a:extLst>
              <a:ext uri="{FF2B5EF4-FFF2-40B4-BE49-F238E27FC236}">
                <a16:creationId xmlns:a16="http://schemas.microsoft.com/office/drawing/2014/main" id="{66251E75-843E-CCAD-7AB9-8CEAC31DE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8f314519ca_0_9:notes">
            <a:extLst>
              <a:ext uri="{FF2B5EF4-FFF2-40B4-BE49-F238E27FC236}">
                <a16:creationId xmlns:a16="http://schemas.microsoft.com/office/drawing/2014/main" id="{0D913C21-82CD-B064-A4F6-04EC309CF5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42103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95741ece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2c95741ece2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2c95741ece2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2F96EFAE-6C39-871A-B820-C2F62101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f314519ca_0_18:notes">
            <a:extLst>
              <a:ext uri="{FF2B5EF4-FFF2-40B4-BE49-F238E27FC236}">
                <a16:creationId xmlns:a16="http://schemas.microsoft.com/office/drawing/2014/main" id="{9FC8A444-4E7A-1342-5DCA-1BD783FB4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f314519ca_0_18:notes">
            <a:extLst>
              <a:ext uri="{FF2B5EF4-FFF2-40B4-BE49-F238E27FC236}">
                <a16:creationId xmlns:a16="http://schemas.microsoft.com/office/drawing/2014/main" id="{CD5388F3-3EC1-8C69-4D85-360A9A99B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8f314519ca_0_18:notes">
            <a:extLst>
              <a:ext uri="{FF2B5EF4-FFF2-40B4-BE49-F238E27FC236}">
                <a16:creationId xmlns:a16="http://schemas.microsoft.com/office/drawing/2014/main" id="{053474B3-B2FA-F395-D188-DFCA28EB96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7997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c95741ece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c95741ece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c95741ece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EB1DED22-8871-8A8B-05B9-F227683A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f314519ca_0_18:notes">
            <a:extLst>
              <a:ext uri="{FF2B5EF4-FFF2-40B4-BE49-F238E27FC236}">
                <a16:creationId xmlns:a16="http://schemas.microsoft.com/office/drawing/2014/main" id="{A9A474FA-9A7F-95CF-6E39-F97506C27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f314519ca_0_18:notes">
            <a:extLst>
              <a:ext uri="{FF2B5EF4-FFF2-40B4-BE49-F238E27FC236}">
                <a16:creationId xmlns:a16="http://schemas.microsoft.com/office/drawing/2014/main" id="{C9B7C50C-35C1-C431-863E-6C52A6F01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8f314519ca_0_18:notes">
            <a:extLst>
              <a:ext uri="{FF2B5EF4-FFF2-40B4-BE49-F238E27FC236}">
                <a16:creationId xmlns:a16="http://schemas.microsoft.com/office/drawing/2014/main" id="{E120CBC2-DBCA-AA76-2A4E-8A4D0E66D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863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c95741ece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c95741ece2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Kassidy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2c95741ece2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4503160-7211-396C-DC9C-2CF13572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f314519ca_0_9:notes">
            <a:extLst>
              <a:ext uri="{FF2B5EF4-FFF2-40B4-BE49-F238E27FC236}">
                <a16:creationId xmlns:a16="http://schemas.microsoft.com/office/drawing/2014/main" id="{9CBB6357-88CE-C26D-0D28-7122CFF39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f314519ca_0_9:notes">
            <a:extLst>
              <a:ext uri="{FF2B5EF4-FFF2-40B4-BE49-F238E27FC236}">
                <a16:creationId xmlns:a16="http://schemas.microsoft.com/office/drawing/2014/main" id="{564B4897-44E3-7AFA-0D04-DEA7CACEF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8f314519ca_0_9:notes">
            <a:extLst>
              <a:ext uri="{FF2B5EF4-FFF2-40B4-BE49-F238E27FC236}">
                <a16:creationId xmlns:a16="http://schemas.microsoft.com/office/drawing/2014/main" id="{13D5BA01-91F4-2C2E-D577-7A801E3F28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4265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f314519c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f314519ca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8f314519ca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484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9e504a386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c9e504a38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BAF154AD-1088-B87E-EC86-FACD2E8B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9e504a386_0_2:notes">
            <a:extLst>
              <a:ext uri="{FF2B5EF4-FFF2-40B4-BE49-F238E27FC236}">
                <a16:creationId xmlns:a16="http://schemas.microsoft.com/office/drawing/2014/main" id="{3E5EC186-0939-8AFA-4724-CCD028562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c9e504a386_0_2:notes">
            <a:extLst>
              <a:ext uri="{FF2B5EF4-FFF2-40B4-BE49-F238E27FC236}">
                <a16:creationId xmlns:a16="http://schemas.microsoft.com/office/drawing/2014/main" id="{DB56BD87-56BD-FCC9-3B23-53833E1D1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16238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>
          <a:extLst>
            <a:ext uri="{FF2B5EF4-FFF2-40B4-BE49-F238E27FC236}">
              <a16:creationId xmlns:a16="http://schemas.microsoft.com/office/drawing/2014/main" id="{71785AA5-C42D-BE24-B015-E5D0BF98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>
            <a:extLst>
              <a:ext uri="{FF2B5EF4-FFF2-40B4-BE49-F238E27FC236}">
                <a16:creationId xmlns:a16="http://schemas.microsoft.com/office/drawing/2014/main" id="{40DE1786-67EA-A62B-96FA-1D83A2259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:notes">
            <a:extLst>
              <a:ext uri="{FF2B5EF4-FFF2-40B4-BE49-F238E27FC236}">
                <a16:creationId xmlns:a16="http://schemas.microsoft.com/office/drawing/2014/main" id="{2D301AE1-7755-C15A-96B6-BB9FEBB0A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6565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c9e504a386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2c9e504a38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26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f522b2a8c4_0_37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f522b2a8c4_0_37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f522b2a8c4_0_37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f522b2a8c4_0_38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1f522b2a8c4_0_38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f522b2a8c4_0_38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1f522b2a8c4_0_38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1f522b2a8c4_0_38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f522b2a8c4_0_3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f522b2a8c4_0_38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1f522b2a8c4_0_38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1f522b2a8c4_0_38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f522b2a8c4_0_39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1f522b2a8c4_0_39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f522b2a8c4_0_39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1f522b2a8c4_0_39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1f522b2a8c4_0_39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f522b2a8c4_0_40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1f522b2a8c4_0_40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f522b2a8c4_0_40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1f522b2a8c4_0_40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1f522b2a8c4_0_40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1f522b2a8c4_0_40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1f522b2a8c4_0_40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f522b2a8c4_0_40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1f522b2a8c4_0_40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f522b2a8c4_0_4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f522b2a8c4_0_4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1f522b2a8c4_0_4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f522b2a8c4_0_4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f522b2a8c4_0_4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1f522b2a8c4_0_4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1f522b2a8c4_0_4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1f522b2a8c4_0_4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1f522b2a8c4_0_4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f522b2a8c4_0_37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1f522b2a8c4_0_37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1f522b2a8c4_0_3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visionsinterns@evisions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hyperlink" Target="https://evisions.sharepoint.com/:p:/r/Internship%20Program%202023/2026/Weekly%20Lessons/Orientation/HR%20Presentation-New.pptx?d=w2b2ad1e644984728a05ab3a806919f13&amp;csf=1&amp;web=1&amp;e=E8x8rz" TargetMode="External"/><Relationship Id="rId4" Type="http://schemas.openxmlformats.org/officeDocument/2006/relationships/hyperlink" Target="https://evisions.slack.com/archives/C08QFNZGZ0V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visions.zoom.us/j/88929459215?pwd=rQtAGLbsFDES0kTS3HVbBK04rdvPsQ.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visions.zoom.us/j/8310682849?pwd=YPriPhVKIbD0aECMdavXs7x3HKDnQJ.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visions.zoom.us/my/iris.meet?pwd=YVVIS2NLck85RGc5QnB3anlyUkt6UT09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evisions.sharepoint.com/:w:/r/_layouts/15/Doc.aspx?sourcedoc=%7BCD3AB989-46CF-4654-9F71-69263992C021%7D&amp;file=Intern%20HW%20Deck%202025.docx&amp;action=default&amp;mobileredirect=true" TargetMode="External"/><Relationship Id="rId3" Type="http://schemas.openxmlformats.org/officeDocument/2006/relationships/hyperlink" Target="https://evisions.zoom.us/j/8310682849?pwd=YPriPhVKIbD0aECMdavXs7x3HKDnQJ.1" TargetMode="External"/><Relationship Id="rId7" Type="http://schemas.openxmlformats.org/officeDocument/2006/relationships/hyperlink" Target="https://evisions.zoom.us/j/8143528330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visions.zoom.us/j/89619901560?pwd=VGaa2DRdrDVhl9CjgGHX0aMqPPLysk.1" TargetMode="External"/><Relationship Id="rId5" Type="http://schemas.openxmlformats.org/officeDocument/2006/relationships/hyperlink" Target="https://evisions.zoom.us/my/iris.meet?pwd=YVVIS2NLck85RGc5QnB3anlyUkt6UT09" TargetMode="External"/><Relationship Id="rId4" Type="http://schemas.openxmlformats.org/officeDocument/2006/relationships/hyperlink" Target="https://evisions.sharepoint.com/:w:/r/_layouts/15/Doc.aspx?sourcedoc=%7B6419BAA2-7B04-4287-970F-0B5A7B424677%7D&amp;file=_Phishing%20Email%20Instructions.docx&amp;action=default&amp;mobileredirect=true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soljim.github.io/portfolio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organjlopes.github.io/portfolio-template/#portfolio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/>
          <p:nvPr/>
        </p:nvSpPr>
        <p:spPr>
          <a:xfrm>
            <a:off x="0" y="-114075"/>
            <a:ext cx="12192000" cy="1483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761625" y="2148375"/>
            <a:ext cx="10665300" cy="26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8000" b="1">
                <a:latin typeface="Montserrat"/>
                <a:ea typeface="Montserrat"/>
                <a:cs typeface="Montserrat"/>
                <a:sym typeface="Montserrat"/>
              </a:rPr>
              <a:t>2026 INTERNSHIP PROGRAM</a:t>
            </a:r>
            <a:endParaRPr sz="8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"/>
          <p:cNvSpPr txBox="1">
            <a:spLocks noGrp="1"/>
          </p:cNvSpPr>
          <p:nvPr>
            <p:ph type="subTitle" idx="1"/>
          </p:nvPr>
        </p:nvSpPr>
        <p:spPr>
          <a:xfrm>
            <a:off x="3225375" y="5411000"/>
            <a:ext cx="57378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3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Resource Deck</a:t>
            </a:r>
            <a:endParaRPr sz="300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 t="19008"/>
          <a:stretch/>
        </p:blipFill>
        <p:spPr>
          <a:xfrm>
            <a:off x="3585450" y="48250"/>
            <a:ext cx="5021100" cy="11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/>
          <p:nvPr/>
        </p:nvSpPr>
        <p:spPr>
          <a:xfrm>
            <a:off x="-1725" y="1369000"/>
            <a:ext cx="12192000" cy="780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-1725" y="1473275"/>
            <a:ext cx="12192000" cy="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-1725" y="1588538"/>
            <a:ext cx="12192000" cy="780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0" y="6604150"/>
            <a:ext cx="12192000" cy="2538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AEB45D3-A34D-8FBC-5843-3327E2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d4497d81f_0_26">
            <a:extLst>
              <a:ext uri="{FF2B5EF4-FFF2-40B4-BE49-F238E27FC236}">
                <a16:creationId xmlns:a16="http://schemas.microsoft.com/office/drawing/2014/main" id="{097D3C4D-049D-5165-042E-09E3DD442B3A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dd4497d81f_0_26">
            <a:extLst>
              <a:ext uri="{FF2B5EF4-FFF2-40B4-BE49-F238E27FC236}">
                <a16:creationId xmlns:a16="http://schemas.microsoft.com/office/drawing/2014/main" id="{84066B04-47CE-5912-EFD8-6C2339B64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155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Icebreaker</a:t>
            </a:r>
          </a:p>
        </p:txBody>
      </p:sp>
      <p:sp>
        <p:nvSpPr>
          <p:cNvPr id="108" name="Google Shape;108;g2dd4497d81f_0_26">
            <a:extLst>
              <a:ext uri="{FF2B5EF4-FFF2-40B4-BE49-F238E27FC236}">
                <a16:creationId xmlns:a16="http://schemas.microsoft.com/office/drawing/2014/main" id="{EFF014E5-510F-553F-2C68-B389BC149119}"/>
              </a:ext>
            </a:extLst>
          </p:cNvPr>
          <p:cNvSpPr txBox="1"/>
          <p:nvPr/>
        </p:nvSpPr>
        <p:spPr>
          <a:xfrm>
            <a:off x="409017" y="2086026"/>
            <a:ext cx="6294162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Name, school, level, major</a:t>
            </a:r>
          </a:p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Where are you from?</a:t>
            </a:r>
          </a:p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One place that shaped you</a:t>
            </a:r>
          </a:p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One place you want to go</a:t>
            </a:r>
          </a:p>
          <a:p>
            <a:pPr>
              <a:buClr>
                <a:schemeClr val="dk1"/>
              </a:buClr>
              <a:buSzPts val="3400"/>
            </a:pPr>
            <a:endParaRPr lang="en-US"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5" name="Graphic 4" descr="Travel with solid fill">
            <a:extLst>
              <a:ext uri="{FF2B5EF4-FFF2-40B4-BE49-F238E27FC236}">
                <a16:creationId xmlns:a16="http://schemas.microsoft.com/office/drawing/2014/main" id="{45C7C895-C2F0-88F3-409A-19DBD5E13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802" y="1469887"/>
            <a:ext cx="4382051" cy="4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88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d4497d81f_0_26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dd4497d81f_0_26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155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Important Sites/Systems</a:t>
            </a:r>
          </a:p>
        </p:txBody>
      </p:sp>
      <p:sp>
        <p:nvSpPr>
          <p:cNvPr id="108" name="Google Shape;108;g2dd4497d81f_0_26"/>
          <p:cNvSpPr txBox="1"/>
          <p:nvPr/>
        </p:nvSpPr>
        <p:spPr>
          <a:xfrm>
            <a:off x="320669" y="1462070"/>
            <a:ext cx="7144510" cy="610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44500">
              <a:lnSpc>
                <a:spcPct val="115000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Internship SharePoint - </a:t>
            </a:r>
            <a:r>
              <a:rPr lang="en-US" sz="3400">
                <a:solidFill>
                  <a:schemeClr val="dk1"/>
                </a:solidFill>
                <a:ea typeface="Calibri"/>
              </a:rPr>
              <a:t>2026</a:t>
            </a:r>
            <a:endParaRPr lang="en-US" sz="3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Font typeface="Arial"/>
              <a:buAutoNum type="arabicPeriod"/>
            </a:pPr>
            <a:endParaRPr lang="en-US" sz="2000">
              <a:solidFill>
                <a:schemeClr val="dk1"/>
              </a:solidFill>
              <a:ea typeface="Calibri"/>
            </a:endParaRPr>
          </a:p>
          <a:p>
            <a:pPr marL="457200" indent="-444500">
              <a:lnSpc>
                <a:spcPct val="114999"/>
              </a:lnSpc>
              <a:buClr>
                <a:schemeClr val="dk1"/>
              </a:buClr>
              <a:buSzPts val="3400"/>
              <a:buAutoNum type="arabicPeriod"/>
            </a:pPr>
            <a:r>
              <a:rPr lang="en-US" sz="3400">
                <a:solidFill>
                  <a:schemeClr val="dk1"/>
                </a:solidFill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evisionsinterns@evisions.com</a:t>
            </a:r>
            <a:r>
              <a:rPr lang="en-US" sz="3400">
                <a:solidFill>
                  <a:schemeClr val="dk1"/>
                </a:solidFill>
                <a:ea typeface="Calibri"/>
              </a:rPr>
              <a:t>, </a:t>
            </a:r>
            <a:r>
              <a:rPr lang="en-US" sz="3400" err="1">
                <a:solidFill>
                  <a:schemeClr val="dk1"/>
                </a:solidFill>
                <a:ea typeface="Calibri"/>
              </a:rPr>
              <a:t>Evisions</a:t>
            </a:r>
            <a:r>
              <a:rPr lang="en-US" sz="3400">
                <a:solidFill>
                  <a:schemeClr val="dk1"/>
                </a:solidFill>
                <a:ea typeface="Calibri"/>
              </a:rPr>
              <a:t> email address</a:t>
            </a:r>
            <a:endParaRPr lang="en-US" sz="3400">
              <a:solidFill>
                <a:schemeClr val="dk1"/>
              </a:solidFill>
              <a:latin typeface="Calibri"/>
              <a:ea typeface="Calibri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2700">
              <a:lnSpc>
                <a:spcPct val="114999"/>
              </a:lnSpc>
              <a:buClr>
                <a:schemeClr val="dk1"/>
              </a:buClr>
              <a:buSzPts val="3400"/>
            </a:pPr>
            <a:endParaRPr lang="en-US" sz="2000">
              <a:solidFill>
                <a:schemeClr val="dk1"/>
              </a:solidFill>
              <a:ea typeface="Calibri"/>
            </a:endParaRPr>
          </a:p>
          <a:p>
            <a:pPr marL="12700">
              <a:lnSpc>
                <a:spcPct val="115000"/>
              </a:lnSpc>
              <a:buClr>
                <a:schemeClr val="dk1"/>
              </a:buClr>
              <a:buSzPts val="3400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 Slack 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#2026-interns</a:t>
            </a:r>
            <a:endParaRPr lang="en-US" sz="3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444500">
              <a:lnSpc>
                <a:spcPct val="114999"/>
              </a:lnSpc>
              <a:buSzPts val="3400"/>
              <a:buFont typeface="Courier New"/>
              <a:buChar char="o"/>
            </a:pPr>
            <a:r>
              <a:rPr lang="en-US" sz="2400">
                <a:solidFill>
                  <a:schemeClr val="dk1"/>
                </a:solidFill>
                <a:ea typeface="Calibri"/>
              </a:rPr>
              <a:t>After joining the Slack channel, post an emoji that best represents you!</a:t>
            </a:r>
            <a:endParaRPr lang="en-US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444500">
              <a:lnSpc>
                <a:spcPct val="114999"/>
              </a:lnSpc>
              <a:buSzPts val="3400"/>
              <a:buFont typeface="Courier New"/>
              <a:buChar char="o"/>
            </a:pPr>
            <a:endParaRPr lang="en-US" sz="2400">
              <a:solidFill>
                <a:schemeClr val="dk1"/>
              </a:solidFill>
              <a:ea typeface="Calibri"/>
            </a:endParaRPr>
          </a:p>
          <a:p>
            <a:pPr marL="12700">
              <a:lnSpc>
                <a:spcPct val="114999"/>
              </a:lnSpc>
              <a:buSzPts val="3400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Human Resources PPT</a:t>
            </a:r>
            <a:endParaRPr lang="en-US" sz="3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14999"/>
              </a:lnSpc>
              <a:buSzPts val="3400"/>
            </a:pPr>
            <a:endParaRPr lang="en-US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>
              <a:lnSpc>
                <a:spcPct val="115000"/>
              </a:lnSpc>
            </a:pPr>
            <a:endParaRPr lang="en-US" sz="3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9" name="Google Shape;109;g2dd4497d81f_0_26" descr="Internet with solid fill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4044" y="1553110"/>
            <a:ext cx="4236689" cy="4289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79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f522b2a8c4_0_1"/>
          <p:cNvSpPr txBox="1">
            <a:spLocks noGrp="1"/>
          </p:cNvSpPr>
          <p:nvPr>
            <p:ph type="subTitle" idx="1"/>
          </p:nvPr>
        </p:nvSpPr>
        <p:spPr>
          <a:xfrm>
            <a:off x="4329001" y="1371138"/>
            <a:ext cx="7748109" cy="549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46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5000"/>
              <a:buFont typeface="Calibri"/>
              <a:buAutoNum type="arabicPeriod"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Schedules</a:t>
            </a:r>
            <a:endParaRPr lang="en-US"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457200" lvl="0" indent="-546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0"/>
              <a:buFont typeface="Calibri"/>
              <a:buAutoNum type="arabicPeriod"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Weekly Content</a:t>
            </a:r>
            <a:endParaRPr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indent="-546100" algn="l">
              <a:lnSpc>
                <a:spcPct val="115000"/>
              </a:lnSpc>
              <a:buSzPts val="5000"/>
              <a:buFont typeface="Calibri"/>
              <a:buAutoNum type="arabicPeriod"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Special Courses/Activities</a:t>
            </a:r>
            <a:endParaRPr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457200" lvl="0" indent="-5461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5000"/>
              <a:buAutoNum type="arabicPeriod"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lang="en-US"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indent="-546100" algn="l">
              <a:lnSpc>
                <a:spcPct val="114999"/>
              </a:lnSpc>
              <a:buSzPts val="5000"/>
              <a:buAutoNum type="arabicPeriod"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Digital Portfolio</a:t>
            </a:r>
          </a:p>
          <a:p>
            <a:pPr indent="-546100" algn="l">
              <a:lnSpc>
                <a:spcPct val="114999"/>
              </a:lnSpc>
              <a:buSzPts val="5000"/>
              <a:buAutoNum type="arabicPeriod"/>
            </a:pPr>
            <a:endParaRPr lang="en-US"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indent="-546100" algn="l">
              <a:lnSpc>
                <a:spcPct val="114999"/>
              </a:lnSpc>
              <a:buSzPts val="5000"/>
              <a:buAutoNum type="arabicPeriod"/>
            </a:pPr>
            <a:endParaRPr lang="en-US" sz="50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g1f522b2a8c4_0_1"/>
          <p:cNvSpPr/>
          <p:nvPr/>
        </p:nvSpPr>
        <p:spPr>
          <a:xfrm>
            <a:off x="0" y="-25"/>
            <a:ext cx="3900000" cy="68580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1f522b2a8c4_0_1"/>
          <p:cNvSpPr/>
          <p:nvPr/>
        </p:nvSpPr>
        <p:spPr>
          <a:xfrm>
            <a:off x="0" y="25"/>
            <a:ext cx="3596100" cy="68580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f522b2a8c4_0_1"/>
          <p:cNvSpPr/>
          <p:nvPr/>
        </p:nvSpPr>
        <p:spPr>
          <a:xfrm>
            <a:off x="0" y="25"/>
            <a:ext cx="3261900" cy="68580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1f522b2a8c4_0_1"/>
          <p:cNvSpPr txBox="1">
            <a:spLocks noGrp="1"/>
          </p:cNvSpPr>
          <p:nvPr>
            <p:ph type="subTitle" idx="1"/>
          </p:nvPr>
        </p:nvSpPr>
        <p:spPr>
          <a:xfrm>
            <a:off x="4543313" y="402625"/>
            <a:ext cx="6886912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This deck includes:</a:t>
            </a:r>
            <a:endParaRPr sz="500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77B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>
            <a:spLocks noGrp="1"/>
          </p:cNvSpPr>
          <p:nvPr>
            <p:ph type="ctrTitle"/>
          </p:nvPr>
        </p:nvSpPr>
        <p:spPr>
          <a:xfrm>
            <a:off x="2469150" y="2898450"/>
            <a:ext cx="72537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8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SCHEDULES</a:t>
            </a:r>
            <a:endParaRPr sz="8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16075" y="218050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569150" y="581025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57599" y="99"/>
            <a:ext cx="6826040" cy="10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DAY 1 &amp; 2: ORIENTATION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559182" y="1034963"/>
            <a:ext cx="107922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to the Evisions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Internship</a:t>
            </a:r>
            <a:r>
              <a:rPr lang="en-US" sz="2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Program!</a:t>
            </a:r>
            <a:r>
              <a:rPr lang="en-US" sz="2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first two days are about getting set up and acquainted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the company.</a:t>
            </a:r>
            <a:endParaRPr lang="en-US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6" name="Google Shape;96;p3"/>
          <p:cNvGraphicFramePr/>
          <p:nvPr>
            <p:extLst>
              <p:ext uri="{D42A27DB-BD31-4B8C-83A1-F6EECF244321}">
                <p14:modId xmlns:p14="http://schemas.microsoft.com/office/powerpoint/2010/main" val="3663147319"/>
              </p:ext>
            </p:extLst>
          </p:nvPr>
        </p:nvGraphicFramePr>
        <p:xfrm>
          <a:off x="82230" y="2017381"/>
          <a:ext cx="5760758" cy="4737929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880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784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1 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THURSDAY, MAY 28</a:t>
                      </a:r>
                      <a:endParaRPr sz="24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39A1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8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12:00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12:30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ET /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9:00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9:30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PT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Introductions and Icebreaker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8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12:30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1:00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ET /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lang="en-US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9:30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10:00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PT</a:t>
                      </a:r>
                      <a:endParaRPr lang="en-US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IT / HR</a:t>
                      </a: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82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1:00 – 1:30 ET / </a:t>
                      </a: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9:00 – 10:30 PT</a:t>
                      </a:r>
                      <a:endParaRPr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Program Review</a:t>
                      </a: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176808015"/>
                  </a:ext>
                </a:extLst>
              </a:tr>
              <a:tr h="8368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1:30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1:45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ET /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lang="en-US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10:30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10:45 PT</a:t>
                      </a:r>
                      <a:endParaRPr lang="en-US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Break</a:t>
                      </a: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8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1:45 – 3:00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ET /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lang="en-US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10:45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12:00 PT</a:t>
                      </a:r>
                      <a:endParaRPr lang="en-US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Program Review/</a:t>
                      </a:r>
                    </a:p>
                    <a:p>
                      <a:pPr marL="0" lv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StrengthsFinder</a:t>
                      </a:r>
                      <a:endParaRPr lang="en-US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293FC9-5A1E-5270-CAAA-5215987A4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53555"/>
              </p:ext>
            </p:extLst>
          </p:nvPr>
        </p:nvGraphicFramePr>
        <p:xfrm>
          <a:off x="6041179" y="2006417"/>
          <a:ext cx="6034608" cy="4725876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3017304">
                  <a:extLst>
                    <a:ext uri="{9D8B030D-6E8A-4147-A177-3AD203B41FA5}">
                      <a16:colId xmlns:a16="http://schemas.microsoft.com/office/drawing/2014/main" val="1964369479"/>
                    </a:ext>
                  </a:extLst>
                </a:gridCol>
                <a:gridCol w="3017304">
                  <a:extLst>
                    <a:ext uri="{9D8B030D-6E8A-4147-A177-3AD203B41FA5}">
                      <a16:colId xmlns:a16="http://schemas.microsoft.com/office/drawing/2014/main" val="3557178109"/>
                    </a:ext>
                  </a:extLst>
                </a:gridCol>
              </a:tblGrid>
              <a:tr h="53058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highlight>
                            <a:srgbClr val="39A1DD"/>
                          </a:highlight>
                          <a:latin typeface="Calibri"/>
                        </a:rPr>
                        <a:t>DAY 2 – FRIDAY, MAY 29</a:t>
                      </a:r>
                      <a:endParaRPr lang="en-US">
                        <a:effectLst/>
                        <a:highlight>
                          <a:srgbClr val="39A1DD"/>
                        </a:highlight>
                        <a:latin typeface="Calibri"/>
                      </a:endParaRP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A1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887726"/>
                  </a:ext>
                </a:extLst>
              </a:tr>
              <a:tr h="839059">
                <a:tc>
                  <a:txBody>
                    <a:bodyPr/>
                    <a:lstStyle/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12:00 – 12:15 ET / 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9:00 – 9:15 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Icebreaker</a:t>
                      </a: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688288"/>
                  </a:ext>
                </a:extLst>
              </a:tr>
              <a:tr h="839059">
                <a:tc>
                  <a:txBody>
                    <a:bodyPr/>
                    <a:lstStyle/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12:15 – 1:15 ET / 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9:15 – 10:15 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Evisions</a:t>
                      </a: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History &amp; Strategy</a:t>
                      </a:r>
                      <a:endParaRPr lang="en-US"/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293111"/>
                  </a:ext>
                </a:extLst>
              </a:tr>
              <a:tr h="839059">
                <a:tc>
                  <a:txBody>
                    <a:bodyPr/>
                    <a:lstStyle/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1:15 – 1:30 ET / 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10:15 – 10:30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Break</a:t>
                      </a: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41774"/>
                  </a:ext>
                </a:extLst>
              </a:tr>
              <a:tr h="8390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1:30 – 2:30 ET / </a:t>
                      </a:r>
                    </a:p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10:30 – 11:30 PT</a:t>
                      </a:r>
                      <a:endParaRPr lang="en-US"/>
                    </a:p>
                  </a:txBody>
                  <a:tcPr marL="70846" marR="70846" marT="70846" marB="70846">
                    <a:lnL w="9524">
                      <a:solidFill>
                        <a:srgbClr val="9E9E9E"/>
                      </a:solidFill>
                    </a:lnL>
                    <a:lnR w="9524">
                      <a:solidFill>
                        <a:srgbClr val="9E9E9E"/>
                      </a:solidFill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Connection Program</a:t>
                      </a:r>
                    </a:p>
                  </a:txBody>
                  <a:tcPr marL="70846" marR="70846" marT="70846" marB="70846">
                    <a:lnL w="9524">
                      <a:solidFill>
                        <a:srgbClr val="9E9E9E"/>
                      </a:solidFill>
                    </a:lnL>
                    <a:lnR w="9524">
                      <a:solidFill>
                        <a:srgbClr val="9E9E9E"/>
                      </a:solidFill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9E9E9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323929"/>
                  </a:ext>
                </a:extLst>
              </a:tr>
              <a:tr h="839059">
                <a:tc>
                  <a:txBody>
                    <a:bodyPr/>
                    <a:lstStyle/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2:30 – 3:00 ET / 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11:30 – 12:00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2200">
                          <a:effectLst/>
                          <a:latin typeface="Calibri"/>
                        </a:rPr>
                        <a:t>Week 1 Overview with Product &amp; UX</a:t>
                      </a:r>
                    </a:p>
                  </a:txBody>
                  <a:tcPr marL="70847" marR="70847" marT="70847" marB="7084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278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8a786ee07_0_22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2c8a786ee07_0_22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4651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g2c8a786ee07_0_22"/>
          <p:cNvSpPr txBox="1"/>
          <p:nvPr/>
        </p:nvSpPr>
        <p:spPr>
          <a:xfrm>
            <a:off x="334405" y="1176900"/>
            <a:ext cx="1149320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>
                <a:solidFill>
                  <a:schemeClr val="dk1"/>
                </a:solidFill>
                <a:latin typeface="Calibri"/>
              </a:rPr>
              <a:t>Although your weekly tasks may vary, we keep a consistent daily schedule to provide stable hours and help daily collaboration within the cohort.</a:t>
            </a:r>
          </a:p>
        </p:txBody>
      </p:sp>
      <p:graphicFrame>
        <p:nvGraphicFramePr>
          <p:cNvPr id="105" name="Google Shape;105;g2c8a786ee07_0_22"/>
          <p:cNvGraphicFramePr/>
          <p:nvPr>
            <p:extLst>
              <p:ext uri="{D42A27DB-BD31-4B8C-83A1-F6EECF244321}">
                <p14:modId xmlns:p14="http://schemas.microsoft.com/office/powerpoint/2010/main" val="3168485108"/>
              </p:ext>
            </p:extLst>
          </p:nvPr>
        </p:nvGraphicFramePr>
        <p:xfrm>
          <a:off x="935182" y="2459900"/>
          <a:ext cx="10287000" cy="3575124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COAST</a:t>
                      </a:r>
                      <a:endParaRPr sz="24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WEST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US" sz="24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COAST</a:t>
                      </a:r>
                      <a:endParaRPr sz="24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A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10:00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AM – 11:30 AM ET: Independent time </a:t>
                      </a:r>
                      <a:endParaRPr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i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Zzz…sleeping</a:t>
                      </a:r>
                      <a:endParaRPr sz="2200" i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11:30 AM – 12:00 PM ET: Lunch</a:t>
                      </a:r>
                      <a:endParaRPr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12:00 PM – 4:00 PM ET: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  Core/shared hours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sz="2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9:00 AM – 1:00 PM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 PT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n-US" sz="2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Core/shared hours</a:t>
                      </a:r>
                      <a:endParaRPr lang="en-US" sz="2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217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i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for dinner!</a:t>
                      </a:r>
                      <a:endParaRPr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1:00 PM – 1:30 PM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PT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Lunch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1:30 PM –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3:00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PM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PT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Independent time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lang="en-US" sz="2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8a786ee07_0_62"/>
          <p:cNvSpPr txBox="1">
            <a:spLocks noGrp="1"/>
          </p:cNvSpPr>
          <p:nvPr>
            <p:ph type="body" idx="1"/>
          </p:nvPr>
        </p:nvSpPr>
        <p:spPr>
          <a:xfrm>
            <a:off x="655325" y="1240146"/>
            <a:ext cx="105156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block of four hours of shared time is provided in the middle of the day. This time has several purposes:</a:t>
            </a:r>
            <a:endParaRPr lang="en-US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g2c8a786ee07_0_62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c8a786ee07_0_62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CORE/SHARED TIME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2c8a786ee07_0_62"/>
          <p:cNvSpPr/>
          <p:nvPr/>
        </p:nvSpPr>
        <p:spPr>
          <a:xfrm>
            <a:off x="322225" y="2352450"/>
            <a:ext cx="11603100" cy="1322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AC5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MEETINGS</a:t>
            </a: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leaders meet with the full cohort.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2c8a786ee07_0_62"/>
          <p:cNvSpPr/>
          <p:nvPr/>
        </p:nvSpPr>
        <p:spPr>
          <a:xfrm>
            <a:off x="322225" y="3819263"/>
            <a:ext cx="11603100" cy="1322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E77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WORK / MEETINGS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shared project work or assignments and smaller group meetings can happen during this time.</a:t>
            </a:r>
            <a:endParaRPr lang="en-US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g2c8a786ee07_0_62"/>
          <p:cNvSpPr/>
          <p:nvPr/>
        </p:nvSpPr>
        <p:spPr>
          <a:xfrm>
            <a:off x="322225" y="5275112"/>
            <a:ext cx="11603100" cy="1415594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D4D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WORK</a:t>
            </a:r>
            <a:endParaRPr lang="en-US" sz="26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these core hours are when everyone is online – you do not need to (and won’t) spend 100% of this time together. It can be used for independent work as the department leader deems appropriate.</a:t>
            </a:r>
            <a:endParaRPr lang="en-US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8a786ee07_0_36"/>
          <p:cNvSpPr txBox="1">
            <a:spLocks noGrp="1"/>
          </p:cNvSpPr>
          <p:nvPr>
            <p:ph type="body" idx="1"/>
          </p:nvPr>
        </p:nvSpPr>
        <p:spPr>
          <a:xfrm>
            <a:off x="655325" y="1329226"/>
            <a:ext cx="105156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SzPts val="2400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hour and a half of independent time is provided at each day's beginning (ET) or end (PT). This time has several purposes:</a:t>
            </a:r>
            <a:endParaRPr lang="en-US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g2c8a786ee07_0_36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2c8a786ee07_0_36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INDEPENDENT TIME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2c8a786ee07_0_36"/>
          <p:cNvSpPr/>
          <p:nvPr/>
        </p:nvSpPr>
        <p:spPr>
          <a:xfrm>
            <a:off x="323557" y="2532466"/>
            <a:ext cx="3477000" cy="4058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9A1DD"/>
          </a:solidFill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endParaRPr lang="en-US"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PORTFOLIO</a:t>
            </a:r>
            <a:endParaRPr lang="en-US" sz="26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You will be working on developing a personalized portfolio that highlights your project, experiences, achievements, and skills gained during the program and beforehand.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g2c8a786ee07_0_36"/>
          <p:cNvSpPr/>
          <p:nvPr/>
        </p:nvSpPr>
        <p:spPr>
          <a:xfrm>
            <a:off x="4175736" y="2530625"/>
            <a:ext cx="3477000" cy="4058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9A1DD"/>
          </a:solidFill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CAPSTONE PROJECT</a:t>
            </a:r>
            <a:endParaRPr lang="en-US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500"/>
              </a:spcBef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You will be working on a group capstone project and can use this time to contribute to the project individually or in small groups.</a:t>
            </a:r>
          </a:p>
        </p:txBody>
      </p:sp>
      <p:sp>
        <p:nvSpPr>
          <p:cNvPr id="116" name="Google Shape;116;g2c8a786ee07_0_36"/>
          <p:cNvSpPr/>
          <p:nvPr/>
        </p:nvSpPr>
        <p:spPr>
          <a:xfrm>
            <a:off x="8219588" y="2447928"/>
            <a:ext cx="3471094" cy="414109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9A1DD"/>
          </a:solidFill>
          <a:ln w="38100" cap="flat" cmpd="sng">
            <a:solidFill>
              <a:srgbClr val="ED4D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600" b="1">
              <a:solidFill>
                <a:schemeClr val="dk1"/>
              </a:solidFill>
              <a:latin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600" b="1">
                <a:solidFill>
                  <a:schemeClr val="dk1"/>
                </a:solidFill>
                <a:latin typeface="Calibri"/>
                <a:cs typeface="Calibri"/>
              </a:rPr>
              <a:t>DEPARTMENT WORK</a:t>
            </a:r>
            <a:endParaRPr lang="en-US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500"/>
              </a:spcBef>
            </a:pPr>
            <a:r>
              <a:rPr lang="en-US" sz="2200">
                <a:solidFill>
                  <a:schemeClr val="dk1"/>
                </a:solidFill>
                <a:latin typeface="Calibri"/>
                <a:cs typeface="Calibri"/>
              </a:rPr>
              <a:t>Each week, you will rotate through a different department and will have projects and assignments to complete during this time. Independent time is an opportunity to ask any questions.</a:t>
            </a:r>
            <a:endParaRPr lang="en-US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8a786ee07_0_22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2c8a786ee07_0_22"/>
          <p:cNvSpPr txBox="1">
            <a:spLocks noGrp="1"/>
          </p:cNvSpPr>
          <p:nvPr>
            <p:ph type="title"/>
          </p:nvPr>
        </p:nvSpPr>
        <p:spPr>
          <a:xfrm>
            <a:off x="322225" y="4016"/>
            <a:ext cx="10055289" cy="101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THURSDAY REVIEW MEETING AGENDA</a:t>
            </a:r>
          </a:p>
        </p:txBody>
      </p:sp>
      <p:sp>
        <p:nvSpPr>
          <p:cNvPr id="104" name="Google Shape;104;g2c8a786ee07_0_22"/>
          <p:cNvSpPr txBox="1"/>
          <p:nvPr/>
        </p:nvSpPr>
        <p:spPr>
          <a:xfrm>
            <a:off x="22950" y="1027935"/>
            <a:ext cx="11834394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800" b="1" i="1">
                <a:solidFill>
                  <a:schemeClr val="dk1"/>
                </a:solidFill>
                <a:latin typeface="Calibri"/>
              </a:rPr>
              <a:t>Thursday Review Meeting Format (12:00 PM PT / 3:00 PM ET)</a:t>
            </a:r>
            <a:endParaRPr lang="en-US" sz="1800" b="1">
              <a:solidFill>
                <a:schemeClr val="dk1"/>
              </a:solidFill>
              <a:latin typeface="Calibri"/>
            </a:endParaRPr>
          </a:p>
          <a:p>
            <a:pPr algn="ctr"/>
            <a:r>
              <a:rPr lang="en-US" sz="1800">
                <a:solidFill>
                  <a:schemeClr val="dk1"/>
                </a:solidFill>
                <a:latin typeface="Calibri"/>
              </a:rPr>
              <a:t>Meeting Objective: To conclude the week by reviewing the key insights, learnings, and experiences gained during this period.</a:t>
            </a:r>
          </a:p>
          <a:p>
            <a:r>
              <a:rPr lang="en-US" sz="1800" b="1">
                <a:latin typeface="Calibri"/>
              </a:rPr>
              <a:t>1. Welcome (5 minutes)</a:t>
            </a:r>
            <a:endParaRPr lang="en-US" sz="1800">
              <a:latin typeface="Calibri"/>
            </a:endParaRPr>
          </a:p>
          <a:p>
            <a:pPr marL="457200" lvl="1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Department Leader(s) welcomes interns and provides a brief recap of the week’s topics and projects.</a:t>
            </a:r>
          </a:p>
          <a:p>
            <a:r>
              <a:rPr lang="en-US" sz="1800" b="1">
                <a:latin typeface="Calibri"/>
              </a:rPr>
              <a:t>2. Intern Presentations (20 minutes) - </a:t>
            </a:r>
            <a:r>
              <a:rPr lang="en-US" sz="180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Please include visuals of the project the interns worked on.</a:t>
            </a:r>
          </a:p>
          <a:p>
            <a:r>
              <a:rPr lang="en-US" sz="1800">
                <a:solidFill>
                  <a:schemeClr val="dk1"/>
                </a:solidFill>
                <a:latin typeface="Calibri"/>
              </a:rPr>
              <a:t>  Accomplishments and projects completed. Lessons learned and key takeaways.</a:t>
            </a:r>
          </a:p>
          <a:p>
            <a:pPr marL="457200" lvl="2"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How their work fits within the department’s goals &amp; overall project.</a:t>
            </a:r>
          </a:p>
          <a:p>
            <a:pPr marL="457200" lvl="2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 Interns share visuals of the projects to help illustrate their work.</a:t>
            </a:r>
          </a:p>
          <a:p>
            <a:pPr marL="457200" lvl="2">
              <a:buChar char="•"/>
            </a:pPr>
            <a:r>
              <a:rPr lang="en-US" sz="1800">
                <a:solidFill>
                  <a:srgbClr val="1D1C1D"/>
                </a:solidFill>
                <a:latin typeface="Calibri"/>
              </a:rPr>
              <a:t> Reflective questions you can ask the interns during the session:</a:t>
            </a:r>
            <a:endParaRPr lang="en-US" sz="1800">
              <a:solidFill>
                <a:schemeClr val="dk1"/>
              </a:solidFill>
              <a:latin typeface="Calibri"/>
            </a:endParaRPr>
          </a:p>
          <a:p>
            <a:pPr marL="914400" lvl="2">
              <a:buChar char="•"/>
            </a:pPr>
            <a:r>
              <a:rPr lang="en-US" sz="1800">
                <a:solidFill>
                  <a:srgbClr val="1D1C1D"/>
                </a:solidFill>
                <a:latin typeface="Calibri"/>
              </a:rPr>
              <a:t>What did you learn or experience this week that had an impact on you? Best part of the week?</a:t>
            </a:r>
            <a:endParaRPr lang="en-US" sz="1800">
              <a:latin typeface="Calibri"/>
            </a:endParaRPr>
          </a:p>
          <a:p>
            <a:pPr marL="914400" lvl="2">
              <a:buChar char="•"/>
            </a:pPr>
            <a:r>
              <a:rPr lang="en-US" sz="1800">
                <a:solidFill>
                  <a:srgbClr val="1D1C1D"/>
                </a:solidFill>
                <a:latin typeface="Calibri"/>
              </a:rPr>
              <a:t>Is there anything about the material or content that you would change or improve?</a:t>
            </a:r>
            <a:endParaRPr lang="en-US" sz="1800">
              <a:latin typeface="Calibri"/>
            </a:endParaRPr>
          </a:p>
          <a:p>
            <a:pPr lvl="1"/>
            <a:r>
              <a:rPr lang="en-US" sz="1800" b="1">
                <a:latin typeface="Calibri"/>
              </a:rPr>
              <a:t>3. Roundtable Discussion (5 minutes)</a:t>
            </a:r>
            <a:endParaRPr lang="en-US" sz="1800">
              <a:latin typeface="Calibri"/>
            </a:endParaRPr>
          </a:p>
          <a:p>
            <a:pPr marL="457200" lvl="1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Open forum for interns and department leaders to reflect on the week. </a:t>
            </a:r>
          </a:p>
          <a:p>
            <a:pPr marL="457200" lvl="1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Share experiences, challenges, and successes.</a:t>
            </a:r>
            <a:endParaRPr lang="en-US" sz="1800">
              <a:solidFill>
                <a:schemeClr val="dk1"/>
              </a:solidFill>
            </a:endParaRPr>
          </a:p>
          <a:p>
            <a:r>
              <a:rPr lang="en-US" sz="1800" b="1">
                <a:latin typeface="Calibri"/>
              </a:rPr>
              <a:t>4. Next Week Preview, Upcoming Department Leader(s) Presents (10 minutes)</a:t>
            </a:r>
            <a:endParaRPr lang="en-US" sz="1800">
              <a:latin typeface="Calibri"/>
            </a:endParaRPr>
          </a:p>
          <a:p>
            <a:pPr marL="457200" lvl="2"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Agenda and objectives for the following week. Key topics, projects, and expectations.</a:t>
            </a:r>
          </a:p>
          <a:p>
            <a:r>
              <a:rPr lang="en-US" sz="1800" b="1">
                <a:latin typeface="Calibri"/>
              </a:rPr>
              <a:t>5. Wrap-Up and Closing Remarks (5 minutes)</a:t>
            </a:r>
            <a:endParaRPr lang="en-US" sz="1800" b="1">
              <a:solidFill>
                <a:schemeClr val="dk1"/>
              </a:solidFill>
              <a:latin typeface="Calibri"/>
            </a:endParaRPr>
          </a:p>
          <a:p>
            <a:pPr marL="800100" lvl="1" indent="-342900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Final thoughts, questions, and suggestions. </a:t>
            </a:r>
            <a:endParaRPr lang="en-US" sz="1800">
              <a:solidFill>
                <a:schemeClr val="dk1"/>
              </a:solidFill>
            </a:endParaRPr>
          </a:p>
          <a:p>
            <a:r>
              <a:rPr lang="en-US" sz="1800" b="1">
                <a:solidFill>
                  <a:schemeClr val="dk1"/>
                </a:solidFill>
                <a:latin typeface="Calibri"/>
              </a:rPr>
              <a:t>6. Professionalism Review, Meeting with Theresa (15 minutes)</a:t>
            </a:r>
            <a:endParaRPr lang="en-US" sz="1800" b="1">
              <a:solidFill>
                <a:schemeClr val="dk1"/>
              </a:solidFill>
            </a:endParaRPr>
          </a:p>
          <a:p>
            <a:pPr marL="457200" lvl="1"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</a:rPr>
              <a:t> The interns will meet with Theresa to reflect /review professionalism in the workplace.</a:t>
            </a:r>
          </a:p>
        </p:txBody>
      </p:sp>
    </p:spTree>
    <p:extLst>
      <p:ext uri="{BB962C8B-B14F-4D97-AF65-F5344CB8AC3E}">
        <p14:creationId xmlns:p14="http://schemas.microsoft.com/office/powerpoint/2010/main" val="269668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77BB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/>
          <p:nvPr/>
        </p:nvSpPr>
        <p:spPr>
          <a:xfrm>
            <a:off x="202363" y="224113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555438" y="587088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ctrTitle"/>
          </p:nvPr>
        </p:nvSpPr>
        <p:spPr>
          <a:xfrm>
            <a:off x="853500" y="2202777"/>
            <a:ext cx="104850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  <a:buSzPts val="6000"/>
            </a:pPr>
            <a:r>
              <a:rPr lang="en-US" sz="7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SPECIAL COURSES AND EVENTS</a:t>
            </a:r>
            <a:endParaRPr sz="7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322237" y="1045129"/>
            <a:ext cx="11742125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endParaRPr lang="en-US" sz="6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ctr"/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You</a:t>
            </a:r>
            <a:r>
              <a:rPr lang="en-US" sz="2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participate in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</a:t>
            </a:r>
            <a:r>
              <a:rPr lang="en-US" sz="2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activities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COURSES AND ACTIVITIES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5" name="Google Shape;145;p7"/>
          <p:cNvGraphicFramePr/>
          <p:nvPr>
            <p:extLst>
              <p:ext uri="{D42A27DB-BD31-4B8C-83A1-F6EECF244321}">
                <p14:modId xmlns:p14="http://schemas.microsoft.com/office/powerpoint/2010/main" val="1401977218"/>
              </p:ext>
            </p:extLst>
          </p:nvPr>
        </p:nvGraphicFramePr>
        <p:xfrm>
          <a:off x="226218" y="1815703"/>
          <a:ext cx="11743650" cy="5083908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39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971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BUSINESS</a:t>
                      </a:r>
                      <a:endParaRPr lang="en-US">
                        <a:latin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noProof="0" err="1">
                          <a:solidFill>
                            <a:schemeClr val="dk1"/>
                          </a:solidFill>
                          <a:latin typeface="Calibri"/>
                        </a:rPr>
                        <a:t>Evisions</a:t>
                      </a:r>
                      <a:r>
                        <a:rPr lang="en-US" sz="15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 executives will focus on business topics and exercises - from operations, revenue, networking, and corporate structures to executive roles.</a:t>
                      </a:r>
                      <a:endParaRPr lang="en-US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INTERN MIXERS</a:t>
                      </a:r>
                    </a:p>
                    <a:p>
                      <a:pPr marL="0" lvl="1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  <a:p>
                      <a:pPr lv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Throughout the program, interns will have dedicated online sessions to connect, collaborate, and build strong relationships as a group.</a:t>
                      </a:r>
                      <a:endParaRPr lang="en-US" sz="1500">
                        <a:latin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>
                        <a:solidFill>
                          <a:schemeClr val="dk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 GUESTS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Experience a day in the life of one of our executives and have a chance to ask questions.</a:t>
                      </a:r>
                      <a:endParaRPr sz="17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5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COMMUNICATIONS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Spend time with Stuart Chant learning and discussing effective communication techniques. </a:t>
                      </a:r>
                      <a:endParaRPr lang="en-US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CAPSTONE PROJECT REVIEW </a:t>
                      </a: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Check-in on and contribute to your final presentation.</a:t>
                      </a:r>
                      <a:endParaRPr lang="en-US" sz="13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CONNECTIONS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96875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Participate in a weekly 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SEL program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that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 increases self-esteem, self-efficacy, and practice aspects of productive/constructive listening and communication.</a:t>
                      </a:r>
                      <a:endParaRPr lang="en-US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8677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PHILANTHROPY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Learn from Theresa Gartland about philanthropy and how companies are giving back and making a positive social impact.</a:t>
                      </a:r>
                      <a:endParaRPr lang="en-US" sz="15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lvl="1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SHADOW DAYS</a:t>
                      </a:r>
                      <a:endParaRPr lang="en-US"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1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Shadow a specific department that aligns with your career goals/aspirations</a:t>
                      </a:r>
                      <a:endParaRPr lang="en-US" sz="1500" b="0" i="0" u="none" strike="noStrike" noProof="0">
                        <a:solidFill>
                          <a:srgbClr val="000000"/>
                        </a:solidFill>
                        <a:latin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COMPANY WIDE ACTIVITIES  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lang="en-US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Throughout the program, you’ll participate in in several different fun and enriching activities </a:t>
                      </a:r>
                      <a:endParaRPr lang="en-US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9e504a386_0_18"/>
          <p:cNvSpPr txBox="1"/>
          <p:nvPr/>
        </p:nvSpPr>
        <p:spPr>
          <a:xfrm>
            <a:off x="88475" y="1454638"/>
            <a:ext cx="1201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D1C1D"/>
                </a:solidFill>
                <a:latin typeface="Calibri"/>
                <a:ea typeface="Calibri"/>
                <a:cs typeface="Calibri"/>
                <a:sym typeface="Calibri"/>
              </a:rPr>
              <a:t>We’ve planned some fun social activities for you and your fellow interns!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c9e504a386_0_18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c9e504a386_0_18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8698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FULL GROUP SOCIAL ACTIVITIES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2" name="Google Shape;312;g2c9e504a386_0_18"/>
          <p:cNvGraphicFramePr/>
          <p:nvPr>
            <p:extLst>
              <p:ext uri="{D42A27DB-BD31-4B8C-83A1-F6EECF244321}">
                <p14:modId xmlns:p14="http://schemas.microsoft.com/office/powerpoint/2010/main" val="1797598287"/>
              </p:ext>
            </p:extLst>
          </p:nvPr>
        </p:nvGraphicFramePr>
        <p:xfrm>
          <a:off x="850604" y="2167859"/>
          <a:ext cx="10489354" cy="4355575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10489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STEPS CHALLENGE (OPTIONAL)</a:t>
                      </a:r>
                      <a:endParaRPr lang="en-US" sz="28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June 1 - 21</a:t>
                      </a:r>
                      <a:endParaRPr lang="en-US" sz="28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NATIONAL DONUT DAY: DONUT MAKING CLASS</a:t>
                      </a:r>
                      <a:endParaRPr lang="en-US" sz="28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1: Thursday, June 5, 2:00 pm – 3:00 pm ET/</a:t>
                      </a:r>
                      <a:r>
                        <a:rPr lang="en-US" sz="2400" b="1" i="0" u="none" strike="noStrike" noProof="0">
                          <a:solidFill>
                            <a:schemeClr val="dk1"/>
                          </a:solidFill>
                          <a:latin typeface="Calibri"/>
                        </a:rPr>
                        <a:t>11:00 am – 12:30 pm PT</a:t>
                      </a:r>
                      <a:endParaRPr lang="en-US" sz="2400" b="0" i="0" u="none" strike="noStrike" noProof="0">
                        <a:solidFill>
                          <a:srgbClr val="242424"/>
                        </a:solidFill>
                        <a:latin typeface="Segoe U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lang="en-US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INTERNATIONAL SELF CARE DAY: SOAP MAKING CLASS</a:t>
                      </a: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42985"/>
                  </a:ext>
                </a:extLst>
              </a:tr>
              <a:tr h="72481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Week 6: Friday, July 24, 3:00 pm – 4:00 pm ET/12:00 pm – 1:00 pm PT</a:t>
                      </a:r>
                      <a:endParaRPr lang="en-US" sz="2400" i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1308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322237" y="1045129"/>
            <a:ext cx="11742125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endParaRPr lang="en-US" sz="6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ctr"/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endParaRPr sz="28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2177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GROUPS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F3E643-D562-A4F2-195D-DF4764496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15633"/>
              </p:ext>
            </p:extLst>
          </p:nvPr>
        </p:nvGraphicFramePr>
        <p:xfrm>
          <a:off x="1766186" y="1352697"/>
          <a:ext cx="8764303" cy="5173890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4442046">
                  <a:extLst>
                    <a:ext uri="{9D8B030D-6E8A-4147-A177-3AD203B41FA5}">
                      <a16:colId xmlns:a16="http://schemas.microsoft.com/office/drawing/2014/main" val="2153498469"/>
                    </a:ext>
                  </a:extLst>
                </a:gridCol>
                <a:gridCol w="4322257">
                  <a:extLst>
                    <a:ext uri="{9D8B030D-6E8A-4147-A177-3AD203B41FA5}">
                      <a16:colId xmlns:a16="http://schemas.microsoft.com/office/drawing/2014/main" val="1670329995"/>
                    </a:ext>
                  </a:extLst>
                </a:gridCol>
              </a:tblGrid>
              <a:tr h="972790">
                <a:tc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bg1"/>
                        </a:solidFill>
                        <a:highlight>
                          <a:srgbClr val="39A1DD"/>
                        </a:highlight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highlight>
                            <a:srgbClr val="39A1DD"/>
                          </a:highlight>
                          <a:latin typeface="Calibri"/>
                        </a:rPr>
                        <a:t>East Coast</a:t>
                      </a:r>
                    </a:p>
                  </a:txBody>
                  <a:tcPr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bg1"/>
                        </a:solidFill>
                        <a:highlight>
                          <a:srgbClr val="39A1DD"/>
                        </a:highlight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3600" b="1">
                          <a:solidFill>
                            <a:schemeClr val="bg1"/>
                          </a:solidFill>
                          <a:highlight>
                            <a:srgbClr val="39A1DD"/>
                          </a:highlight>
                          <a:latin typeface="Calibri"/>
                        </a:rPr>
                        <a:t>West Coast</a:t>
                      </a:r>
                    </a:p>
                  </a:txBody>
                  <a:tcPr>
                    <a:solidFill>
                      <a:srgbClr val="39A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993833"/>
                  </a:ext>
                </a:extLst>
              </a:tr>
              <a:tr h="9727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Delaney</a:t>
                      </a:r>
                    </a:p>
                  </a:txBody>
                  <a:tcPr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Athziri</a:t>
                      </a:r>
                    </a:p>
                  </a:txBody>
                  <a:tcPr>
                    <a:solidFill>
                      <a:srgbClr val="E1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42297"/>
                  </a:ext>
                </a:extLst>
              </a:tr>
              <a:tr h="12469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Eadlin</a:t>
                      </a:r>
                    </a:p>
                  </a:txBody>
                  <a:tcPr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Carter</a:t>
                      </a:r>
                    </a:p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</a:txBody>
                  <a:tcPr>
                    <a:solidFill>
                      <a:srgbClr val="E1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44900"/>
                  </a:ext>
                </a:extLst>
              </a:tr>
              <a:tr h="9727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Mike</a:t>
                      </a:r>
                    </a:p>
                  </a:txBody>
                  <a:tcPr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Jeremy</a:t>
                      </a:r>
                    </a:p>
                  </a:txBody>
                  <a:tcPr>
                    <a:solidFill>
                      <a:srgbClr val="E1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141458"/>
                  </a:ext>
                </a:extLst>
              </a:tr>
              <a:tr h="9727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Sourish</a:t>
                      </a:r>
                    </a:p>
                  </a:txBody>
                  <a:tcPr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800">
                          <a:latin typeface="Calibri"/>
                        </a:rPr>
                        <a:t>Logan</a:t>
                      </a:r>
                    </a:p>
                  </a:txBody>
                  <a:tcPr>
                    <a:solidFill>
                      <a:srgbClr val="E1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42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538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A1DD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202363" y="224113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55438" y="587088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 txBox="1">
            <a:spLocks noGrp="1"/>
          </p:cNvSpPr>
          <p:nvPr>
            <p:ph type="ctrTitle"/>
          </p:nvPr>
        </p:nvSpPr>
        <p:spPr>
          <a:xfrm>
            <a:off x="1030040" y="2110749"/>
            <a:ext cx="104850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7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WEEKLY CONTENT</a:t>
            </a:r>
            <a:endParaRPr sz="7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601248" y="3606607"/>
            <a:ext cx="8989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week, you will rotate through a different department to learn, gain hands on experience, and actively contribute to that group’s priorities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1255650" y="3367042"/>
            <a:ext cx="10033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9"/>
          <p:cNvGraphicFramePr/>
          <p:nvPr>
            <p:extLst>
              <p:ext uri="{D42A27DB-BD31-4B8C-83A1-F6EECF244321}">
                <p14:modId xmlns:p14="http://schemas.microsoft.com/office/powerpoint/2010/main" val="2004103854"/>
              </p:ext>
            </p:extLst>
          </p:nvPr>
        </p:nvGraphicFramePr>
        <p:xfrm>
          <a:off x="-1" y="1037897"/>
          <a:ext cx="12179067" cy="5743619"/>
        </p:xfrm>
        <a:graphic>
          <a:graphicData uri="http://schemas.openxmlformats.org/drawingml/2006/table">
            <a:tbl>
              <a:tblPr firstRow="1" firstCol="1" bandRow="1">
                <a:noFill/>
                <a:tableStyleId>{167ECECF-697F-40F5-9450-1CA89B255B9E}</a:tableStyleId>
              </a:tblPr>
              <a:tblGrid>
                <a:gridCol w="308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1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Department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Lead / Contact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1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6/1</a:t>
                      </a:r>
                      <a:endParaRPr sz="1800">
                        <a:solidFill>
                          <a:srgbClr val="FFFFFF"/>
                        </a:solidFill>
                        <a:highlight>
                          <a:srgbClr val="39A1DD"/>
                        </a:highlight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Product &amp; UX</a:t>
                      </a:r>
                      <a:endParaRPr sz="18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Allen Taylor &amp; Brandy Smith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2 – 6/8</a:t>
                      </a:r>
                      <a:endParaRPr sz="1800"/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Engineering &amp; QA</a:t>
                      </a:r>
                      <a:endParaRPr sz="18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Jeff Beeman &amp; Ben Yim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3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6/15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Professional Services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Ronald Franklin, Jonathan Kim, </a:t>
                      </a:r>
                      <a:endParaRPr lang="en-US"/>
                    </a:p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Brian LaPlante</a:t>
                      </a:r>
                      <a:endParaRPr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4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6/23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Marketing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Kassidy Rubino &amp; Maya </a:t>
                      </a:r>
                      <a:r>
                        <a:rPr lang="en-US" sz="1600" u="none" strike="noStrike" cap="none" err="1"/>
                        <a:t>Kvesic</a:t>
                      </a: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5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6/29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Support &amp; DevOps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Jen Magri &amp; Will Jeong</a:t>
                      </a:r>
                      <a:endParaRPr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1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6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7/6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Finance &amp; HR</a:t>
                      </a:r>
                      <a:endParaRPr sz="1600" b="0" i="0" u="none" strike="noStrike" cap="non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Brad Koch &amp; Nicole Cliff</a:t>
                      </a:r>
                      <a:endParaRPr sz="1600" b="0" i="0" u="none" strike="noStrike" cap="none" noProof="0">
                        <a:solidFill>
                          <a:srgbClr val="000000"/>
                        </a:solidFill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6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7 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7/</a:t>
                      </a: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13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Sales &amp; CST</a:t>
                      </a:r>
                      <a:endParaRPr sz="1600" b="0" i="0" u="none" strike="noStrike" cap="non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Mike Ruzek &amp; James Buxton</a:t>
                      </a:r>
                      <a:endParaRPr lang="en-US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Week 8</a:t>
                      </a: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– 7/20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Capstone: Final Presentation</a:t>
                      </a:r>
                      <a:endParaRPr sz="18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/>
                        <a:t>Maya </a:t>
                      </a:r>
                      <a:r>
                        <a:rPr lang="en-US" sz="1600" u="none" strike="noStrike" cap="none" err="1"/>
                        <a:t>Kvesic</a:t>
                      </a:r>
                      <a:endParaRPr sz="1600" u="none" strike="noStrike" cap="none" err="1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358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FFFFFF"/>
                          </a:solidFill>
                        </a:rPr>
                        <a:t>Week 9 – 7/27</a:t>
                      </a:r>
                      <a:endParaRPr sz="1800" i="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                  Shadow Days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543546553"/>
                  </a:ext>
                </a:extLst>
              </a:tr>
            </a:tbl>
          </a:graphicData>
        </a:graphic>
      </p:graphicFrame>
      <p:sp>
        <p:nvSpPr>
          <p:cNvPr id="160" name="Google Shape;160;p9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WEEKLY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52D38C-CB7D-86F9-B314-8CAEBE2D1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61569"/>
              </p:ext>
            </p:extLst>
          </p:nvPr>
        </p:nvGraphicFramePr>
        <p:xfrm>
          <a:off x="11813" y="6338186"/>
          <a:ext cx="12179063" cy="519844"/>
        </p:xfrm>
        <a:graphic>
          <a:graphicData uri="http://schemas.openxmlformats.org/drawingml/2006/table">
            <a:tbl>
              <a:tblPr bandRow="1">
                <a:tableStyleId>{5189DC33-B204-43F0-AB97-1E3E6497E47D}</a:tableStyleId>
              </a:tblPr>
              <a:tblGrid>
                <a:gridCol w="3081765">
                  <a:extLst>
                    <a:ext uri="{9D8B030D-6E8A-4147-A177-3AD203B41FA5}">
                      <a16:colId xmlns:a16="http://schemas.microsoft.com/office/drawing/2014/main" val="2422824018"/>
                    </a:ext>
                  </a:extLst>
                </a:gridCol>
                <a:gridCol w="9097298">
                  <a:extLst>
                    <a:ext uri="{9D8B030D-6E8A-4147-A177-3AD203B41FA5}">
                      <a16:colId xmlns:a16="http://schemas.microsoft.com/office/drawing/2014/main" val="1406547930"/>
                    </a:ext>
                  </a:extLst>
                </a:gridCol>
              </a:tblGrid>
              <a:tr h="5198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25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Week 9 – 7/27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5283" marR="55283" anchor="ctr">
                    <a:lnL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Shadow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283" marR="55283" anchor="ctr">
                    <a:lnL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1220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body" idx="1"/>
          </p:nvPr>
        </p:nvSpPr>
        <p:spPr>
          <a:xfrm>
            <a:off x="390893" y="3289234"/>
            <a:ext cx="5966100" cy="3204625"/>
          </a:xfrm>
          <a:prstGeom prst="rect">
            <a:avLst/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Overview: Understand the roles and responsibilities of Product and UX; meet the team members and collaborate w/ others.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 a general u</a:t>
            </a:r>
            <a:r>
              <a:rPr lang="en-US" sz="1800">
                <a:solidFill>
                  <a:schemeClr val="dk1"/>
                </a:solidFill>
                <a:latin typeface="Calibri"/>
                <a:ea typeface="Calibri Light"/>
              </a:rPr>
              <a:t>nderstanding of the software development lifecycle and its key stages and activities.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 Light"/>
              </a:rPr>
              <a:t>Understand the role of research and planning in the preparation for a new product launch.</a:t>
            </a:r>
            <a:endParaRPr lang="en-US" sz="1800">
              <a:solidFill>
                <a:schemeClr val="dk1"/>
              </a:solidFill>
              <a:latin typeface="Calibri Light"/>
              <a:ea typeface="Calibri Light"/>
            </a:endParaRP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 an understanding of user experience.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Understand the role of wireframing and user testing.</a:t>
            </a:r>
            <a:endParaRPr lang="en-US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1" indent="0">
              <a:spcBef>
                <a:spcPts val="0"/>
              </a:spcBef>
              <a:buSzPts val="2000"/>
              <a:buNone/>
            </a:pP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6541550" y="257350"/>
            <a:ext cx="5328900" cy="6239400"/>
          </a:xfrm>
          <a:prstGeom prst="rect">
            <a:avLst/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 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 learning about your new department and team.  Find out your detailed scheduled and activities.</a:t>
            </a:r>
            <a:endParaRPr lang="en-US" sz="1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Research: 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Understand the importance of market research, with a specific focus on the higher education sector; perform research on a new product.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latin typeface="Calibri"/>
                <a:ea typeface="Calibri"/>
                <a:cs typeface="Calibri"/>
              </a:rPr>
              <a:t>Planning:</a:t>
            </a:r>
            <a:r>
              <a:rPr lang="en-US" sz="1600">
                <a:latin typeface="Calibri"/>
                <a:ea typeface="Calibri"/>
                <a:cs typeface="Calibri"/>
              </a:rPr>
              <a:t> Understand how budget, time, and quality impact software production; plan your product launch.</a:t>
            </a:r>
            <a:endParaRPr lang="en-US" sz="1600"/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SDLC: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Understanding the software engineering and the software development lifecycle (SDLC) and how Product works with other departments to execute it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Planning Activity: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Creating a backlog by identifying, documenting, and sizing features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Delivering software: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Understanding SDLC decision points, external factors, and our Product Introduction Checklist (PICL)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Let's Start Designing! Wireframing activity 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Pitching your design work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Wrap Up: 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Debrief with your team and share your learning for the week.</a:t>
            </a:r>
            <a:endParaRPr lang="en-US" sz="1600">
              <a:solidFill>
                <a:schemeClr val="dk1"/>
              </a:solidFill>
            </a:endParaRPr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endParaRPr sz="17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1"/>
          <p:cNvGraphicFramePr/>
          <p:nvPr>
            <p:extLst>
              <p:ext uri="{D42A27DB-BD31-4B8C-83A1-F6EECF244321}">
                <p14:modId xmlns:p14="http://schemas.microsoft.com/office/powerpoint/2010/main" val="800153607"/>
              </p:ext>
            </p:extLst>
          </p:nvPr>
        </p:nvGraphicFramePr>
        <p:xfrm>
          <a:off x="386650" y="257350"/>
          <a:ext cx="5966250" cy="2793875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1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June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1 - 5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Product &amp; UX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Andy Pelt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Dashboard Design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 LINKS; Miro;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314519ca_0_9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8f314519ca_0_9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&amp; UX: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BB30A-C097-CAB6-9B0E-506998D4F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04344"/>
              </p:ext>
            </p:extLst>
          </p:nvPr>
        </p:nvGraphicFramePr>
        <p:xfrm>
          <a:off x="421298" y="1399564"/>
          <a:ext cx="11525250" cy="5153025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2297128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14016727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836168615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8529405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975792289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39040977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Monday 6/1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 6/2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 6/3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 6/4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 6/5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3628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12:00 – 1:00 ET/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9:00 – 10:00 PT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Team Meet &amp; Greet / Project Intro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Present Your Results</a:t>
                      </a:r>
                    </a:p>
                    <a:p>
                      <a:pPr marL="0" lvl="0" indent="0" algn="ctr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Allen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Roadmapping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Exercise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(w/Andy)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Wireframing</a:t>
                      </a: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fr-F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exercise</a:t>
                      </a: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</a:t>
                      </a:r>
                      <a:r>
                        <a:rPr lang="fr-F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</a:t>
                      </a: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.) (w/UX)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 Jim Farrell, CSO</a:t>
                      </a: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912075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1:00 – 2:00 ET/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10:00 – 11:00 PT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Inventory &amp; Content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(w/Matt)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Observe: Grooming Meeting (w/Travis)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with Stuart Chant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526791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2:00 – 3:00 ET/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11:00 – 12:00 PT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and the Higher Ed Market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(w/Allen)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Launch PICL (w/Travis)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DONUT MAKING CLASS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80523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3:00 – 3:45 ET/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12:00 – 12:45 PT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Activity: Selecting a Target Market (w/Allen)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Activity: Sourcing Your Data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Let's start designing!  (w/Brandy and Delaney)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Weekly Review Mtg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 &amp; 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 Handoff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Connections Program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45968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3:45 – 4:00 ET/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12:45 – 1:00 PT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Professionalism 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Theresa Gartland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238" marR="72238" marT="36119" marB="36119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337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95741ece2_0_22"/>
          <p:cNvSpPr txBox="1">
            <a:spLocks noGrp="1"/>
          </p:cNvSpPr>
          <p:nvPr>
            <p:ph type="body" idx="1"/>
          </p:nvPr>
        </p:nvSpPr>
        <p:spPr>
          <a:xfrm>
            <a:off x="386800" y="3199575"/>
            <a:ext cx="5966100" cy="32973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buFont typeface="Calibri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Overview: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Expand understanding of Engineering &amp; QA roles and responsibilities.</a:t>
            </a:r>
          </a:p>
          <a:p>
            <a:pPr>
              <a:spcBef>
                <a:spcPts val="0"/>
              </a:spcBef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 a general understanding of the software development lifecycle and its key stages and activities.</a:t>
            </a:r>
          </a:p>
          <a:p>
            <a:pPr>
              <a:spcBef>
                <a:spcPts val="0"/>
              </a:spcBef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Understand the role and activities involved in software quality assurance.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2c95741ece2_0_22"/>
          <p:cNvSpPr txBox="1"/>
          <p:nvPr/>
        </p:nvSpPr>
        <p:spPr>
          <a:xfrm>
            <a:off x="6541550" y="257350"/>
            <a:ext cx="5404800" cy="6239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 learning about your new department and team. Find out your detailed scheduled and activities.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SDLC: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Understanding the software engineering and the software development lifecycle (SDLC)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Development planning: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Creating a backlog by identifying, writing, and sizing tasks.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Delivering software: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Understanding SDLC decision points, external factors, and DevOps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Assess the cost of building and operating a solution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Create repeatable test plans that ensure the delivery of quality software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Understand continuous improvement in the context of software delivery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Debrief with your team and share your learning for the week.</a:t>
            </a:r>
            <a:endParaRPr sz="17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g2c95741ece2_0_22"/>
          <p:cNvGraphicFramePr/>
          <p:nvPr>
            <p:extLst>
              <p:ext uri="{D42A27DB-BD31-4B8C-83A1-F6EECF244321}">
                <p14:modId xmlns:p14="http://schemas.microsoft.com/office/powerpoint/2010/main" val="1789348806"/>
              </p:ext>
            </p:extLst>
          </p:nvPr>
        </p:nvGraphicFramePr>
        <p:xfrm>
          <a:off x="386650" y="257350"/>
          <a:ext cx="5966250" cy="2905630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2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June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8 - 12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Engineering &amp; QA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Jeff Beeman &amp; Ben Yim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Dashboard </a:t>
                      </a:r>
                      <a:r>
                        <a:rPr lang="en-US" sz="1600" b="0" i="0" u="none" strike="noStrike" noProof="0" err="1">
                          <a:solidFill>
                            <a:schemeClr val="tx1"/>
                          </a:solidFill>
                          <a:latin typeface="Arial"/>
                        </a:rPr>
                        <a:t>DesignDashboard</a:t>
                      </a: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 Design​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hlinkClick r:id="rId3"/>
                        </a:rPr>
                        <a:t>ZOOM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314519ca_0_18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8f314519ca_0_18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ENGINEERING &amp; QA: Schedule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FAFC09-87B2-1FD1-9322-54BF6B6A5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589496"/>
              </p:ext>
            </p:extLst>
          </p:nvPr>
        </p:nvGraphicFramePr>
        <p:xfrm>
          <a:off x="208935" y="1192161"/>
          <a:ext cx="11769856" cy="5444530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66581387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58070270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43280565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293068579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4239689541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83954593"/>
                    </a:ext>
                  </a:extLst>
                </a:gridCol>
              </a:tblGrid>
              <a:tr h="436590">
                <a:tc>
                  <a:txBody>
                    <a:bodyPr/>
                    <a:lstStyle/>
                    <a:p>
                      <a:pPr rtl="0" fontAlgn="auto"/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Monday 6/8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Tuesday 6/9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Wednesday 6/10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Thursday 6/11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Friday 6/12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3211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9:00 – 10:00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alibri"/>
                        </a:rPr>
                        <a:t>Intro to Software Engineering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alibri"/>
                        </a:rPr>
                        <a:t>Argos X Stand-Up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Recap and homework review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Calibri"/>
                        </a:rPr>
                        <a:t>Assignment review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Business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with Jen Fleissner, CFO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600119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1:00 – 2:00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10:00 – 11:00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Software Engineering Basics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alibri"/>
                        </a:rPr>
                        <a:t>Backend, Frontend, &amp; Deployment Concepts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Calibri"/>
                        </a:rPr>
                        <a:t>Test Automation Demos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Communications</a:t>
                      </a: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 with Stuart Chant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156480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2:00 – 3:00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11:00 – 12:00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Exercise: Building a Backlog &amp; Managing the Work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Break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---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AI &amp; Software Engineering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242424"/>
                          </a:solidFill>
                          <a:effectLst/>
                          <a:latin typeface="Segoe UI"/>
                        </a:rPr>
                        <a:t>AI in testing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Philanthropy 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with Theresa Gartland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38213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3:00 – 3:45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12:45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Dashboard Designer Orientation​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AI &amp; Software Engineering (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Calibri"/>
                        </a:rPr>
                        <a:t>Intro to Software QA / Exploratory testing assignment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Weekly Review Mtg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Connections Program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832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3:45 – 4:00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12:45 – 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defTabSz="914400">
                        <a:tabLst/>
                        <a:defRPr/>
                      </a:pP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88709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95741ece2_0_36"/>
          <p:cNvSpPr txBox="1">
            <a:spLocks noGrp="1"/>
          </p:cNvSpPr>
          <p:nvPr>
            <p:ph type="body" idx="1"/>
          </p:nvPr>
        </p:nvSpPr>
        <p:spPr>
          <a:xfrm>
            <a:off x="384481" y="3366147"/>
            <a:ext cx="5966100" cy="3297300"/>
          </a:xfrm>
          <a:prstGeom prst="rect">
            <a:avLst/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ctr">
              <a:spcBef>
                <a:spcPts val="0"/>
              </a:spcBef>
              <a:buClr>
                <a:schemeClr val="accent2"/>
              </a:buClr>
              <a:buSzPts val="2000"/>
              <a:buNone/>
            </a:pPr>
            <a:endParaRPr lang="en-US"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Overview: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Responsibilities, Team members, Priorities, Collaboration w/ others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1: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Professional Services and Project Management Introduction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2: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Review of Client Facing Services and Hands on Product Work</a:t>
            </a:r>
          </a:p>
        </p:txBody>
      </p:sp>
      <p:sp>
        <p:nvSpPr>
          <p:cNvPr id="216" name="Google Shape;216;g2c95741ece2_0_36"/>
          <p:cNvSpPr txBox="1"/>
          <p:nvPr/>
        </p:nvSpPr>
        <p:spPr>
          <a:xfrm>
            <a:off x="6495764" y="263148"/>
            <a:ext cx="5328900" cy="6411928"/>
          </a:xfrm>
          <a:prstGeom prst="rect">
            <a:avLst/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 learning about your new department and team.  Find out your detailed scheduled and activities.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Argos Report Writer Training and Worksheet Exercises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Program Requirements Discussion and Brainstorming  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Debrief with your team and share your learning for the week.</a:t>
            </a:r>
            <a:endParaRPr lang="en-US">
              <a:solidFill>
                <a:schemeClr val="dk1"/>
              </a:solidFill>
            </a:endParaRPr>
          </a:p>
          <a:p>
            <a:pPr marL="457200" marR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endParaRPr lang="en-US" sz="17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sz="1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17" name="Google Shape;217;g2c95741ece2_0_36"/>
          <p:cNvGraphicFramePr/>
          <p:nvPr>
            <p:extLst>
              <p:ext uri="{D42A27DB-BD31-4B8C-83A1-F6EECF244321}">
                <p14:modId xmlns:p14="http://schemas.microsoft.com/office/powerpoint/2010/main" val="2736621132"/>
              </p:ext>
            </p:extLst>
          </p:nvPr>
        </p:nvGraphicFramePr>
        <p:xfrm>
          <a:off x="386650" y="257350"/>
          <a:ext cx="5966250" cy="3017385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3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June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15 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Professional Services 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Ronald Jonathan Kim, Brian LaPlante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Understand the purpose of Professional Services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 LINKS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8BA5CC82-3C7B-884B-AFFB-8B419A4E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314519ca_0_18">
            <a:extLst>
              <a:ext uri="{FF2B5EF4-FFF2-40B4-BE49-F238E27FC236}">
                <a16:creationId xmlns:a16="http://schemas.microsoft.com/office/drawing/2014/main" id="{8303D668-A806-2837-8D0A-F036531701BC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8f314519ca_0_18">
            <a:extLst>
              <a:ext uri="{FF2B5EF4-FFF2-40B4-BE49-F238E27FC236}">
                <a16:creationId xmlns:a16="http://schemas.microsoft.com/office/drawing/2014/main" id="{9523FB09-AF93-BE1A-B02C-E1333CB49A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PS: Schedule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AD7A97-FF82-2B0D-96F3-36A3FE08B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48545"/>
              </p:ext>
            </p:extLst>
          </p:nvPr>
        </p:nvGraphicFramePr>
        <p:xfrm>
          <a:off x="324057" y="1203125"/>
          <a:ext cx="11769856" cy="5444530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66581387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58070270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43280565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293068579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4239689541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83954593"/>
                    </a:ext>
                  </a:extLst>
                </a:gridCol>
              </a:tblGrid>
              <a:tr h="436590">
                <a:tc>
                  <a:txBody>
                    <a:bodyPr/>
                    <a:lstStyle/>
                    <a:p>
                      <a:pPr rtl="0" fontAlgn="auto"/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Monday 6/15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Tuesday 6/16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Wednesday 6/17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Thursday 6/18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Friday 6/19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3211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9:00 – 10:00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Professional Services Introduction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 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(Basic Training)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(Continued)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 Recap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20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r>
                        <a:rPr lang="en-US" sz="3600" b="1">
                          <a:effectLst/>
                          <a:latin typeface="Calibri"/>
                        </a:rPr>
                        <a:t>HOLIDAY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600119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1:00 – 2:00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10:00 – 11:00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Partnerships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 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(Basic Training)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(Continued)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 Recap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156480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2:00 – 3:00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11:00 – 12:00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Partnerships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 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(Basic Training)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(Continued)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Argos Workshop Recap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38213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3:00 – 3:45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12:45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Argos Workshop Overview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 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(Basic Training)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(Continued)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Weekly Review Mtg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832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3:45 – 4:00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12:45 – 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Argos Workshop Overview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 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(Basic Training)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Argos Workshop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(Continued)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8870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35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95741ece2_0_29"/>
          <p:cNvSpPr txBox="1">
            <a:spLocks noGrp="1"/>
          </p:cNvSpPr>
          <p:nvPr>
            <p:ph type="body" idx="1"/>
          </p:nvPr>
        </p:nvSpPr>
        <p:spPr>
          <a:xfrm>
            <a:off x="383089" y="3197025"/>
            <a:ext cx="5966100" cy="32973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ctr">
              <a:spcBef>
                <a:spcPts val="0"/>
              </a:spcBef>
              <a:buClr>
                <a:schemeClr val="accent2"/>
              </a:buClr>
              <a:buSzPts val="2000"/>
              <a:buNone/>
            </a:pPr>
            <a:endParaRPr lang="en-US"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lang="en-US" sz="24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  <a:ea typeface="Calibri"/>
              </a:rPr>
              <a:t>Understand the fundamentals of marketing, branding, and digital marketing </a:t>
            </a:r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>
                <a:solidFill>
                  <a:schemeClr val="dk1"/>
                </a:solidFill>
                <a:ea typeface="Calibri"/>
              </a:rPr>
              <a:t>Learn how to identify and target specific audiences </a:t>
            </a:r>
            <a:endParaRPr lang="en-US" sz="1200">
              <a:solidFill>
                <a:schemeClr val="dk1"/>
              </a:solidFill>
            </a:endParaRPr>
          </a:p>
          <a:p>
            <a:pPr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  <a:ea typeface="Calibri"/>
              </a:rPr>
              <a:t>Develop foundational knowledge of product positioning and campaign strategy </a:t>
            </a:r>
            <a:endParaRPr lang="en-US" sz="1200">
              <a:solidFill>
                <a:schemeClr val="dk1"/>
              </a:solidFill>
            </a:endParaRPr>
          </a:p>
          <a:p>
            <a:pPr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  <a:ea typeface="Calibri"/>
              </a:rPr>
              <a:t>Explore how digital channels like social media, email, websites, and events work together in marketing </a:t>
            </a:r>
            <a:endParaRPr lang="en-US" sz="1200">
              <a:solidFill>
                <a:schemeClr val="dk1"/>
              </a:solidFill>
            </a:endParaRPr>
          </a:p>
          <a:p>
            <a:pPr>
              <a:buFont typeface="Arial"/>
              <a:buChar char="●"/>
            </a:pPr>
            <a:r>
              <a:rPr lang="en-US" sz="1200">
                <a:solidFill>
                  <a:schemeClr val="dk1"/>
                </a:solidFill>
                <a:ea typeface="Calibri"/>
              </a:rPr>
              <a:t>Gain experience creating marketing content and promotional assets </a:t>
            </a:r>
            <a:endParaRPr lang="en-US" sz="1200">
              <a:solidFill>
                <a:schemeClr val="dk1"/>
              </a:solidFill>
            </a:endParaRPr>
          </a:p>
          <a:p>
            <a:r>
              <a:rPr lang="en-US" sz="1200">
                <a:solidFill>
                  <a:schemeClr val="dk1"/>
                </a:solidFill>
                <a:ea typeface="Calibri"/>
              </a:rPr>
              <a:t>Learn how to measure marketing performance and engagement</a:t>
            </a:r>
            <a:endParaRPr lang="en-US" sz="1200">
              <a:solidFill>
                <a:schemeClr val="dk1"/>
              </a:solidFill>
            </a:endParaRPr>
          </a:p>
          <a:p>
            <a:pPr marL="4572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Char char="●"/>
            </a:pP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1" indent="0">
              <a:spcBef>
                <a:spcPts val="0"/>
              </a:spcBef>
              <a:buSzPts val="2000"/>
              <a:buNone/>
            </a:pP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g2c95741ece2_0_29"/>
          <p:cNvSpPr txBox="1"/>
          <p:nvPr/>
        </p:nvSpPr>
        <p:spPr>
          <a:xfrm>
            <a:off x="6556675" y="257350"/>
            <a:ext cx="5389500" cy="62394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endParaRPr lang="en-US" sz="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 a brand identity </a:t>
            </a:r>
            <a:endParaRPr lang="en-US">
              <a:solidFill>
                <a:schemeClr val="dk1"/>
              </a:solidFill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Create audience personas and positioning strategies </a:t>
            </a:r>
            <a:endParaRPr lang="en-US"/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a digital marketing campaign and content plan </a:t>
            </a:r>
            <a:endParaRPr lang="en-US"/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Develop social media posts, email campaigns, and website mockups </a:t>
            </a:r>
            <a:endParaRPr lang="en-US"/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Create a mock event strategy and promotional plan</a:t>
            </a:r>
            <a:endParaRPr lang="en-US"/>
          </a:p>
          <a:p>
            <a:pPr marL="120650">
              <a:buClr>
                <a:schemeClr val="dk1"/>
              </a:buClr>
              <a:buSzPts val="1700"/>
            </a:pPr>
            <a:endParaRPr lang="en-US" sz="16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g2c95741ece2_0_29"/>
          <p:cNvGraphicFramePr/>
          <p:nvPr>
            <p:extLst>
              <p:ext uri="{D42A27DB-BD31-4B8C-83A1-F6EECF244321}">
                <p14:modId xmlns:p14="http://schemas.microsoft.com/office/powerpoint/2010/main" val="1196484665"/>
              </p:ext>
            </p:extLst>
          </p:nvPr>
        </p:nvGraphicFramePr>
        <p:xfrm>
          <a:off x="386650" y="257350"/>
          <a:ext cx="5966250" cy="3352206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4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June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23 - 26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Marketing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Kassidy Rubino &amp; Maya </a:t>
                      </a:r>
                      <a:r>
                        <a:rPr lang="en-US" sz="1600" err="1"/>
                        <a:t>Kvesic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3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latin typeface="Arial"/>
                          <a:cs typeface="Arial"/>
                        </a:rPr>
                        <a:t>Learn the fundamentals of marketing through hands-on experience creating integrated marketing campaigns</a:t>
                      </a:r>
                      <a:endParaRPr lang="en-US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Zoom, Canva, Microsoft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2D30EB1-2AB7-8713-0D84-F603C6D1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314519ca_0_9">
            <a:extLst>
              <a:ext uri="{FF2B5EF4-FFF2-40B4-BE49-F238E27FC236}">
                <a16:creationId xmlns:a16="http://schemas.microsoft.com/office/drawing/2014/main" id="{E23A4500-8D84-26AE-F60C-C1AF92E5C28B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8f314519ca_0_9">
            <a:extLst>
              <a:ext uri="{FF2B5EF4-FFF2-40B4-BE49-F238E27FC236}">
                <a16:creationId xmlns:a16="http://schemas.microsoft.com/office/drawing/2014/main" id="{10904D0D-3D45-625E-8EDD-C935622CD9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MARKETING: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55A5AF-11F9-138B-4595-EF0CE5277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9896"/>
              </p:ext>
            </p:extLst>
          </p:nvPr>
        </p:nvGraphicFramePr>
        <p:xfrm>
          <a:off x="195942" y="1132114"/>
          <a:ext cx="11828129" cy="5256657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635422">
                  <a:extLst>
                    <a:ext uri="{9D8B030D-6E8A-4147-A177-3AD203B41FA5}">
                      <a16:colId xmlns:a16="http://schemas.microsoft.com/office/drawing/2014/main" val="420805204"/>
                    </a:ext>
                  </a:extLst>
                </a:gridCol>
                <a:gridCol w="1937486">
                  <a:extLst>
                    <a:ext uri="{9D8B030D-6E8A-4147-A177-3AD203B41FA5}">
                      <a16:colId xmlns:a16="http://schemas.microsoft.com/office/drawing/2014/main" val="1588962322"/>
                    </a:ext>
                  </a:extLst>
                </a:gridCol>
                <a:gridCol w="2043814">
                  <a:extLst>
                    <a:ext uri="{9D8B030D-6E8A-4147-A177-3AD203B41FA5}">
                      <a16:colId xmlns:a16="http://schemas.microsoft.com/office/drawing/2014/main" val="3832349415"/>
                    </a:ext>
                  </a:extLst>
                </a:gridCol>
                <a:gridCol w="2185581">
                  <a:extLst>
                    <a:ext uri="{9D8B030D-6E8A-4147-A177-3AD203B41FA5}">
                      <a16:colId xmlns:a16="http://schemas.microsoft.com/office/drawing/2014/main" val="342844200"/>
                    </a:ext>
                  </a:extLst>
                </a:gridCol>
                <a:gridCol w="2100624">
                  <a:extLst>
                    <a:ext uri="{9D8B030D-6E8A-4147-A177-3AD203B41FA5}">
                      <a16:colId xmlns:a16="http://schemas.microsoft.com/office/drawing/2014/main" val="113247476"/>
                    </a:ext>
                  </a:extLst>
                </a:gridCol>
                <a:gridCol w="1925202">
                  <a:extLst>
                    <a:ext uri="{9D8B030D-6E8A-4147-A177-3AD203B41FA5}">
                      <a16:colId xmlns:a16="http://schemas.microsoft.com/office/drawing/2014/main" val="3642101591"/>
                    </a:ext>
                  </a:extLst>
                </a:gridCol>
              </a:tblGrid>
              <a:tr h="393467">
                <a:tc>
                  <a:txBody>
                    <a:bodyPr/>
                    <a:lstStyle/>
                    <a:p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Monday 6/22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Tuesday 6/23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Wednesday 6/24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Thursday 6/25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Friday 6/26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0159"/>
                  </a:ext>
                </a:extLst>
              </a:tr>
              <a:tr h="97209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12:00 – 1:00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9:00 – 10:00 PT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36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HOLIDAY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Meet Evisions Marketing Team +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Presentation: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Intro to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Assignment: Content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Presentation: Event Marketing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Business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with Brian Stevens, CRO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784690"/>
                  </a:ext>
                </a:extLst>
              </a:tr>
              <a:tr h="97209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1:00 – 2:00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10:00 – 11:00 PT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Assignment: Intro to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Presentation: Email Marketing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Assignment: Event Marketing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Communications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with Stuart Chant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97499"/>
                  </a:ext>
                </a:extLst>
              </a:tr>
              <a:tr h="97209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2:00 – 3:00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11:00 – 12:00 PT</a:t>
                      </a: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Presentation + Assignment: Digital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Assignment: Email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Presentation + Assignment: Website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Philanthropy              with Theresa Gartland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211298"/>
                  </a:ext>
                </a:extLst>
              </a:tr>
              <a:tr h="97481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3:00 – 3:45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12:00 – 12:45 PT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Presentation: Content Marketing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Presentation + Assignment: Social Media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Weekly Review Mtg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Connections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70319"/>
                  </a:ext>
                </a:extLst>
              </a:tr>
              <a:tr h="97209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3:45 – 4:00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12:45 – 1:00 PT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94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722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95741ece2_0_43"/>
          <p:cNvSpPr txBox="1">
            <a:spLocks noGrp="1"/>
          </p:cNvSpPr>
          <p:nvPr>
            <p:ph type="body" idx="1"/>
          </p:nvPr>
        </p:nvSpPr>
        <p:spPr>
          <a:xfrm>
            <a:off x="386336" y="3271750"/>
            <a:ext cx="5966100" cy="3266408"/>
          </a:xfrm>
          <a:prstGeom prst="rect">
            <a:avLst/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Overview: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Responsibilities, Team members, Priorities, Collaboration w/ others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1: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Introduction to Support, Operations &amp; Technical Documentation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2: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Troubleshooting, Collaboration &amp; Escalations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3: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Apply your learning and develop your Support organization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TOPIC 4: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Introduction to Cybersecurity and Compliance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5: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Introduction to DevOps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2" name="Google Shape;232;g2c95741ece2_0_43"/>
          <p:cNvGraphicFramePr/>
          <p:nvPr>
            <p:extLst>
              <p:ext uri="{D42A27DB-BD31-4B8C-83A1-F6EECF244321}">
                <p14:modId xmlns:p14="http://schemas.microsoft.com/office/powerpoint/2010/main" val="2109894097"/>
              </p:ext>
            </p:extLst>
          </p:nvPr>
        </p:nvGraphicFramePr>
        <p:xfrm>
          <a:off x="386650" y="257350"/>
          <a:ext cx="5966250" cy="3017385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5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June 29 – July 3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 &amp; DevOps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Jen Magri &amp; Will Jeong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Understand the need for these roles/plan your departments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 LINKS - </a:t>
                      </a:r>
                      <a:r>
                        <a:rPr lang="en-US" sz="1600">
                          <a:hlinkClick r:id="rId3"/>
                        </a:rPr>
                        <a:t>Support Zoom Link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hlinkClick r:id="rId4"/>
                        </a:rPr>
                        <a:t>DevOps Zoom Link</a:t>
                      </a:r>
                      <a:endParaRPr lang="en-US"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3" name="Google Shape;233;g2c95741ece2_0_43"/>
          <p:cNvSpPr txBox="1"/>
          <p:nvPr/>
        </p:nvSpPr>
        <p:spPr>
          <a:xfrm>
            <a:off x="6528100" y="304193"/>
            <a:ext cx="5313900" cy="6239400"/>
          </a:xfrm>
          <a:prstGeom prst="rect">
            <a:avLst/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 learning about your new department and team.  Find out your detailed scheduled and activities.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 of an ideal support analyst – Examples of Good/bad customer experiences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3 KB's for your offering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Support org chart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Establish KPI's and a Support SLA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Troubleshooting and Escalation Processes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Pricing and Licensing your Offering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Phishing Emails</a:t>
            </a:r>
            <a:endParaRPr lang="en-US">
              <a:solidFill>
                <a:schemeClr val="dk1"/>
              </a:solidFill>
              <a:ea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AWS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Tabletop Exercise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Debrief with your team and share your learning for the week.</a:t>
            </a:r>
            <a:endParaRPr sz="17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799ED3F9-9A30-1972-A2C1-1A4C74DA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314519ca_0_18">
            <a:extLst>
              <a:ext uri="{FF2B5EF4-FFF2-40B4-BE49-F238E27FC236}">
                <a16:creationId xmlns:a16="http://schemas.microsoft.com/office/drawing/2014/main" id="{7C71DB4C-ABC3-A102-23DB-495B60650F76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8f314519ca_0_18">
            <a:extLst>
              <a:ext uri="{FF2B5EF4-FFF2-40B4-BE49-F238E27FC236}">
                <a16:creationId xmlns:a16="http://schemas.microsoft.com/office/drawing/2014/main" id="{5984A848-C880-4BBC-7F21-FEC31309E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&amp; DEVOPS: Schedule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90BDF4-56E0-0289-A364-429B5D9A1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970384"/>
              </p:ext>
            </p:extLst>
          </p:nvPr>
        </p:nvGraphicFramePr>
        <p:xfrm>
          <a:off x="208935" y="1149352"/>
          <a:ext cx="11769856" cy="5828822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66581387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58070270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43280565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293068579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4239689541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83954593"/>
                    </a:ext>
                  </a:extLst>
                </a:gridCol>
              </a:tblGrid>
              <a:tr h="436590">
                <a:tc>
                  <a:txBody>
                    <a:bodyPr/>
                    <a:lstStyle/>
                    <a:p>
                      <a:pPr rtl="0" fontAlgn="auto"/>
                      <a:r>
                        <a:rPr lang="en-US" sz="1400">
                          <a:effectLst/>
                          <a:latin typeface="Calibri"/>
                          <a:hlinkClick r:id="rId3"/>
                        </a:rPr>
                        <a:t>Support Zoom Link</a:t>
                      </a: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Monday 6/29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Tuesday 6/30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Wednesday 7/1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Thursday 7/2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Friday 7/3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3211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9:00 – 10:00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Introduction to Support and Beyond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Support Analyst Attributes/Experiences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Support Operations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KPI's, SLA, Scheduling, Training,  Pricing &amp; Licensing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Calibri"/>
                        </a:rPr>
                        <a:t>Support HW Presentations and Feedback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HW: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Create a phishing email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4"/>
                        </a:rPr>
                        <a:t>Phishing Email Template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0" fontAlgn="base"/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4000" b="1">
                          <a:effectLst/>
                          <a:latin typeface="Calibri"/>
                        </a:rPr>
                        <a:t>HOLIDAY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600119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1:00 – 2:00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10:00 – 11:00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Systems Overview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Salesforce Cases/Queues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Evisions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Community CO-OP &amp; Knowledge Articles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Get to know Support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Support Standup Meeting 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Q&amp;A with Team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hlinkClick r:id="rId6"/>
                        </a:rPr>
                        <a:t>Zoom Link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Calibri"/>
                        </a:rPr>
                        <a:t>Support HW Presentations and Feedback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AI Security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&amp;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Compliance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156480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2:00 – 3:00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11:00 – 12:00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AI Session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How AI tools can be leveraged in Support roles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hlinkClick r:id="rId7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Troubleshooting, Collaboration and Escalations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hlinkClick r:id="rId6"/>
                        </a:rPr>
                        <a:t>Zoom Link</a:t>
                      </a:r>
                      <a:endParaRPr lang="en-US" sz="1400" b="0" i="0" u="sng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Introduction to DevOps and AWS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Working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Session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438213"/>
                  </a:ext>
                </a:extLst>
              </a:tr>
              <a:tr h="805295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3:00 – 3:45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12:45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sng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Operations &amp; Tech Docs Overview &amp; Q&amp;A</a:t>
                      </a:r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400" u="sng">
                          <a:effectLst/>
                          <a:latin typeface="Calibri"/>
                        </a:rPr>
                        <a:t>Introduction to Assignments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Introduction to Cybersecurity and Compliance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Weekly Review Mtg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0832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3:45 – 4:00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12:45 – 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HW: 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Create 3 KB's for your offering including one that has video content 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Create a Support Org Chart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hlinkClick r:id="rId8"/>
                        </a:rPr>
                        <a:t>Homework Assignment List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>
                          <a:effectLst/>
                          <a:latin typeface="Calibri"/>
                        </a:rPr>
                        <a:t>HW: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050">
                          <a:effectLst/>
                          <a:latin typeface="Calibri"/>
                        </a:rPr>
                        <a:t>Establish KPI's and SLA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050">
                          <a:effectLst/>
                          <a:latin typeface="Calibri"/>
                        </a:rPr>
                        <a:t>Establish and Document Troubleshooting and Escalation Processes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050">
                          <a:effectLst/>
                          <a:latin typeface="Calibri"/>
                        </a:rPr>
                        <a:t>Create a Licensing Model and Price Grid for your offering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Tabletop Exercise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hlinkClick r:id="rId5"/>
                        </a:rPr>
                        <a:t>Zoom Link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8870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4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c95741ece2_0_51"/>
          <p:cNvSpPr txBox="1">
            <a:spLocks noGrp="1"/>
          </p:cNvSpPr>
          <p:nvPr>
            <p:ph type="body" idx="1"/>
          </p:nvPr>
        </p:nvSpPr>
        <p:spPr>
          <a:xfrm>
            <a:off x="376565" y="3175021"/>
            <a:ext cx="5966100" cy="3297300"/>
          </a:xfrm>
          <a:prstGeom prst="rect">
            <a:avLst/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Department Overview: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Responsibilities, Team members, Priorities, Collaboration w/ others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Learning Objectives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</a:t>
            </a:r>
            <a:br>
              <a:rPr lang="en-US" sz="1800">
                <a:latin typeface="Calibri"/>
                <a:ea typeface="Calibri"/>
                <a:cs typeface="Calibri"/>
              </a:rPr>
            </a:br>
            <a:endParaRPr lang="en-US" sz="180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Department Overview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Responsibilities, Team members, Priorities, Collaboration w/ others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Learning Objectives: 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1: 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Employee Lifecycle from interview to separation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2: Benefits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3: Compliance and Comp</a:t>
            </a:r>
          </a:p>
          <a:p>
            <a:pPr>
              <a:spcBef>
                <a:spcPts val="0"/>
              </a:spcBef>
              <a:buFont typeface="Calibri,Sans-Serif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48" name="Google Shape;248;g2c95741ece2_0_51"/>
          <p:cNvGraphicFramePr/>
          <p:nvPr>
            <p:extLst>
              <p:ext uri="{D42A27DB-BD31-4B8C-83A1-F6EECF244321}">
                <p14:modId xmlns:p14="http://schemas.microsoft.com/office/powerpoint/2010/main" val="3029282514"/>
              </p:ext>
            </p:extLst>
          </p:nvPr>
        </p:nvGraphicFramePr>
        <p:xfrm>
          <a:off x="386650" y="257350"/>
          <a:ext cx="5966250" cy="2905630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6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July 6 - 10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Finance &amp; HR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Brad Koch &amp; Nicole Cliff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Finance:</a:t>
                      </a:r>
                      <a:br>
                        <a:rPr lang="en-US" sz="1600"/>
                      </a:br>
                      <a:r>
                        <a:rPr lang="en-US" sz="1600"/>
                        <a:t>HR: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 LINKS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9" name="Google Shape;249;g2c95741ece2_0_51"/>
          <p:cNvSpPr txBox="1"/>
          <p:nvPr/>
        </p:nvSpPr>
        <p:spPr>
          <a:xfrm>
            <a:off x="6475976" y="253176"/>
            <a:ext cx="5404800" cy="6239400"/>
          </a:xfrm>
          <a:prstGeom prst="rect">
            <a:avLst/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 learning about your new department and team.  Find out your detailed scheduled and activities.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Monday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Corporate Finance and Budgeting, personal budget exercise. Learn and understand finance and budgeting concepts that can be applied professionally and personally.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Tuesday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Revenue, Expenses, and Financial Statements. Build financials for the capstone project. Hands on experience in looking at the financial implications of a business venture.</a:t>
            </a:r>
          </a:p>
          <a:p>
            <a:pPr marL="457200" indent="-336550"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Department Kick Off: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Start your week meeting and learning about your new department and team.  Find out your detailed scheduled </a:t>
            </a:r>
            <a:r>
              <a:rPr lang="en-US" sz="17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nd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activities.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Wednesday: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Building your dream on-boarding process.</a:t>
            </a: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Designing your ideal benefit package, </a:t>
            </a:r>
            <a:r>
              <a:rPr lang="en-US" sz="17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whatto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look for when job searching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Thursday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Tricky Situations: employee relations </a:t>
            </a:r>
          </a:p>
          <a:p>
            <a:pPr marL="457200" indent="-336550">
              <a:buClr>
                <a:schemeClr val="dk1"/>
              </a:buClr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Debrief with your team and share your learning for the week.</a:t>
            </a: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endParaRPr lang="en-US" sz="17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0650">
              <a:buClr>
                <a:schemeClr val="dk1"/>
              </a:buClr>
              <a:buSzPts val="1700"/>
            </a:pPr>
            <a:br>
              <a:rPr lang="en-US"/>
            </a:b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0650">
              <a:buSzPts val="1700"/>
            </a:pPr>
            <a:endParaRPr lang="en-US" sz="17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sz="1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DF2898E5-3DD1-F951-5D68-743595F8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314519ca_0_18">
            <a:extLst>
              <a:ext uri="{FF2B5EF4-FFF2-40B4-BE49-F238E27FC236}">
                <a16:creationId xmlns:a16="http://schemas.microsoft.com/office/drawing/2014/main" id="{88AA6E04-07BA-0DB5-0BC7-B91E91A3A039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8f314519ca_0_18">
            <a:extLst>
              <a:ext uri="{FF2B5EF4-FFF2-40B4-BE49-F238E27FC236}">
                <a16:creationId xmlns:a16="http://schemas.microsoft.com/office/drawing/2014/main" id="{6AE61E10-BCDC-42E1-EA8E-4B9C75B2E1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FINANCE &amp; HR: Schedule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A87136-09B1-EFBE-2023-8A6270738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68595"/>
              </p:ext>
            </p:extLst>
          </p:nvPr>
        </p:nvGraphicFramePr>
        <p:xfrm>
          <a:off x="208935" y="1192161"/>
          <a:ext cx="11769856" cy="5580608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60871">
                  <a:extLst>
                    <a:ext uri="{9D8B030D-6E8A-4147-A177-3AD203B41FA5}">
                      <a16:colId xmlns:a16="http://schemas.microsoft.com/office/drawing/2014/main" val="366581387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58070270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432805656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1293068579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4239689541"/>
                    </a:ext>
                  </a:extLst>
                </a:gridCol>
                <a:gridCol w="2041797">
                  <a:extLst>
                    <a:ext uri="{9D8B030D-6E8A-4147-A177-3AD203B41FA5}">
                      <a16:colId xmlns:a16="http://schemas.microsoft.com/office/drawing/2014/main" val="383954593"/>
                    </a:ext>
                  </a:extLst>
                </a:gridCol>
              </a:tblGrid>
              <a:tr h="436590">
                <a:tc>
                  <a:txBody>
                    <a:bodyPr/>
                    <a:lstStyle/>
                    <a:p>
                      <a:pPr rtl="0" fontAlgn="auto"/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Monday 7/6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Tuesday 7/7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Wednesday 7/8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Thursday 7/9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  <a:latin typeface="Calibri"/>
                        </a:rPr>
                        <a:t>Friday 7/10</a:t>
                      </a:r>
                      <a:endParaRPr lang="en-US">
                        <a:effectLst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3211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9:00 – 10:00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400">
                          <a:effectLst/>
                          <a:latin typeface="Calibri"/>
                        </a:rPr>
                        <a:t>Introductions + The World of Corporate Finance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Revenue Overview and Breakout Session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Department Kickoff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Compliance 101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 rtl="0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Communications</a:t>
                      </a:r>
                      <a:endParaRPr lang="en-US"/>
                    </a:p>
                    <a:p>
                      <a:pPr lvl="0" algn="ctr" rtl="0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 with Stuart Chant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600119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1:00 – 2:00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10:00 – 11:00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400">
                          <a:effectLst/>
                          <a:latin typeface="Calibri"/>
                        </a:rPr>
                        <a:t>Overview – Personal Budgeting &amp; Brainstorm Session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TAM &amp; Expense Overview + Expense Breakout Session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Onboarding – from offer thru first 90 days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Trainings: Sexual harassment</a:t>
                      </a:r>
                      <a:b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Tricky Situations: employee relations, what would you do?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156480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2:00 – 3:00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11:00 – 12:00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Breakout Session – Complete Personal Budgets. Review and Collaborate as a Group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Financial Statements and Operations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Create your own 1st day orientation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PayFactors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: let's benchmark your ideal role. 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Philanthropy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with Theresa Gartland</a:t>
                      </a: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38213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3:00 – 3:45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12:00 – 12:45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Overview of Corporate Budgeting &amp; Parallels to Personal Budgeting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Wrap- Reflection and Learnings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400">
                          <a:effectLst/>
                          <a:latin typeface="Calibri"/>
                        </a:rPr>
                        <a:t>AI and Excel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Introduction to benefits – research and build your ideal package</a:t>
                      </a:r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Weekly Review Mtg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endParaRPr lang="en-US" sz="1400">
                        <a:effectLst/>
                        <a:latin typeface="Calibri"/>
                      </a:endParaRPr>
                    </a:p>
                    <a:p>
                      <a:pPr algn="ctr" rtl="0" fontAlgn="base"/>
                      <a:r>
                        <a:rPr lang="en-US" sz="1400">
                          <a:effectLst/>
                          <a:latin typeface="Calibri"/>
                        </a:rPr>
                        <a:t>Connections Program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8328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3:45 – 4:00 ET/</a:t>
                      </a:r>
                      <a:endParaRPr lang="en-US">
                        <a:effectLst/>
                        <a:latin typeface="Calibri"/>
                      </a:endParaRPr>
                    </a:p>
                    <a:p>
                      <a:pPr rtl="0" fontAlgn="base"/>
                      <a:r>
                        <a:rPr lang="en-US" sz="1400">
                          <a:effectLst/>
                          <a:latin typeface="Calibri"/>
                        </a:rPr>
                        <a:t>12:45 – 1:00 PT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Calibri"/>
                        </a:rPr>
                        <a:t>Wrap – Reflection and Learnings</a:t>
                      </a: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0866" marR="70866" marT="35433" marB="35433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68870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88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95741ece2_0_58"/>
          <p:cNvSpPr txBox="1">
            <a:spLocks noGrp="1"/>
          </p:cNvSpPr>
          <p:nvPr>
            <p:ph type="body" idx="1"/>
          </p:nvPr>
        </p:nvSpPr>
        <p:spPr>
          <a:xfrm>
            <a:off x="386800" y="3199575"/>
            <a:ext cx="5966100" cy="3297300"/>
          </a:xfrm>
          <a:prstGeom prst="rect">
            <a:avLst/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Department Overview: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Responsibilities, Team members, Priorities, Collaboration w/ others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1: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2: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3: 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,Sans-Serif"/>
              <a:buChar char="●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TOPIC 4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</a:t>
            </a:r>
            <a:endParaRPr lang="en-US">
              <a:solidFill>
                <a:schemeClr val="dk1"/>
              </a:solidFill>
            </a:endParaRPr>
          </a:p>
        </p:txBody>
      </p:sp>
      <p:graphicFrame>
        <p:nvGraphicFramePr>
          <p:cNvPr id="264" name="Google Shape;264;g2c95741ece2_0_58"/>
          <p:cNvGraphicFramePr/>
          <p:nvPr>
            <p:extLst>
              <p:ext uri="{D42A27DB-BD31-4B8C-83A1-F6EECF244321}">
                <p14:modId xmlns:p14="http://schemas.microsoft.com/office/powerpoint/2010/main" val="1827181410"/>
              </p:ext>
            </p:extLst>
          </p:nvPr>
        </p:nvGraphicFramePr>
        <p:xfrm>
          <a:off x="386650" y="257350"/>
          <a:ext cx="5966250" cy="2905630"/>
        </p:xfrm>
        <a:graphic>
          <a:graphicData uri="http://schemas.openxmlformats.org/drawingml/2006/table">
            <a:tbl>
              <a:tblPr>
                <a:noFill/>
                <a:tableStyleId>{5189DC33-B204-43F0-AB97-1E3E6497E47D}</a:tableStyleId>
              </a:tblPr>
              <a:tblGrid>
                <a:gridCol w="29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WEEK 7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Calibri"/>
                        </a:rPr>
                        <a:t>July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13 - 17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CST &amp; Sales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DEPARTMENT LEAD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James Buxton &amp;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Mike Ruzek </a:t>
                      </a:r>
                      <a:endParaRPr lang="en-US"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OVERALL GOAL / PROJECT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CST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Sales </a:t>
                      </a:r>
                      <a:endParaRPr lang="en-US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MATERIALS NEEDED</a:t>
                      </a:r>
                      <a:endParaRPr sz="16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ZOOM LINKS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77B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1BD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5" name="Google Shape;265;g2c95741ece2_0_58"/>
          <p:cNvSpPr txBox="1"/>
          <p:nvPr/>
        </p:nvSpPr>
        <p:spPr>
          <a:xfrm>
            <a:off x="6515862" y="260828"/>
            <a:ext cx="5404800" cy="6239400"/>
          </a:xfrm>
          <a:prstGeom prst="rect">
            <a:avLst/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ACTIVITIES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your week meeting and learning about your new department and team.  Find out your detailed scheduled and activities.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Team Structure &amp; Sales Process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leverage Emotional Intelligence</a:t>
            </a:r>
            <a:endParaRPr lang="en-US"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Discovery and using that for Presentations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Debrief with your team and share your learning for the week.</a:t>
            </a:r>
            <a:endParaRPr sz="17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36550"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Department Kick Off: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Start your week meeting and learning about your new department and team.  Find out your detailed scheduled and activities.</a:t>
            </a:r>
          </a:p>
          <a:p>
            <a:pPr marL="457200" indent="-336550"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(4 sessions) CET Intro; </a:t>
            </a:r>
            <a:r>
              <a:rPr lang="en-US" sz="17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Projectintroduction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; Feedback's place in software </a:t>
            </a:r>
            <a:r>
              <a:rPr lang="en-US" sz="17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launches,collection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methods; Feedback mechanisms and </a:t>
            </a:r>
            <a:r>
              <a:rPr lang="en-US" sz="17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tools;Testing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an and refining tools</a:t>
            </a:r>
          </a:p>
          <a:p>
            <a:pPr marL="457200" indent="-336550"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ACTIVITY: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(2 sessions) Planning feedback implementation, logistics; Analyzing feedback for continuous improvement. </a:t>
            </a:r>
            <a:endParaRPr lang="en-US" sz="17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336550">
              <a:buSzPts val="1700"/>
              <a:buFont typeface="Calibri,Sans-Serif"/>
              <a:buChar char="●"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Weekly Wrap Up: 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Debrief with your team and share your learning for the week.</a:t>
            </a:r>
            <a:endParaRPr lang="en-US">
              <a:solidFill>
                <a:schemeClr val="dk1"/>
              </a:solidFill>
            </a:endParaRPr>
          </a:p>
          <a:p>
            <a:pPr lvl="1"/>
            <a:endParaRPr lang="en-US" sz="1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FD0D39F-6054-72FB-4E0C-C7C8ACA7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314519ca_0_9">
            <a:extLst>
              <a:ext uri="{FF2B5EF4-FFF2-40B4-BE49-F238E27FC236}">
                <a16:creationId xmlns:a16="http://schemas.microsoft.com/office/drawing/2014/main" id="{822AA9EF-2D6B-A8FC-7513-C1257BFB4F22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8f314519ca_0_9">
            <a:extLst>
              <a:ext uri="{FF2B5EF4-FFF2-40B4-BE49-F238E27FC236}">
                <a16:creationId xmlns:a16="http://schemas.microsoft.com/office/drawing/2014/main" id="{C5B451E5-CB6B-7C2A-5E6E-18C82304E1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115482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CST &amp; SALES: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01D07C-62BC-90DF-44A4-0F9116E63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579229"/>
              </p:ext>
            </p:extLst>
          </p:nvPr>
        </p:nvGraphicFramePr>
        <p:xfrm>
          <a:off x="152796" y="1039271"/>
          <a:ext cx="11888941" cy="5584529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76661">
                  <a:extLst>
                    <a:ext uri="{9D8B030D-6E8A-4147-A177-3AD203B41FA5}">
                      <a16:colId xmlns:a16="http://schemas.microsoft.com/office/drawing/2014/main" val="420805204"/>
                    </a:ext>
                  </a:extLst>
                </a:gridCol>
                <a:gridCol w="2062456">
                  <a:extLst>
                    <a:ext uri="{9D8B030D-6E8A-4147-A177-3AD203B41FA5}">
                      <a16:colId xmlns:a16="http://schemas.microsoft.com/office/drawing/2014/main" val="3832349415"/>
                    </a:ext>
                  </a:extLst>
                </a:gridCol>
                <a:gridCol w="2062456">
                  <a:extLst>
                    <a:ext uri="{9D8B030D-6E8A-4147-A177-3AD203B41FA5}">
                      <a16:colId xmlns:a16="http://schemas.microsoft.com/office/drawing/2014/main" val="342844200"/>
                    </a:ext>
                  </a:extLst>
                </a:gridCol>
                <a:gridCol w="2062456">
                  <a:extLst>
                    <a:ext uri="{9D8B030D-6E8A-4147-A177-3AD203B41FA5}">
                      <a16:colId xmlns:a16="http://schemas.microsoft.com/office/drawing/2014/main" val="113247476"/>
                    </a:ext>
                  </a:extLst>
                </a:gridCol>
                <a:gridCol w="2062456">
                  <a:extLst>
                    <a:ext uri="{9D8B030D-6E8A-4147-A177-3AD203B41FA5}">
                      <a16:colId xmlns:a16="http://schemas.microsoft.com/office/drawing/2014/main" val="3085054340"/>
                    </a:ext>
                  </a:extLst>
                </a:gridCol>
                <a:gridCol w="2062456">
                  <a:extLst>
                    <a:ext uri="{9D8B030D-6E8A-4147-A177-3AD203B41FA5}">
                      <a16:colId xmlns:a16="http://schemas.microsoft.com/office/drawing/2014/main" val="3074378280"/>
                    </a:ext>
                  </a:extLst>
                </a:gridCol>
              </a:tblGrid>
              <a:tr h="413789">
                <a:tc>
                  <a:txBody>
                    <a:bodyPr/>
                    <a:lstStyle/>
                    <a:p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Monday 7/13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Tuesday 7/14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Wednesday 7/15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Thursday 7/16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Friday 7/17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0159"/>
                  </a:ext>
                </a:extLst>
              </a:tr>
              <a:tr h="100312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12:00 – 1:00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9:00 – 10:00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1) Moving Fast with CST; Feedback Project Intro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(5)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Testing and Refining Feedback Tools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Intro to Sales! Department Kickoff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Workshop: Putting it All Together for a Presentation / Demo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Sakes:Emotional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784690"/>
                  </a:ext>
                </a:extLst>
              </a:tr>
              <a:tr h="100312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1:00 – 2:00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10:00 – 11:00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(2) Understanding Feedback In Software Development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(6) Analyzing Feedback and Final Steps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Sales Process, Messaging &amp; Emotional Intelligence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Selling Yourself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LinkedIn Workshop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with James Buxton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97499"/>
                  </a:ext>
                </a:extLst>
              </a:tr>
              <a:tr h="100312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2:00 – 3:00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11:00 – 12:00 PT</a:t>
                      </a:r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(3)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Designing Effective Feedback Mechanisms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Workshop: Prospect's biggest challenges &amp; desired outcomes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Solutions Engineering Workshop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Philanthropy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with Theresa Gartland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211298"/>
                  </a:ext>
                </a:extLst>
              </a:tr>
              <a:tr h="100312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3:00 – 3:45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12:00 – 12:45 PT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Workshop: Value Wedge &amp; Positioning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Weekly Review Mtg/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Final Group Demo Presentation</a:t>
                      </a:r>
                      <a:endParaRPr lang="en-US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Connections Program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70319"/>
                  </a:ext>
                </a:extLst>
              </a:tr>
              <a:tr h="1003125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3:45 – 4:00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12:45 – 1:00 PT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Intro: Putting it All Together for a Presentation / Demo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Professionalism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with Theresa Gartland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94743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C4FDA7-D909-BDC3-962B-582964BA6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925338"/>
              </p:ext>
            </p:extLst>
          </p:nvPr>
        </p:nvGraphicFramePr>
        <p:xfrm>
          <a:off x="1702954" y="4491181"/>
          <a:ext cx="2074512" cy="2143511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2074512">
                  <a:extLst>
                    <a:ext uri="{9D8B030D-6E8A-4147-A177-3AD203B41FA5}">
                      <a16:colId xmlns:a16="http://schemas.microsoft.com/office/drawing/2014/main" val="321389774"/>
                    </a:ext>
                  </a:extLst>
                </a:gridCol>
              </a:tblGrid>
              <a:tr h="111512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72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(4)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Planning Feeback Planning Feedback Implementation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2707" marR="92707" marT="46349" marB="46349" anchor="ctr">
                    <a:lnL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989089"/>
                  </a:ext>
                </a:extLst>
              </a:tr>
              <a:tr h="1028390">
                <a:tc>
                  <a:txBody>
                    <a:bodyPr/>
                    <a:lstStyle/>
                    <a:p>
                      <a:pPr lvl="0" algn="l">
                        <a:lnSpc>
                          <a:spcPts val="172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Wrap Up/Catch Up/Q&amp;A</a:t>
                      </a:r>
                      <a:endParaRPr lang="en-US"/>
                    </a:p>
                  </a:txBody>
                  <a:tcPr marL="92707" marR="92707" marT="46349" marB="46349" anchor="ctr">
                    <a:lnL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68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705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314519ca_0_9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8f314519ca_0_9"/>
          <p:cNvSpPr txBox="1">
            <a:spLocks noGrp="1"/>
          </p:cNvSpPr>
          <p:nvPr>
            <p:ph type="title"/>
          </p:nvPr>
        </p:nvSpPr>
        <p:spPr>
          <a:xfrm>
            <a:off x="208936" y="63925"/>
            <a:ext cx="11983064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CAPSTONE: Schedule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B952B2-2336-4C24-E570-201DBE644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29151"/>
              </p:ext>
            </p:extLst>
          </p:nvPr>
        </p:nvGraphicFramePr>
        <p:xfrm>
          <a:off x="208935" y="1339645"/>
          <a:ext cx="11878288" cy="5257632"/>
        </p:xfrm>
        <a:graphic>
          <a:graphicData uri="http://schemas.openxmlformats.org/drawingml/2006/table">
            <a:tbl>
              <a:tblPr firstRow="1" bandRow="1">
                <a:tableStyleId>{5189DC33-B204-43F0-AB97-1E3E6497E47D}</a:tableStyleId>
              </a:tblPr>
              <a:tblGrid>
                <a:gridCol w="1575248">
                  <a:extLst>
                    <a:ext uri="{9D8B030D-6E8A-4147-A177-3AD203B41FA5}">
                      <a16:colId xmlns:a16="http://schemas.microsoft.com/office/drawing/2014/main" val="420805204"/>
                    </a:ext>
                  </a:extLst>
                </a:gridCol>
                <a:gridCol w="2060608">
                  <a:extLst>
                    <a:ext uri="{9D8B030D-6E8A-4147-A177-3AD203B41FA5}">
                      <a16:colId xmlns:a16="http://schemas.microsoft.com/office/drawing/2014/main" val="3832349415"/>
                    </a:ext>
                  </a:extLst>
                </a:gridCol>
                <a:gridCol w="2060608">
                  <a:extLst>
                    <a:ext uri="{9D8B030D-6E8A-4147-A177-3AD203B41FA5}">
                      <a16:colId xmlns:a16="http://schemas.microsoft.com/office/drawing/2014/main" val="342844200"/>
                    </a:ext>
                  </a:extLst>
                </a:gridCol>
                <a:gridCol w="2060608">
                  <a:extLst>
                    <a:ext uri="{9D8B030D-6E8A-4147-A177-3AD203B41FA5}">
                      <a16:colId xmlns:a16="http://schemas.microsoft.com/office/drawing/2014/main" val="113247476"/>
                    </a:ext>
                  </a:extLst>
                </a:gridCol>
                <a:gridCol w="2060608">
                  <a:extLst>
                    <a:ext uri="{9D8B030D-6E8A-4147-A177-3AD203B41FA5}">
                      <a16:colId xmlns:a16="http://schemas.microsoft.com/office/drawing/2014/main" val="3085054340"/>
                    </a:ext>
                  </a:extLst>
                </a:gridCol>
                <a:gridCol w="2060608">
                  <a:extLst>
                    <a:ext uri="{9D8B030D-6E8A-4147-A177-3AD203B41FA5}">
                      <a16:colId xmlns:a16="http://schemas.microsoft.com/office/drawing/2014/main" val="3074378280"/>
                    </a:ext>
                  </a:extLst>
                </a:gridCol>
              </a:tblGrid>
              <a:tr h="476378">
                <a:tc>
                  <a:txBody>
                    <a:bodyPr/>
                    <a:lstStyle/>
                    <a:p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Monday 7/20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Tuesday 7/21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Wednesday 7/22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Thursday 7/23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Calibri"/>
                        </a:rPr>
                        <a:t>Friday 7/24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0159"/>
                  </a:ext>
                </a:extLst>
              </a:tr>
              <a:tr h="115430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12:00 – 1:00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9:00 – 10:00 PT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Capstone Project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Prep with Maya</a:t>
                      </a: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Support  &amp; CST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Capstone Project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Philanthropy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Capstone Project Prep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8469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1:00 – 2:00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10:00 – 11:00 PT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Product &amp; UX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OPEN HOUSE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Marketing &amp;</a:t>
                      </a:r>
                      <a:r>
                        <a:rPr lang="en-US" sz="1400">
                          <a:highlight>
                            <a:srgbClr val="FFFF00"/>
                          </a:highlight>
                          <a:latin typeface="Calibri"/>
                        </a:rPr>
                        <a:t> PS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2000">
                        <a:latin typeface="Calibri"/>
                      </a:endParaRPr>
                    </a:p>
                    <a:p>
                      <a:pPr algn="ctr"/>
                      <a:endParaRPr lang="en-US" sz="2000" b="1">
                        <a:latin typeface="Calibri"/>
                      </a:endParaRPr>
                    </a:p>
                    <a:p>
                      <a:pPr algn="ctr"/>
                      <a:r>
                        <a:rPr lang="en-US" sz="2000" b="1">
                          <a:latin typeface="Calibri"/>
                        </a:rPr>
                        <a:t>CAPSTONE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197499"/>
                  </a:ext>
                </a:extLst>
              </a:tr>
              <a:tr h="1262062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2:00 – 3:00 ET/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11:00 – 12:00 PT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Business Course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With Joe Potenza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President &amp; CEO</a:t>
                      </a:r>
                      <a:br>
                        <a:rPr lang="en-US" sz="1400">
                          <a:latin typeface="Calibri"/>
                        </a:rPr>
                      </a:b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Capstone Project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Prep with Maya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Engineering &amp; QA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 P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ractice presenting and run through the entire presentation 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With Maya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211298"/>
                  </a:ext>
                </a:extLst>
              </a:tr>
              <a:tr h="1221892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/>
                        </a:rPr>
                        <a:t>3:00 – 4:00 ET/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latin typeface="Calibri"/>
                        </a:rPr>
                        <a:t>12:00 – 1:00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DevOps &amp; Sales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/>
                      </a:endParaRPr>
                    </a:p>
                    <a:p>
                      <a:pPr algn="ctr"/>
                      <a:r>
                        <a:rPr lang="en-US" sz="1400">
                          <a:latin typeface="Calibri"/>
                        </a:rPr>
                        <a:t>OPEN HOUSE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/>
                        </a:rPr>
                        <a:t>Finance &amp; HR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 b="1">
                        <a:solidFill>
                          <a:srgbClr val="0070C0"/>
                        </a:solidFill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alibri"/>
                        </a:rPr>
                        <a:t>SOAP MAKING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7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220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A1DD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c9e504a386_0_2"/>
          <p:cNvSpPr/>
          <p:nvPr/>
        </p:nvSpPr>
        <p:spPr>
          <a:xfrm>
            <a:off x="202363" y="224113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c9e504a386_0_2"/>
          <p:cNvSpPr/>
          <p:nvPr/>
        </p:nvSpPr>
        <p:spPr>
          <a:xfrm>
            <a:off x="555438" y="587088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c9e504a386_0_2"/>
          <p:cNvSpPr txBox="1">
            <a:spLocks noGrp="1"/>
          </p:cNvSpPr>
          <p:nvPr>
            <p:ph type="ctrTitle"/>
          </p:nvPr>
        </p:nvSpPr>
        <p:spPr>
          <a:xfrm>
            <a:off x="1030038" y="2502276"/>
            <a:ext cx="104850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7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 sz="7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g2c9e504a386_0_2"/>
          <p:cNvSpPr txBox="1"/>
          <p:nvPr/>
        </p:nvSpPr>
        <p:spPr>
          <a:xfrm>
            <a:off x="1091614" y="3882659"/>
            <a:ext cx="1035666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>
                <a:solidFill>
                  <a:schemeClr val="lt1"/>
                </a:solidFill>
                <a:ea typeface="Calibri"/>
              </a:rPr>
              <a:t>A group presentation will be prepared and presented to the company in the final week. The presentation will focus on the interns' project and each department,  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Maya </a:t>
            </a:r>
            <a:r>
              <a:rPr lang="en-US" sz="240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Kvesic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will be mentoring the cohort throughout. </a:t>
            </a:r>
            <a:endParaRPr lang="en-US" sz="24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21" name="Google Shape;321;g2c9e504a386_0_2"/>
          <p:cNvCxnSpPr/>
          <p:nvPr/>
        </p:nvCxnSpPr>
        <p:spPr>
          <a:xfrm>
            <a:off x="1255638" y="3561327"/>
            <a:ext cx="10033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2"/>
          <p:cNvSpPr/>
          <p:nvPr/>
        </p:nvSpPr>
        <p:spPr>
          <a:xfrm flipH="1">
            <a:off x="442450" y="1229425"/>
            <a:ext cx="5480400" cy="54048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The Capstone Project will begin in Week 1 and continue throughout the internship, with the final presentation taking place during the last week.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Interns will work individually, in small groups, and as a full cohort to develop ideas, complete assignments, and prepare presentation materials.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Throughout the program, interns will participate in check-ins and collaborative work sessions to review progress, receive feedback, and stay aligned on project goals.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During the final week, interns will meet with Maya to finalize assignments, presentation flow, and speaking roles.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The cohort will present the completed Capstone Project to </a:t>
            </a:r>
            <a:r>
              <a:rPr lang="en-US" sz="1800" err="1">
                <a:latin typeface="Calibri"/>
                <a:ea typeface="Calibri"/>
                <a:cs typeface="Calibri"/>
              </a:rPr>
              <a:t>Evisions</a:t>
            </a:r>
            <a:r>
              <a:rPr lang="en-US" sz="1800">
                <a:latin typeface="Calibri"/>
                <a:ea typeface="Calibri"/>
                <a:cs typeface="Calibri"/>
              </a:rPr>
              <a:t> employees and leadership on the final day of the internship.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6114516" y="1229425"/>
            <a:ext cx="5701270" cy="54048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</a:p>
          <a:p>
            <a:r>
              <a:rPr lang="en-US" sz="1800" b="1">
                <a:latin typeface="Calibri"/>
                <a:ea typeface="Calibri"/>
                <a:cs typeface="Calibri"/>
              </a:rPr>
              <a:t>The final presentation will include: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Introduction and intern team overview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Highlights of projects and assignments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Department overviews, primary responsibilities, and how projects supported company goals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Visuals showcasing projects and an internship experiences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Key learnings, lessons learned, and professional growth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Insights from Philanthropy, Business, and Communications sessions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Personal reflections on the internship experience and its impact </a:t>
            </a:r>
          </a:p>
          <a:p>
            <a:pPr marL="285750" indent="-285750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Final thoughts and Q&amp;A with employees and leadership</a:t>
            </a:r>
            <a:endParaRPr lang="en-US">
              <a:latin typeface="Calibri"/>
              <a:cs typeface="Calibri"/>
            </a:endParaRPr>
          </a:p>
          <a:p>
            <a:pPr>
              <a:spcBef>
                <a:spcPts val="1000"/>
              </a:spcBef>
            </a:pPr>
            <a:endParaRPr lang="en-US" sz="1800">
              <a:latin typeface="Calibri"/>
              <a:ea typeface="Calibri"/>
            </a:endParaRPr>
          </a:p>
          <a:p>
            <a:pPr>
              <a:spcBef>
                <a:spcPts val="1000"/>
              </a:spcBef>
            </a:pPr>
            <a:endParaRPr lang="en-US" sz="1800">
              <a:latin typeface="Calibri"/>
            </a:endParaRPr>
          </a:p>
          <a:p>
            <a:pPr marL="742950" lvl="1" indent="-285750">
              <a:spcBef>
                <a:spcPts val="500"/>
              </a:spcBef>
              <a:buChar char="•"/>
            </a:pP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A1DD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F4224748-3D35-973E-F3FA-931A4A90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c9e504a386_0_2">
            <a:extLst>
              <a:ext uri="{FF2B5EF4-FFF2-40B4-BE49-F238E27FC236}">
                <a16:creationId xmlns:a16="http://schemas.microsoft.com/office/drawing/2014/main" id="{6FB9A815-0A2E-226E-BFAB-B17EA73E2353}"/>
              </a:ext>
            </a:extLst>
          </p:cNvPr>
          <p:cNvSpPr/>
          <p:nvPr/>
        </p:nvSpPr>
        <p:spPr>
          <a:xfrm>
            <a:off x="202363" y="224113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c9e504a386_0_2">
            <a:extLst>
              <a:ext uri="{FF2B5EF4-FFF2-40B4-BE49-F238E27FC236}">
                <a16:creationId xmlns:a16="http://schemas.microsoft.com/office/drawing/2014/main" id="{6C8A2A95-F5C3-C792-2523-8394789DF2B8}"/>
              </a:ext>
            </a:extLst>
          </p:cNvPr>
          <p:cNvSpPr/>
          <p:nvPr/>
        </p:nvSpPr>
        <p:spPr>
          <a:xfrm>
            <a:off x="555438" y="587088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c9e504a386_0_2">
            <a:extLst>
              <a:ext uri="{FF2B5EF4-FFF2-40B4-BE49-F238E27FC236}">
                <a16:creationId xmlns:a16="http://schemas.microsoft.com/office/drawing/2014/main" id="{0AF30509-411A-4402-1D35-029B1A36545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0038" y="2502276"/>
            <a:ext cx="104850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  <a:buSzPts val="6000"/>
            </a:pPr>
            <a:r>
              <a:rPr lang="en-US" sz="74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DIGITAL PORTFOLIO</a:t>
            </a:r>
          </a:p>
        </p:txBody>
      </p:sp>
      <p:sp>
        <p:nvSpPr>
          <p:cNvPr id="320" name="Google Shape;320;g2c9e504a386_0_2">
            <a:extLst>
              <a:ext uri="{FF2B5EF4-FFF2-40B4-BE49-F238E27FC236}">
                <a16:creationId xmlns:a16="http://schemas.microsoft.com/office/drawing/2014/main" id="{3405D033-A8A5-2926-988B-F0F3015826F7}"/>
              </a:ext>
            </a:extLst>
          </p:cNvPr>
          <p:cNvSpPr txBox="1"/>
          <p:nvPr/>
        </p:nvSpPr>
        <p:spPr>
          <a:xfrm>
            <a:off x="1091614" y="3882659"/>
            <a:ext cx="1035666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Each intern will develop a personalized portfolio that showcases their project, experiences, achievements, and skills gained during the program and beforehand.</a:t>
            </a:r>
          </a:p>
        </p:txBody>
      </p:sp>
      <p:cxnSp>
        <p:nvCxnSpPr>
          <p:cNvPr id="321" name="Google Shape;321;g2c9e504a386_0_2">
            <a:extLst>
              <a:ext uri="{FF2B5EF4-FFF2-40B4-BE49-F238E27FC236}">
                <a16:creationId xmlns:a16="http://schemas.microsoft.com/office/drawing/2014/main" id="{7560C72D-04CC-B7A4-5B49-6643DD4D3C0F}"/>
              </a:ext>
            </a:extLst>
          </p:cNvPr>
          <p:cNvCxnSpPr/>
          <p:nvPr/>
        </p:nvCxnSpPr>
        <p:spPr>
          <a:xfrm>
            <a:off x="1255638" y="3561327"/>
            <a:ext cx="10033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81979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>
          <a:extLst>
            <a:ext uri="{FF2B5EF4-FFF2-40B4-BE49-F238E27FC236}">
              <a16:creationId xmlns:a16="http://schemas.microsoft.com/office/drawing/2014/main" id="{3BF06218-5479-6C70-338E-04D5E0F4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>
            <a:extLst>
              <a:ext uri="{FF2B5EF4-FFF2-40B4-BE49-F238E27FC236}">
                <a16:creationId xmlns:a16="http://schemas.microsoft.com/office/drawing/2014/main" id="{2447389F-BCB3-7D27-9405-113BA93AF4E5}"/>
              </a:ext>
            </a:extLst>
          </p:cNvPr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2">
            <a:extLst>
              <a:ext uri="{FF2B5EF4-FFF2-40B4-BE49-F238E27FC236}">
                <a16:creationId xmlns:a16="http://schemas.microsoft.com/office/drawing/2014/main" id="{AD51A822-8D59-47AF-D49C-441354612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225" y="63925"/>
            <a:ext cx="79014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PORTFOLIO</a:t>
            </a:r>
            <a:endParaRPr lang="en-US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94454AD4-A0F4-B61F-6D34-7E03AEB620A4}"/>
              </a:ext>
            </a:extLst>
          </p:cNvPr>
          <p:cNvSpPr/>
          <p:nvPr/>
        </p:nvSpPr>
        <p:spPr>
          <a:xfrm flipH="1">
            <a:off x="442450" y="1229425"/>
            <a:ext cx="5480400" cy="54048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FAC5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lang="en-US" sz="30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US" sz="1800">
              <a:solidFill>
                <a:schemeClr val="dk1"/>
              </a:solidFill>
              <a:ea typeface="Calibri"/>
            </a:endParaRPr>
          </a:p>
          <a:p>
            <a:pPr marL="342900" indent="-342900"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Define Your Goal &amp; Audience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 – Clarify your purpose (job search, networking) and target viewers (recruiters, clients).</a:t>
            </a:r>
            <a:endParaRPr lang="en-US" sz="1800">
              <a:solidFill>
                <a:schemeClr val="dk1"/>
              </a:solidFill>
              <a:ea typeface="Calibri"/>
            </a:endParaRPr>
          </a:p>
          <a:p>
            <a:endParaRPr lang="en-US" sz="1000">
              <a:solidFill>
                <a:schemeClr val="dk1"/>
              </a:solidFill>
              <a:latin typeface="Calibri"/>
              <a:ea typeface="Calibri"/>
            </a:endParaRPr>
          </a:p>
          <a:p>
            <a:pPr marL="342900" indent="-342900"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Choose a Platform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 – Use website builders (Wix, Squarespace), professional networks (LinkedIn or a custom-coded site.</a:t>
            </a:r>
            <a:endParaRPr lang="en-US" sz="1800">
              <a:solidFill>
                <a:schemeClr val="dk1"/>
              </a:solidFill>
              <a:latin typeface="Calibri"/>
            </a:endParaRPr>
          </a:p>
          <a:p>
            <a:pPr marL="342900" indent="-342900">
              <a:buAutoNum type="arabicPeriod"/>
            </a:pPr>
            <a:endParaRPr lang="en-US" sz="1000">
              <a:solidFill>
                <a:schemeClr val="dk1"/>
              </a:solidFill>
              <a:latin typeface="Calibri"/>
              <a:ea typeface="Calibri"/>
            </a:endParaRPr>
          </a:p>
          <a:p>
            <a:pPr marL="342900" indent="-342900"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Showcase Your Best Work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 – Highlight 3–6 top projects with descriptions of your role, challenges, and impact.</a:t>
            </a:r>
            <a:endParaRPr lang="en-US" sz="1800">
              <a:solidFill>
                <a:schemeClr val="dk1"/>
              </a:solidFill>
              <a:ea typeface="Calibri"/>
            </a:endParaRPr>
          </a:p>
          <a:p>
            <a:pPr marL="342900" indent="-342900">
              <a:buAutoNum type="arabicPeriod"/>
            </a:pPr>
            <a:endParaRPr lang="en-US" sz="1000">
              <a:solidFill>
                <a:schemeClr val="dk1"/>
              </a:solidFill>
              <a:latin typeface="Calibri"/>
              <a:ea typeface="Calibri"/>
            </a:endParaRPr>
          </a:p>
          <a:p>
            <a:pPr marL="342900" indent="-342900"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Organize Clearly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 – Include a homepage (intro), about me, projects, and a resume/contact section.</a:t>
            </a:r>
            <a:endParaRPr lang="en-US" sz="1800">
              <a:solidFill>
                <a:schemeClr val="dk1"/>
              </a:solidFill>
              <a:ea typeface="Calibri"/>
            </a:endParaRPr>
          </a:p>
          <a:p>
            <a:pPr marL="342900" indent="-342900">
              <a:buAutoNum type="arabicPeriod"/>
            </a:pPr>
            <a:endParaRPr lang="en-US" sz="1000">
              <a:solidFill>
                <a:schemeClr val="dk1"/>
              </a:solidFill>
              <a:latin typeface="Calibri"/>
              <a:ea typeface="Calibri"/>
            </a:endParaRPr>
          </a:p>
          <a:p>
            <a:pPr marL="342900" indent="-342900"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</a:rPr>
              <a:t>Ensure Privacy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</a:rPr>
              <a:t> – Remove sensitive details and use password protection if needed.</a:t>
            </a:r>
            <a:endParaRPr lang="en-US" sz="1800">
              <a:solidFill>
                <a:schemeClr val="dk1"/>
              </a:solidFill>
              <a:latin typeface="Calibri"/>
            </a:endParaRPr>
          </a:p>
          <a:p>
            <a:pPr marL="457200" lvl="0" indent="-457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sz="30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indent="-285750" fontAlgn="base">
              <a:buAutoNum type="arabicPeriod"/>
            </a:pPr>
            <a:endParaRPr lang="en-US" sz="1800">
              <a:solidFill>
                <a:schemeClr val="dk1"/>
              </a:solidFill>
              <a:ea typeface="Calibri"/>
            </a:endParaRPr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08F4B6C6-7CAB-F664-ED65-4802E2F5ADB4}"/>
              </a:ext>
            </a:extLst>
          </p:cNvPr>
          <p:cNvSpPr/>
          <p:nvPr/>
        </p:nvSpPr>
        <p:spPr>
          <a:xfrm>
            <a:off x="6114516" y="1229425"/>
            <a:ext cx="5701270" cy="54048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EE77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</a:p>
          <a:p>
            <a:pPr>
              <a:spcBef>
                <a:spcPts val="1000"/>
              </a:spcBef>
            </a:pPr>
            <a:endParaRPr lang="en-US" sz="1800">
              <a:latin typeface="Calibri"/>
            </a:endParaRPr>
          </a:p>
          <a:p>
            <a:pPr marL="285750" indent="-285750">
              <a:buChar char="•"/>
            </a:pPr>
            <a:r>
              <a:rPr lang="en-US" sz="1800" b="1">
                <a:latin typeface="Calibri"/>
                <a:ea typeface="Calibri"/>
                <a:cs typeface="Calibri"/>
              </a:rPr>
              <a:t>Easiest Option:</a:t>
            </a:r>
            <a:r>
              <a:rPr lang="en-US" sz="1800">
                <a:latin typeface="Calibri"/>
                <a:ea typeface="Calibri"/>
                <a:cs typeface="Calibri"/>
              </a:rPr>
              <a:t> Google Sites (free, built into Google accounts, easy Drive integration).</a:t>
            </a:r>
          </a:p>
          <a:p>
            <a:endParaRPr lang="en-US" sz="18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800" b="1">
                <a:latin typeface="Calibri"/>
                <a:ea typeface="Calibri"/>
                <a:cs typeface="Calibri"/>
              </a:rPr>
              <a:t>Best for Customization:</a:t>
            </a:r>
            <a:r>
              <a:rPr lang="en-US" sz="1800">
                <a:latin typeface="Calibri"/>
                <a:ea typeface="Calibri"/>
                <a:cs typeface="Calibri"/>
              </a:rPr>
              <a:t> Wix.com (free and paid plans, more design flexibility).</a:t>
            </a:r>
          </a:p>
          <a:p>
            <a:endParaRPr lang="en-US" sz="18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800" b="1">
                <a:latin typeface="Calibri"/>
                <a:ea typeface="Calibri"/>
                <a:cs typeface="Calibri"/>
              </a:rPr>
              <a:t>Tip for Students:</a:t>
            </a:r>
            <a:r>
              <a:rPr lang="en-US" sz="1800">
                <a:latin typeface="Calibri"/>
                <a:ea typeface="Calibri"/>
                <a:cs typeface="Calibri"/>
              </a:rPr>
              <a:t> Upload all images and documents to a single folder to streamline the process.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</a:pPr>
            <a:r>
              <a:rPr lang="en-US" sz="1800">
                <a:latin typeface="Calibri"/>
                <a:ea typeface="Calibri"/>
                <a:cs typeface="Calibri"/>
                <a:hlinkClick r:id="rId3"/>
              </a:rPr>
              <a:t>Marisol Jimenez - Example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</a:pPr>
            <a:r>
              <a:rPr lang="en-US" sz="1800">
                <a:latin typeface="Calibri"/>
                <a:ea typeface="Calibri"/>
                <a:cs typeface="Calibri"/>
                <a:hlinkClick r:id="rId4"/>
              </a:rPr>
              <a:t>Additional Example</a:t>
            </a:r>
            <a:endParaRPr lang="en-US"/>
          </a:p>
          <a:p>
            <a:pPr>
              <a:spcBef>
                <a:spcPts val="1000"/>
              </a:spcBef>
            </a:pPr>
            <a:endParaRPr lang="en-US" sz="1800">
              <a:latin typeface="Calibri"/>
            </a:endParaRPr>
          </a:p>
          <a:p>
            <a:pPr marL="742950" lvl="1" indent="-285750">
              <a:spcBef>
                <a:spcPts val="500"/>
              </a:spcBef>
              <a:buChar char="•"/>
            </a:pPr>
            <a:endParaRPr lang="en-US" sz="18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1859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77BB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c9e504a386_0_41"/>
          <p:cNvSpPr/>
          <p:nvPr/>
        </p:nvSpPr>
        <p:spPr>
          <a:xfrm>
            <a:off x="202363" y="224113"/>
            <a:ext cx="11534100" cy="61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2c9e504a386_0_41"/>
          <p:cNvSpPr/>
          <p:nvPr/>
        </p:nvSpPr>
        <p:spPr>
          <a:xfrm>
            <a:off x="555438" y="587088"/>
            <a:ext cx="11434200" cy="6046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c9e504a386_0_41"/>
          <p:cNvSpPr txBox="1">
            <a:spLocks noGrp="1"/>
          </p:cNvSpPr>
          <p:nvPr>
            <p:ph type="ctrTitle"/>
          </p:nvPr>
        </p:nvSpPr>
        <p:spPr>
          <a:xfrm>
            <a:off x="857975" y="2073878"/>
            <a:ext cx="104850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  <a:buSzPts val="4400"/>
            </a:pPr>
            <a:r>
              <a:rPr lang="en-US" sz="60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SHADOW DAYS</a:t>
            </a:r>
          </a:p>
        </p:txBody>
      </p:sp>
      <p:sp>
        <p:nvSpPr>
          <p:cNvPr id="337" name="Google Shape;337;g2c9e504a386_0_41"/>
          <p:cNvSpPr txBox="1"/>
          <p:nvPr/>
        </p:nvSpPr>
        <p:spPr>
          <a:xfrm>
            <a:off x="954059" y="3613011"/>
            <a:ext cx="10033800" cy="124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70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July 27 - 29</a:t>
            </a:r>
          </a:p>
          <a:p>
            <a:pPr algn="ctr"/>
            <a:r>
              <a:rPr lang="en-US" sz="2400" b="0" i="0">
                <a:solidFill>
                  <a:schemeClr val="bg1"/>
                </a:solidFill>
                <a:effectLst/>
                <a:latin typeface="Calibri"/>
              </a:rPr>
              <a:t>Interns can extend their internship by three days to shadow a department that aligns with their interests.  </a:t>
            </a:r>
            <a:endParaRPr lang="en-US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38" name="Google Shape;338;g2c9e504a386_0_41"/>
          <p:cNvCxnSpPr/>
          <p:nvPr/>
        </p:nvCxnSpPr>
        <p:spPr>
          <a:xfrm>
            <a:off x="1255650" y="3293300"/>
            <a:ext cx="10033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9"/>
          <p:cNvGraphicFramePr/>
          <p:nvPr>
            <p:extLst>
              <p:ext uri="{D42A27DB-BD31-4B8C-83A1-F6EECF244321}">
                <p14:modId xmlns:p14="http://schemas.microsoft.com/office/powerpoint/2010/main" val="1141123690"/>
              </p:ext>
            </p:extLst>
          </p:nvPr>
        </p:nvGraphicFramePr>
        <p:xfrm>
          <a:off x="-1" y="1004185"/>
          <a:ext cx="12178299" cy="5919653"/>
        </p:xfrm>
        <a:graphic>
          <a:graphicData uri="http://schemas.openxmlformats.org/drawingml/2006/table">
            <a:tbl>
              <a:tblPr firstRow="1" firstCol="1" bandRow="1">
                <a:noFill/>
                <a:tableStyleId>{167ECECF-697F-40F5-9450-1CA89B255B9E}</a:tableStyleId>
              </a:tblPr>
              <a:tblGrid>
                <a:gridCol w="223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0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Department</a:t>
                      </a:r>
                      <a:endParaRPr sz="1800" u="none" strike="noStrike" cap="none"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Intern(s)</a:t>
                      </a:r>
                      <a:endParaRPr sz="1800" u="none" strike="noStrike" cap="none"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Lead / Contact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5D67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3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Product 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cap="non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Andy Pelt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032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UX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Brandy Smith</a:t>
                      </a:r>
                      <a:endParaRPr lang="en-US" sz="1600" u="none" strike="noStrike" cap="none" err="1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2059919721"/>
                  </a:ext>
                </a:extLst>
              </a:tr>
              <a:tr h="536032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QA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Logan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Ben Yim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2287946769"/>
                  </a:ext>
                </a:extLst>
              </a:tr>
              <a:tr h="5127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Engineering</a:t>
                      </a:r>
                      <a:endParaRPr sz="1800"/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u="none" strike="noStrike" cap="none" err="1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Jeff Beeman &amp; Trevor Harwell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Marketing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Carter, Delaney</a:t>
                      </a: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err="1"/>
                        <a:t>JPack</a:t>
                      </a:r>
                      <a:r>
                        <a:rPr lang="en-US" sz="1600" u="none" strike="noStrike" cap="none"/>
                        <a:t> and Maya </a:t>
                      </a:r>
                      <a:r>
                        <a:rPr lang="en-US" sz="1600" u="none" strike="noStrike" cap="none" err="1"/>
                        <a:t>Kvesic</a:t>
                      </a:r>
                      <a:endParaRPr sz="1600" u="none" strike="noStrike" cap="none" err="1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9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Sales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Mike, Jeremy</a:t>
                      </a: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Mike Ruzek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0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PS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u="none" strike="noStrike" cap="none" err="1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Jonathan Kim</a:t>
                      </a:r>
                      <a:endParaRPr sz="1600" b="0" i="0" u="none" strike="noStrike" cap="non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9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Client Experience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2177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>
                          <a:solidFill>
                            <a:srgbClr val="000000"/>
                          </a:solidFill>
                          <a:latin typeface="Calibri"/>
                        </a:rPr>
                        <a:t>James Buxton</a:t>
                      </a:r>
                      <a:endParaRPr sz="1600" b="0" i="0" u="none" strike="noStrike" cap="non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3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Finance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39A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Sourish/Eadlin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Brad Koch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9337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</a:rPr>
                        <a:t>HR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Athziri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Nicole Cliff</a:t>
                      </a:r>
                      <a:endParaRPr sz="1600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2118892741"/>
                  </a:ext>
                </a:extLst>
              </a:tr>
            </a:tbl>
          </a:graphicData>
        </a:graphic>
      </p:graphicFrame>
      <p:sp>
        <p:nvSpPr>
          <p:cNvPr id="160" name="Google Shape;160;p9"/>
          <p:cNvSpPr/>
          <p:nvPr/>
        </p:nvSpPr>
        <p:spPr>
          <a:xfrm>
            <a:off x="0" y="25"/>
            <a:ext cx="12192000" cy="1036200"/>
          </a:xfrm>
          <a:prstGeom prst="rect">
            <a:avLst/>
          </a:prstGeom>
          <a:solidFill>
            <a:srgbClr val="39A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322225" y="34391"/>
            <a:ext cx="9413586" cy="96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SHADOW DAYS JULY 27 – 29: Schedule</a:t>
            </a:r>
            <a:endParaRPr lang="en-US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779245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6a93da-3008-4b4c-a527-3918a3aa2c8d" xsi:nil="true"/>
    <lcf76f155ced4ddcb4097134ff3c332f xmlns="dcd73cc7-3f1a-4f0c-93a2-52248963654a">
      <Terms xmlns="http://schemas.microsoft.com/office/infopath/2007/PartnerControls"/>
    </lcf76f155ced4ddcb4097134ff3c332f>
    <SharedWithUsers xmlns="1b6a93da-3008-4b4c-a527-3918a3aa2c8d">
      <UserInfo>
        <DisplayName/>
        <AccountId xsi:nil="true"/>
        <AccountType/>
      </UserInfo>
    </SharedWithUsers>
    <MediaLengthInSeconds xmlns="dcd73cc7-3f1a-4f0c-93a2-52248963654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85B18512D53F41BDE18DDF49B141B1" ma:contentTypeVersion="15" ma:contentTypeDescription="Create a new document." ma:contentTypeScope="" ma:versionID="e906cf6e48426ee06c66027bb80d6180">
  <xsd:schema xmlns:xsd="http://www.w3.org/2001/XMLSchema" xmlns:xs="http://www.w3.org/2001/XMLSchema" xmlns:p="http://schemas.microsoft.com/office/2006/metadata/properties" xmlns:ns2="dcd73cc7-3f1a-4f0c-93a2-52248963654a" xmlns:ns3="1b6a93da-3008-4b4c-a527-3918a3aa2c8d" targetNamespace="http://schemas.microsoft.com/office/2006/metadata/properties" ma:root="true" ma:fieldsID="7e970348c30aff7842b1d265af3f3d1b" ns2:_="" ns3:_="">
    <xsd:import namespace="dcd73cc7-3f1a-4f0c-93a2-52248963654a"/>
    <xsd:import namespace="1b6a93da-3008-4b4c-a527-3918a3aa2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73cc7-3f1a-4f0c-93a2-522489636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605de8-6ea5-48e6-9496-7988cfd13a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93da-3008-4b4c-a527-3918a3aa2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3ea22cc-db3d-48eb-9246-edf9007a76f7}" ma:internalName="TaxCatchAll" ma:showField="CatchAllData" ma:web="1b6a93da-3008-4b4c-a527-3918a3aa2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6EBC2B-5E99-4FC5-BC0E-F5E6F525484B}">
  <ds:schemaRefs>
    <ds:schemaRef ds:uri="1b6a93da-3008-4b4c-a527-3918a3aa2c8d"/>
    <ds:schemaRef ds:uri="dcd73cc7-3f1a-4f0c-93a2-5224896365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10A9BEA-6649-413E-B789-1C405FC4438F}">
  <ds:schemaRefs>
    <ds:schemaRef ds:uri="1b6a93da-3008-4b4c-a527-3918a3aa2c8d"/>
    <ds:schemaRef ds:uri="dcd73cc7-3f1a-4f0c-93a2-5224896365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0642C82-7A14-4A9E-B093-77BD6CF6E2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Simple Light</vt:lpstr>
      <vt:lpstr>2026 INTERNSHIP PROGRAM</vt:lpstr>
      <vt:lpstr>Icebreaker</vt:lpstr>
      <vt:lpstr>Important Sites/Systems</vt:lpstr>
      <vt:lpstr>PowerPoint Presentation</vt:lpstr>
      <vt:lpstr>SCHEDULES</vt:lpstr>
      <vt:lpstr>DAY 1 &amp; 2: ORIENTATION</vt:lpstr>
      <vt:lpstr>DAILY SCHEDULE</vt:lpstr>
      <vt:lpstr>CORE/SHARED TIME</vt:lpstr>
      <vt:lpstr>INDEPENDENT TIME</vt:lpstr>
      <vt:lpstr>THURSDAY REVIEW MEETING AGENDA</vt:lpstr>
      <vt:lpstr>SPECIAL COURSES AND EVENTS</vt:lpstr>
      <vt:lpstr>COURSES AND ACTIVITIES</vt:lpstr>
      <vt:lpstr>FULL GROUP SOCIAL ACTIVITIES</vt:lpstr>
      <vt:lpstr>GROUPS</vt:lpstr>
      <vt:lpstr>WEEKLY CONTENT</vt:lpstr>
      <vt:lpstr>WEEKLY SCHEDULE</vt:lpstr>
      <vt:lpstr>PowerPoint Presentation</vt:lpstr>
      <vt:lpstr>PRODUCT &amp; UX: Schedule</vt:lpstr>
      <vt:lpstr>PowerPoint Presentation</vt:lpstr>
      <vt:lpstr>ENGINEERING &amp; QA: Schedule </vt:lpstr>
      <vt:lpstr>PowerPoint Presentation</vt:lpstr>
      <vt:lpstr>PS: Schedule </vt:lpstr>
      <vt:lpstr>PowerPoint Presentation</vt:lpstr>
      <vt:lpstr>MARKETING: Schedule</vt:lpstr>
      <vt:lpstr>PowerPoint Presentation</vt:lpstr>
      <vt:lpstr>SUPPORT &amp; DEVOPS: Schedule </vt:lpstr>
      <vt:lpstr>PowerPoint Presentation</vt:lpstr>
      <vt:lpstr>FINANCE &amp; HR: Schedule </vt:lpstr>
      <vt:lpstr>PowerPoint Presentation</vt:lpstr>
      <vt:lpstr>CST &amp; SALES: Schedule</vt:lpstr>
      <vt:lpstr>CAPSTONE: Schedule</vt:lpstr>
      <vt:lpstr>CAPSTONE PROJECT</vt:lpstr>
      <vt:lpstr>CAPSTONE PROJECT</vt:lpstr>
      <vt:lpstr>DIGITAL PORTFOLIO</vt:lpstr>
      <vt:lpstr>PORTFOLIO</vt:lpstr>
      <vt:lpstr>SHADOW DAYS</vt:lpstr>
      <vt:lpstr>SHADOW DAYS JULY 27 – 29: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INTERNSHIP PROGRAM</dc:title>
  <dc:creator>Terry Boyle</dc:creator>
  <cp:revision>2</cp:revision>
  <dcterms:created xsi:type="dcterms:W3CDTF">2023-05-15T18:10:36Z</dcterms:created>
  <dcterms:modified xsi:type="dcterms:W3CDTF">2026-07-17T00:06:45Z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0x010100E585B18512D53F41BDE18DDF49B141B1</vt:lpwstr>
  </property>
  <property fmtid="{D5CDD505-2E9C-101B-9397-08002B2CF9AE}" pid="3" name="MediaServiceImageTags">
    <vt:lpwstr/>
  </property>
  <property fmtid="{D5CDD505-2E9C-101B-9397-08002B2CF9AE}" pid="4" name="Order">
    <vt:r8>455500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