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71" r:id="rId11"/>
    <p:sldId id="272" r:id="rId12"/>
    <p:sldId id="273"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AE3401-4145-E9B9-1BBF-692FC5955D80}" v="795" dt="2026-06-30T17:13:27.509"/>
    <p1510:client id="{0416EA45-4D69-E5AC-4EE4-16BC2AC7F451}" v="257" dt="2026-06-29T21:59:23.809"/>
    <p1510:client id="{257375F4-D424-45F0-29FF-55D46E95BDAF}" v="3" dt="2026-06-30T19:44:40"/>
    <p1510:client id="{47626CBB-B2E8-1422-4249-BDF728661FB7}" v="32" dt="2026-06-29T21:14:42.009"/>
    <p1510:client id="{8020896A-CD21-CF32-5E4A-43B047F45EC2}" v="1561" dt="2026-06-29T22:36:46.419"/>
    <p1510:client id="{868F1635-05FE-B82B-D724-FD609F19C4F5}" v="469" dt="2026-06-29T21:20:06.152"/>
    <p1510:client id="{C07FBA1D-8293-7BDF-40CB-1489BBEE238B}" v="217" dt="2026-06-29T21:37:29.367"/>
    <p1510:client id="{C7B9CE2A-82C2-0C38-C55B-FD86D1CD76DD}" v="1203" dt="2026-06-29T21:51:06.4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slide" Target="slides/slide7.xml" Id="rId8" /><Relationship Type="http://schemas.openxmlformats.org/officeDocument/2006/relationships/slide" Target="slides/slide12.xml" Id="rId13" /><Relationship Type="http://schemas.openxmlformats.org/officeDocument/2006/relationships/viewProps" Target="viewProps.xml" Id="rId18" /><Relationship Type="http://schemas.openxmlformats.org/officeDocument/2006/relationships/slide" Target="slides/slide2.xml" Id="rId3" /><Relationship Type="http://schemas.openxmlformats.org/officeDocument/2006/relationships/slide" Target="slides/slide6.xml" Id="rId7" /><Relationship Type="http://schemas.openxmlformats.org/officeDocument/2006/relationships/slide" Target="slides/slide11.xml" Id="rId12" /><Relationship Type="http://schemas.openxmlformats.org/officeDocument/2006/relationships/presProps" Target="presProps.xml" Id="rId17" /><Relationship Type="http://schemas.openxmlformats.org/officeDocument/2006/relationships/slide" Target="slides/slide1.xml" Id="rId2" /><Relationship Type="http://schemas.openxmlformats.org/officeDocument/2006/relationships/slide" Target="slides/slide15.xml" Id="rId16" /><Relationship Type="http://schemas.openxmlformats.org/officeDocument/2006/relationships/tableStyles" Target="tableStyles.xml" Id="rId20" /><Relationship Type="http://schemas.openxmlformats.org/officeDocument/2006/relationships/slideMaster" Target="slideMasters/slideMaster1.xml" Id="rId1" /><Relationship Type="http://schemas.openxmlformats.org/officeDocument/2006/relationships/slide" Target="slides/slide5.xml" Id="rId6" /><Relationship Type="http://schemas.openxmlformats.org/officeDocument/2006/relationships/slide" Target="slides/slide10.xml" Id="rId11" /><Relationship Type="http://schemas.openxmlformats.org/officeDocument/2006/relationships/slide" Target="slides/slide4.xml" Id="rId5" /><Relationship Type="http://schemas.openxmlformats.org/officeDocument/2006/relationships/slide" Target="slides/slide14.xml" Id="rId15" /><Relationship Type="http://schemas.openxmlformats.org/officeDocument/2006/relationships/slide" Target="slides/slide9.xml" Id="rId10" /><Relationship Type="http://schemas.openxmlformats.org/officeDocument/2006/relationships/theme" Target="theme/theme1.xml" Id="rId19" /><Relationship Type="http://schemas.openxmlformats.org/officeDocument/2006/relationships/slide" Target="slides/slide3.xml" Id="rId4" /><Relationship Type="http://schemas.openxmlformats.org/officeDocument/2006/relationships/slide" Target="slides/slide8.xml" Id="rId9" /><Relationship Type="http://schemas.openxmlformats.org/officeDocument/2006/relationships/slide" Target="slides/slide13.xml" Id="rId14" /><Relationship Type="http://schemas.microsoft.com/office/2015/10/relationships/revisionInfo" Target="revisionInfo.xml" Id="rId22" /></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9T22:37:34.089"/>
    </inkml:context>
    <inkml:brush xml:id="br0">
      <inkml:brushProperty name="width" value="0.1" units="cm"/>
      <inkml:brushProperty name="height" value="0.1" units="cm"/>
    </inkml:brush>
  </inkml:definitions>
  <inkml:trace contextRef="#ctx0" brushRef="#br0">22141 14012 16383 0 0,'-4'0'0'0'0,"-7"0"0"0"0,-6 0 0 0 0,-3 0 0 0 0,-5 0 0 0 0,-1 0 0 0 0,3-3 0 0 0,2-2 0 0 0,2 1 0 0 0,3-3 0 0 0,2-3 0 0 0,-4-1 0 0 0,-2 3 0 0 0,-5-2 0 0 0,-1-2 0 0 0,0-2 0 0 0,-2 1 0 0 0,4-1 0 0 0,2-5 0 0 0,2 2 0 0 0,1-1 0 0 0,3 0 0 0 0,1-1 0 0 0,1 0 0 0 0,1 0 0 0 0,0-1 0 0 0,3 0 0 0 0,2 0 0 0 0,3 0 0 0 0,2 0 0 0 0,2 0 0 0 0,1 0 0 0 0,0 0 0 0 0,1 0 0 0 0,-1 0 0 0 0,1 0 0 0 0,3 0 0 0 0,0-4 0 0 0,4 3 0 0 0,0 2 0 0 0,2 3 0 0 0,0 1 0 0 0,-2 1 0 0 0,0-2 0 0 0,3 2 0 0 0,0 1 0 0 0,-3-2 0 0 0,-2-1 0 0 0,1-2 0 0 0,3 3 0 0 0,0 0 0 0 0,1 3 0 0 0,-1 0 0 0 0,-2-1 0 0 0,1 1 0 0 0,2-1 0 0 0,-1-1 0 0 0,-2-1 0 0 0,-2-3 0 0 0,1 0 0 0 0,3 1 0 0 0,3 5 0 0 0,-1 1 0 0 0,-2-2 0 0 0,0 2 0 0 0,3 3 0 0 0,1 3 0 0 0,-1-2 0 0 0,1 1 0 0 0,1 1 0 0 0,2-2 0 0 0,0 1 0 0 0,2 1 0 0 0,1 1 0 0 0,0-2 0 0 0,0 0 0 0 0,0 1 0 0 0,-3-2 0 0 0,-1 1 0 0 0,0 0 0 0 0,0 2 0 0 0,-2-2 0 0 0,0 0 0 0 0,1 1 0 0 0,1 2 0 0 0,2-3 0 0 0,0 0 0 0 0,2 2 0 0 0,0 0 0 0 0,3 2 0 0 0,2 0 0 0 0,-4-2 0 0 0,-2 0 0 0 0,3 0 0 0 0,0 0 0 0 0,1 2 0 0 0,-1 1 0 0 0,0 0 0 0 0,-1 1 0 0 0,0 0 0 0 0,-1 0 0 0 0,0 0 0 0 0,0 1 0 0 0,0-1 0 0 0,3 0 0 0 0,1 0 0 0 0,0 0 0 0 0,0 0 0 0 0,-2 0 0 0 0,0 0 0 0 0,-2 0 0 0 0,1 0 0 0 0,2 3 0 0 0,2 2 0 0 0,-1-1 0 0 0,-1 0 0 0 0,-1-2 0 0 0,0 0 0 0 0,-2-2 0 0 0,1 4 0 0 0,-2 1 0 0 0,-2 2 0 0 0,-2 1 0 0 0,1-1 0 0 0,0-3 0 0 0,1 0 0 0 0,2-3 0 0 0,0 0 0 0 0,-3 3 0 0 0,0 0 0 0 0,-1 0 0 0 0,2 3 0 0 0,1-1 0 0 0,-3 3 0 0 0,0 0 0 0 0,0-2 0 0 0,2-2 0 0 0,0-2 0 0 0,2-1 0 0 0,0-2 0 0 0,1 1 0 0 0,0-2 0 0 0,0 1 0 0 0,0-1 0 0 0,1 1 0 0 0,-1 0 0 0 0,3 0 0 0 0,2 0 0 0 0,-1 0 0 0 0,3 0 0 0 0,0 0 0 0 0,-1 0 0 0 0,-2 0 0 0 0,-1 0 0 0 0,-2 0 0 0 0,0 0 0 0 0,-1 0 0 0 0,0 3 0 0 0,-1 2 0 0 0,1 2 0 0 0,0 1 0 0 0,0-1 0 0 0,-1-2 0 0 0,-2 2 0 0 0,-2-1 0 0 0,-2 3 0 0 0,-1-1 0 0 0,-3 2 0 0 0,2-1 0 0 0,1-2 0 0 0,3-2 0 0 0,2-2 0 0 0,1-1 0 0 0,-2 2 0 0 0,-1 4 0 0 0,1 0 0 0 0,1 3 0 0 0,1-1 0 0 0,1-2 0 0 0,-3 1 0 0 0,-4 2 0 0 0,-1 0 0 0 0,-2 1 0 0 0,1-2 0 0 0,-2 2 0 0 0,-2 1 0 0 0,-1 2 0 0 0,-3 3 0 0 0,-1 0 0 0 0,0 2 0 0 0,-2 0 0 0 0,1 3 0 0 0,0 2 0 0 0,-1 3 0 0 0,1 1 0 0 0,0-2 0 0 0,0-2 0 0 0,0-2 0 0 0,0-1 0 0 0,0-1 0 0 0,0-1 0 0 0,0-1 0 0 0,0 4 0 0 0,0 2 0 0 0,0-1 0 0 0,0-1 0 0 0,0-1 0 0 0,0-1 0 0 0,0 0 0 0 0,0 0 0 0 0,0 2 0 0 0,-4-2 0 0 0,0-2 0 0 0,-1 0 0 0 0,-1-3 0 0 0,-1 2 0 0 0,-3-2 0 0 0,-2-1 0 0 0,-3 2 0 0 0,-2-3 0 0 0,-2-1 0 0 0,-4 2 0 0 0,-2-2 0 0 0,0-4 0 0 0,5 1 0 0 0,1-2 0 0 0,-2-2 0 0 0,-4-2 0 0 0,-5 1 0 0 0,-5 1 0 0 0,2-2 0 0 0,-2 0 0 0 0,3-2 0 0 0,2-1 0 0 0,1-1 0 0 0,1 0 0 0 0,2 3 0 0 0,2 2 0 0 0,2-1 0 0 0,1-1 0 0 0,4 3 0 0 0,2 0 0 0 0,-1-1 0 0 0,0-1 0 0 0,-1-2 0 0 0,-1-1 0 0 0,-4 0 0 0 0,-2-1 0 0 0,-1 0 0 0 0,2 0 0 0 0,0 0 0 0 0,1-1 0 0 0,2 1 0 0 0,-1 0 0 0 0,1 0 0 0 0,0 0 0 0 0,0 0 0 0 0,1 0 0 0 0,-1 0 0 0 0,0 0 0 0 0,0 0 0 0 0,0 0 0 0 0,0 0 0 0 0,0 0 0 0 0,0 0 0 0 0,0 0 0 0 0,0 0 0 0 0,-3 0 0 0 0,-2 0 0 0 0,1 0 0 0 0,1 0 0 0 0,0 0 0 0 0,2-3 0 0 0,0-2 0 0 0,1 1 0 0 0,0 0 0 0 0,-3 2 0 0 0,-2 0 0 0 0,-2 2 0 0 0,-1-1 0 0 0,1 1 0 0 0,2 0 0 0 0,2 1 0 0 0,1-1 0 0 0,2 0 0 0 0,-1 0 0 0 0,2 0 0 0 0,-1 0 0 0 0,0 0 0 0 0,1 0 0 0 0,-1 0 0 0 0,0 0 0 0 0,0 0 0 0 0,0 0 0 0 0,4-3 0 0 0,0-2 0 0 0,1 1 0 0 0,-2 0 0 0 0,0 2 0 0 0,-2 0 0 0 0,0 2 0 0 0,-1-1 0 0 0,0 1 0 0 0,0 0 0 0 0,0 1 0 0 0,3-5 0 0 0,2 0 0 0 0,-1 0 0 0 0,3-3 0 0 0,0 0 0 0 0,-1 1 0 0 0,-2 2 0 0 0,-1 1 0 0 0,2-2 0 0 0,0 0 0 0 0,-1 1 0 0 0,0 0 0 0 0,1-1 0 0 0,1-1 0 0 0,-1 1 0 0 0,-1-2 0 0 0,-2 0 0 0 0,-1-2 0 0 0,0 1 0 0 0,3-3 0 0 0,0-1 0 0 0,0 0 0 0 0,3-1 0 0 0,0 2 0 0 0,2-1 0 0 0,3-1 0 0 0,-1 1 0 0 0,2-1 0 0 0,2-1 0 0 0,-2 1 0 0 0,0 0 0 0 0,2 2 0 0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965A7A7B-B71A-428D-833F-0F3507A6DB13}" type="datetimeFigureOut">
              <a:rPr lang="en-US" dirty="0"/>
              <a:t>6/30/2026</a:t>
            </a:fld>
            <a:endParaRPr lang="en-US"/>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A65A5C87-DF58-40C8-B092-1DE63DB4547E}" type="slidenum">
              <a:rPr lang="en-US" dirty="0"/>
              <a:t>‹#›</a:t>
            </a:fld>
            <a:endParaRPr lang="en-US"/>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0602096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5CF65307-640F-4AE7-B0BE-50C709AD86C5}" type="datetimeFigureOut">
              <a:rPr lang="en-US" dirty="0"/>
              <a:t>6/30/2026</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29663988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F77EA1F9-1F0F-4C65-8F6E-9729B924AAAC}" type="datetimeFigureOut">
              <a:rPr lang="en-US" dirty="0"/>
              <a:t>6/30/2026</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42619739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202278E8-5F4B-47D5-A617-8CCDF75D6A33}" type="datetimeFigureOut">
              <a:rPr lang="en-US" dirty="0"/>
              <a:t>6/30/2026</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1433676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16AAFA52-7A21-407F-8339-40DF182D7460}" type="datetimeFigureOut">
              <a:rPr lang="en-US" dirty="0"/>
              <a:t>6/30/2026</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29444962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96770335-1C1A-4243-9BDD-9630C417D284}" type="datetimeFigureOut">
              <a:rPr lang="en-US" dirty="0"/>
              <a:t>6/30/2026</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26211039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141513F-8EBD-4612-96F4-CC3E309609AF}" type="datetimeFigureOut">
              <a:rPr lang="en-US" dirty="0"/>
              <a:t>6/30/2026</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32286004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6E6483A1-31A8-47A2-AB0A-53A7803D5EBF}" type="datetimeFigureOut">
              <a:rPr lang="en-US" dirty="0"/>
              <a:t>6/30/2026</a:t>
            </a:fld>
            <a:endParaRPr lang="en-US"/>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3804598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noChangeAspect="1"/>
          </p:cNvSpPr>
          <p:nvPr>
            <p:ph type="pic" idx="1"/>
          </p:nvPr>
        </p:nvSpPr>
        <p:spPr>
          <a:xfrm>
            <a:off x="4965192" y="1161288"/>
            <a:ext cx="6729984" cy="4645152"/>
          </a:xfrm>
        </p:spPr>
        <p:txBody>
          <a:bodyPr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6D8810B9-2C7C-4CAF-99E2-617AE20BA331}" type="datetimeFigureOut">
              <a:rPr lang="en-US" dirty="0"/>
              <a:t>6/30/2026</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23313439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F248F9EB-9D34-4B41-B66C-5FAF50876D2D}" type="datetimeFigureOut">
              <a:rPr lang="en-US" dirty="0"/>
              <a:t>6/30/2026</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19960840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34489A26-CAA1-4690-8C1F-1641B1B97745}" type="datetimeFigureOut">
              <a:rPr lang="en-US" dirty="0"/>
              <a:t>6/30/2026</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30941976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E93E0A-5177-400C-87C9-C93AF466EC49}" type="datetimeFigureOut">
              <a:rPr lang="en-US" dirty="0"/>
              <a:t>6/30/2026</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917615-2DB4-4DAA-9DE3-B2B689A846E0}" type="slidenum">
              <a:rPr lang="en-US" dirty="0"/>
              <a:t>‹#›</a:t>
            </a:fld>
            <a:endParaRPr lang="en-US"/>
          </a:p>
        </p:txBody>
      </p:sp>
    </p:spTree>
    <p:extLst>
      <p:ext uri="{BB962C8B-B14F-4D97-AF65-F5344CB8AC3E}">
        <p14:creationId xmlns:p14="http://schemas.microsoft.com/office/powerpoint/2010/main" val="191309342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Support Org Chart + KB Articles</a:t>
            </a:r>
          </a:p>
        </p:txBody>
      </p:sp>
      <p:sp>
        <p:nvSpPr>
          <p:cNvPr id="3" name="Subtitle 2"/>
          <p:cNvSpPr>
            <a:spLocks noGrp="1"/>
          </p:cNvSpPr>
          <p:nvPr>
            <p:ph type="subTitle" idx="1"/>
          </p:nvPr>
        </p:nvSpPr>
        <p:spPr/>
        <p:txBody>
          <a:bodyPr vert="horz" lIns="91440" tIns="45720" rIns="91440" bIns="45720" rtlCol="0" anchor="t">
            <a:normAutofit/>
          </a:bodyPr>
          <a:lstStyle/>
          <a:p>
            <a:endParaRPr lang="en-US"/>
          </a:p>
          <a:p>
            <a:r>
              <a:rPr lang="en-US"/>
              <a:t>Athziri Vega, Carter Ward, Jeremy Martel, Logan Foster</a:t>
            </a:r>
          </a:p>
          <a:p>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ABBF7-9E45-17A5-23CC-C72D3BF4DF32}"/>
              </a:ext>
            </a:extLst>
          </p:cNvPr>
          <p:cNvSpPr>
            <a:spLocks noGrp="1"/>
          </p:cNvSpPr>
          <p:nvPr>
            <p:ph type="title"/>
          </p:nvPr>
        </p:nvSpPr>
        <p:spPr/>
        <p:txBody>
          <a:bodyPr/>
          <a:lstStyle/>
          <a:p>
            <a:r>
              <a:rPr lang="en-US"/>
              <a:t>Overview Chart</a:t>
            </a:r>
          </a:p>
        </p:txBody>
      </p:sp>
      <p:sp>
        <p:nvSpPr>
          <p:cNvPr id="4" name="Date Placeholder 3">
            <a:extLst>
              <a:ext uri="{FF2B5EF4-FFF2-40B4-BE49-F238E27FC236}">
                <a16:creationId xmlns:a16="http://schemas.microsoft.com/office/drawing/2014/main" id="{1E2DAB0E-F7CE-965D-849A-67E000B74310}"/>
              </a:ext>
            </a:extLst>
          </p:cNvPr>
          <p:cNvSpPr>
            <a:spLocks noGrp="1"/>
          </p:cNvSpPr>
          <p:nvPr>
            <p:ph type="dt" sz="half" idx="10"/>
          </p:nvPr>
        </p:nvSpPr>
        <p:spPr/>
        <p:txBody>
          <a:bodyPr/>
          <a:lstStyle/>
          <a:p>
            <a:fld id="{9C7FEC62-8A21-4B54-A365-DB8E360A3FB9}" type="datetime1">
              <a:t>6/30/2026</a:t>
            </a:fld>
            <a:endParaRPr lang="en-US"/>
          </a:p>
        </p:txBody>
      </p:sp>
      <p:sp>
        <p:nvSpPr>
          <p:cNvPr id="5" name="Footer Placeholder 4">
            <a:extLst>
              <a:ext uri="{FF2B5EF4-FFF2-40B4-BE49-F238E27FC236}">
                <a16:creationId xmlns:a16="http://schemas.microsoft.com/office/drawing/2014/main" id="{B3382A1D-8C2A-7436-54BF-6F7610C11F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A6492F-CB04-2963-DAB7-A02AEAA1C1FE}"/>
              </a:ext>
            </a:extLst>
          </p:cNvPr>
          <p:cNvSpPr>
            <a:spLocks noGrp="1"/>
          </p:cNvSpPr>
          <p:nvPr>
            <p:ph type="sldNum" sz="quarter" idx="12"/>
          </p:nvPr>
        </p:nvSpPr>
        <p:spPr/>
        <p:txBody>
          <a:bodyPr/>
          <a:lstStyle/>
          <a:p>
            <a:fld id="{A65A5C87-DF58-40C8-B092-1DE63DB4547E}" type="slidenum">
              <a:rPr lang="en-US" dirty="0"/>
              <a:t>2</a:t>
            </a:fld>
            <a:endParaRPr lang="en-US"/>
          </a:p>
        </p:txBody>
      </p:sp>
      <p:sp>
        <p:nvSpPr>
          <p:cNvPr id="10" name="TextBox 9">
            <a:extLst>
              <a:ext uri="{FF2B5EF4-FFF2-40B4-BE49-F238E27FC236}">
                <a16:creationId xmlns:a16="http://schemas.microsoft.com/office/drawing/2014/main" id="{42CE2C64-9650-1B0E-8834-0D6F1F535F65}"/>
              </a:ext>
            </a:extLst>
          </p:cNvPr>
          <p:cNvSpPr txBox="1"/>
          <p:nvPr/>
        </p:nvSpPr>
        <p:spPr>
          <a:xfrm>
            <a:off x="6984961" y="2424985"/>
            <a:ext cx="4710658" cy="31107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50000"/>
              </a:lnSpc>
              <a:buFont typeface="Arial"/>
              <a:buChar char="•"/>
            </a:pPr>
            <a:r>
              <a:rPr lang="en-US" sz="1100" b="1"/>
              <a:t>Manager/Head Analyst: </a:t>
            </a:r>
            <a:r>
              <a:rPr lang="en-US" sz="1100"/>
              <a:t>Oversees</a:t>
            </a:r>
            <a:r>
              <a:rPr lang="en-US" sz="1100">
                <a:ea typeface="+mn-lt"/>
                <a:cs typeface="+mn-lt"/>
              </a:rPr>
              <a:t> all analysts, handles escalations, and communicates with other departments</a:t>
            </a:r>
            <a:endParaRPr lang="en-US" sz="1100"/>
          </a:p>
          <a:p>
            <a:pPr marL="285750" indent="-285750">
              <a:lnSpc>
                <a:spcPct val="150000"/>
              </a:lnSpc>
              <a:buFont typeface="Arial"/>
              <a:buChar char="•"/>
            </a:pPr>
            <a:r>
              <a:rPr lang="en-US" sz="1100" b="1"/>
              <a:t>Content Manager:</a:t>
            </a:r>
            <a:r>
              <a:rPr lang="en-US" sz="1100"/>
              <a:t> </a:t>
            </a:r>
            <a:r>
              <a:rPr lang="en-US" sz="1100">
                <a:ea typeface="+mn-lt"/>
                <a:cs typeface="+mn-lt"/>
              </a:rPr>
              <a:t>Maintains FAQ and support page content, works with Technical Writers on priorities</a:t>
            </a:r>
          </a:p>
          <a:p>
            <a:pPr marL="285750" indent="-285750">
              <a:lnSpc>
                <a:spcPct val="150000"/>
              </a:lnSpc>
              <a:buFont typeface="Arial"/>
              <a:buChar char="•"/>
            </a:pPr>
            <a:r>
              <a:rPr lang="en-US" sz="1100" b="1"/>
              <a:t>Technical Writer: </a:t>
            </a:r>
            <a:r>
              <a:rPr lang="en-US" sz="1100">
                <a:ea typeface="+mn-lt"/>
                <a:cs typeface="+mn-lt"/>
              </a:rPr>
              <a:t>Writes KB articles, translates complex concepts into user-friendly language</a:t>
            </a:r>
          </a:p>
          <a:p>
            <a:pPr marL="285750" indent="-285750">
              <a:lnSpc>
                <a:spcPct val="150000"/>
              </a:lnSpc>
              <a:buFont typeface="Arial"/>
              <a:buChar char="•"/>
            </a:pPr>
            <a:r>
              <a:rPr lang="en-US" sz="1100" b="1"/>
              <a:t>Analyst Software Specialist:</a:t>
            </a:r>
            <a:r>
              <a:rPr lang="en-US" sz="1100"/>
              <a:t> </a:t>
            </a:r>
            <a:r>
              <a:rPr lang="en-US" sz="1100">
                <a:ea typeface="+mn-lt"/>
                <a:cs typeface="+mn-lt"/>
              </a:rPr>
              <a:t>Analyzes client needs, translates requirements, collaborates with Tier analysts</a:t>
            </a:r>
          </a:p>
          <a:p>
            <a:pPr marL="285750" indent="-285750">
              <a:lnSpc>
                <a:spcPct val="150000"/>
              </a:lnSpc>
              <a:buFont typeface="Arial"/>
              <a:buChar char="•"/>
            </a:pPr>
            <a:r>
              <a:rPr lang="en-US" sz="1100" b="1"/>
              <a:t>General Analysts (Tiers 1 – 3): </a:t>
            </a:r>
            <a:endParaRPr lang="en-US" sz="1100" b="1">
              <a:ea typeface="+mn-lt"/>
              <a:cs typeface="+mn-lt"/>
            </a:endParaRPr>
          </a:p>
          <a:p>
            <a:pPr marL="742950" lvl="1" indent="-285750">
              <a:lnSpc>
                <a:spcPct val="150000"/>
              </a:lnSpc>
              <a:buFont typeface="Courier New"/>
              <a:buChar char="o"/>
            </a:pPr>
            <a:r>
              <a:rPr lang="en-US" sz="1100" u="sng">
                <a:ea typeface="+mn-lt"/>
                <a:cs typeface="+mn-lt"/>
              </a:rPr>
              <a:t>Tier 1:</a:t>
            </a:r>
            <a:r>
              <a:rPr lang="en-US" sz="1100">
                <a:ea typeface="+mn-lt"/>
                <a:cs typeface="+mn-lt"/>
              </a:rPr>
              <a:t> basic issues</a:t>
            </a:r>
            <a:endParaRPr lang="en-US" sz="1100"/>
          </a:p>
          <a:p>
            <a:pPr marL="742950" lvl="1" indent="-285750">
              <a:lnSpc>
                <a:spcPct val="150000"/>
              </a:lnSpc>
              <a:buFont typeface="Courier New"/>
              <a:buChar char="o"/>
            </a:pPr>
            <a:r>
              <a:rPr lang="en-US" sz="1100" u="sng">
                <a:ea typeface="+mn-lt"/>
                <a:cs typeface="+mn-lt"/>
              </a:rPr>
              <a:t>Tier 2:</a:t>
            </a:r>
            <a:r>
              <a:rPr lang="en-US" sz="1100">
                <a:ea typeface="+mn-lt"/>
                <a:cs typeface="+mn-lt"/>
              </a:rPr>
              <a:t> deeper product knowledge</a:t>
            </a:r>
          </a:p>
          <a:p>
            <a:pPr marL="742950" lvl="1" indent="-285750">
              <a:lnSpc>
                <a:spcPct val="150000"/>
              </a:lnSpc>
              <a:buFont typeface="Courier New"/>
              <a:buChar char="o"/>
            </a:pPr>
            <a:r>
              <a:rPr lang="en-US" sz="1100" u="sng">
                <a:ea typeface="+mn-lt"/>
                <a:cs typeface="+mn-lt"/>
              </a:rPr>
              <a:t>Tier 3:</a:t>
            </a:r>
            <a:r>
              <a:rPr lang="en-US" sz="1100">
                <a:ea typeface="+mn-lt"/>
                <a:cs typeface="+mn-lt"/>
              </a:rPr>
              <a:t> complex escalations</a:t>
            </a:r>
            <a:endParaRPr lang="en-US" sz="1100"/>
          </a:p>
        </p:txBody>
      </p:sp>
      <p:pic>
        <p:nvPicPr>
          <p:cNvPr id="15" name="Content Placeholder 14" descr="A group of purple rectangular buttons with black text&#10;&#10;AI-generated content may be incorrect.">
            <a:extLst>
              <a:ext uri="{FF2B5EF4-FFF2-40B4-BE49-F238E27FC236}">
                <a16:creationId xmlns:a16="http://schemas.microsoft.com/office/drawing/2014/main" id="{8BB5613A-6184-ADD4-F521-FD1572AB21B9}"/>
              </a:ext>
            </a:extLst>
          </p:cNvPr>
          <p:cNvPicPr>
            <a:picLocks noGrp="1" noChangeAspect="1"/>
          </p:cNvPicPr>
          <p:nvPr>
            <p:ph idx="1"/>
          </p:nvPr>
        </p:nvPicPr>
        <p:blipFill>
          <a:blip r:embed="rId2"/>
          <a:stretch>
            <a:fillRect/>
          </a:stretch>
        </p:blipFill>
        <p:spPr>
          <a:xfrm>
            <a:off x="616497" y="2422298"/>
            <a:ext cx="6157053" cy="2687610"/>
          </a:xfrm>
          <a:prstGeom prst="rect">
            <a:avLst/>
          </a:prstGeom>
        </p:spPr>
      </p:pic>
    </p:spTree>
    <p:extLst>
      <p:ext uri="{BB962C8B-B14F-4D97-AF65-F5344CB8AC3E}">
        <p14:creationId xmlns:p14="http://schemas.microsoft.com/office/powerpoint/2010/main" val="12400596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E8343-9909-A117-0724-B3A4797E37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19242-939A-161B-8F25-E492D925C6BC}"/>
              </a:ext>
            </a:extLst>
          </p:cNvPr>
          <p:cNvSpPr>
            <a:spLocks noGrp="1"/>
          </p:cNvSpPr>
          <p:nvPr>
            <p:ph type="title"/>
          </p:nvPr>
        </p:nvSpPr>
        <p:spPr/>
        <p:txBody>
          <a:bodyPr/>
          <a:lstStyle/>
          <a:p>
            <a:r>
              <a:rPr lang="en-US"/>
              <a:t>Other Departments</a:t>
            </a:r>
          </a:p>
        </p:txBody>
      </p:sp>
      <p:sp>
        <p:nvSpPr>
          <p:cNvPr id="3" name="Content Placeholder 2">
            <a:extLst>
              <a:ext uri="{FF2B5EF4-FFF2-40B4-BE49-F238E27FC236}">
                <a16:creationId xmlns:a16="http://schemas.microsoft.com/office/drawing/2014/main" id="{10F7A767-3466-6A76-2C85-C900BF256292}"/>
              </a:ext>
            </a:extLst>
          </p:cNvPr>
          <p:cNvSpPr>
            <a:spLocks noGrp="1"/>
          </p:cNvSpPr>
          <p:nvPr>
            <p:ph idx="1"/>
          </p:nvPr>
        </p:nvSpPr>
        <p:spPr>
          <a:xfrm>
            <a:off x="565203" y="2120164"/>
            <a:ext cx="11166486" cy="4602173"/>
          </a:xfrm>
        </p:spPr>
        <p:txBody>
          <a:bodyPr vert="horz" lIns="91440" tIns="45720" rIns="91440" bIns="45720" rtlCol="0" anchor="t">
            <a:normAutofit/>
          </a:bodyPr>
          <a:lstStyle/>
          <a:p>
            <a:r>
              <a:rPr lang="en-US" sz="1800" b="1"/>
              <a:t>Engineering:</a:t>
            </a:r>
            <a:r>
              <a:rPr lang="en-US" sz="1800"/>
              <a:t> When a customer finds a bug, engineering would look in to the code and help with a solution.</a:t>
            </a:r>
          </a:p>
          <a:p>
            <a:r>
              <a:rPr lang="en-US" sz="1800" b="1"/>
              <a:t>Product management:</a:t>
            </a:r>
            <a:r>
              <a:rPr lang="en-US" sz="1800"/>
              <a:t> Will handle Feedback on features/improvements from customers so it will be considered in future updates.</a:t>
            </a:r>
          </a:p>
          <a:p>
            <a:r>
              <a:rPr lang="en-US" sz="1800" b="1"/>
              <a:t>Finance:</a:t>
            </a:r>
            <a:r>
              <a:rPr lang="en-US" sz="1800"/>
              <a:t> When questions involve billing, invoices, subscriptions, or refunds that support can not resolve directly.</a:t>
            </a:r>
          </a:p>
          <a:p>
            <a:r>
              <a:rPr lang="en-US" sz="1800" b="1"/>
              <a:t>IT:</a:t>
            </a:r>
            <a:r>
              <a:rPr lang="en-US" sz="1800"/>
              <a:t> Helps when issues are caused by infrastructure instead of the software itself.</a:t>
            </a:r>
          </a:p>
        </p:txBody>
      </p:sp>
      <p:sp>
        <p:nvSpPr>
          <p:cNvPr id="4" name="Date Placeholder 3">
            <a:extLst>
              <a:ext uri="{FF2B5EF4-FFF2-40B4-BE49-F238E27FC236}">
                <a16:creationId xmlns:a16="http://schemas.microsoft.com/office/drawing/2014/main" id="{7336D9FD-AC2D-52D3-2D68-CE54CB86080C}"/>
              </a:ext>
            </a:extLst>
          </p:cNvPr>
          <p:cNvSpPr>
            <a:spLocks noGrp="1"/>
          </p:cNvSpPr>
          <p:nvPr>
            <p:ph type="dt" sz="half" idx="10"/>
          </p:nvPr>
        </p:nvSpPr>
        <p:spPr/>
        <p:txBody>
          <a:bodyPr/>
          <a:lstStyle/>
          <a:p>
            <a:fld id="{9C7FEC62-8A21-4B54-A365-DB8E360A3FB9}" type="datetime1">
              <a:t>6/30/2026</a:t>
            </a:fld>
            <a:endParaRPr lang="en-US"/>
          </a:p>
        </p:txBody>
      </p:sp>
      <p:sp>
        <p:nvSpPr>
          <p:cNvPr id="5" name="Footer Placeholder 4">
            <a:extLst>
              <a:ext uri="{FF2B5EF4-FFF2-40B4-BE49-F238E27FC236}">
                <a16:creationId xmlns:a16="http://schemas.microsoft.com/office/drawing/2014/main" id="{E1C30C4E-17A0-6C7C-07FB-05C27E14CB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551F31-D7D6-4DC4-D49D-0AA945529C37}"/>
              </a:ext>
            </a:extLst>
          </p:cNvPr>
          <p:cNvSpPr>
            <a:spLocks noGrp="1"/>
          </p:cNvSpPr>
          <p:nvPr>
            <p:ph type="sldNum" sz="quarter" idx="12"/>
          </p:nvPr>
        </p:nvSpPr>
        <p:spPr/>
        <p:txBody>
          <a:bodyPr/>
          <a:lstStyle/>
          <a:p>
            <a:fld id="{A65A5C87-DF58-40C8-B092-1DE63DB4547E}" type="slidenum">
              <a:rPr lang="en-US" dirty="0"/>
              <a:t>3</a:t>
            </a:fld>
            <a:endParaRPr lang="en-US"/>
          </a:p>
        </p:txBody>
      </p:sp>
    </p:spTree>
    <p:extLst>
      <p:ext uri="{BB962C8B-B14F-4D97-AF65-F5344CB8AC3E}">
        <p14:creationId xmlns:p14="http://schemas.microsoft.com/office/powerpoint/2010/main" val="34380241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64904-19A4-5063-F820-95D767C0E921}"/>
              </a:ext>
            </a:extLst>
          </p:cNvPr>
          <p:cNvSpPr>
            <a:spLocks noGrp="1"/>
          </p:cNvSpPr>
          <p:nvPr>
            <p:ph type="title"/>
          </p:nvPr>
        </p:nvSpPr>
        <p:spPr/>
        <p:txBody>
          <a:bodyPr/>
          <a:lstStyle/>
          <a:p>
            <a:r>
              <a:rPr lang="en-US"/>
              <a:t>KB Article #1 (Carter)</a:t>
            </a:r>
          </a:p>
        </p:txBody>
      </p:sp>
      <p:sp>
        <p:nvSpPr>
          <p:cNvPr id="3" name="Content Placeholder 2">
            <a:extLst>
              <a:ext uri="{FF2B5EF4-FFF2-40B4-BE49-F238E27FC236}">
                <a16:creationId xmlns:a16="http://schemas.microsoft.com/office/drawing/2014/main" id="{77BD7071-99C4-DDE3-2F1A-8D5CAC461759}"/>
              </a:ext>
            </a:extLst>
          </p:cNvPr>
          <p:cNvSpPr>
            <a:spLocks noGrp="1"/>
          </p:cNvSpPr>
          <p:nvPr>
            <p:ph idx="1"/>
          </p:nvPr>
        </p:nvSpPr>
        <p:spPr>
          <a:xfrm>
            <a:off x="792919" y="2201859"/>
            <a:ext cx="6757983" cy="3694176"/>
          </a:xfrm>
        </p:spPr>
        <p:txBody>
          <a:bodyPr vert="horz" lIns="91440" tIns="45720" rIns="91440" bIns="45720" rtlCol="0" anchor="t">
            <a:noAutofit/>
          </a:bodyPr>
          <a:lstStyle/>
          <a:p>
            <a:r>
              <a:rPr lang="en-US" sz="900" b="1"/>
              <a:t>Title: </a:t>
            </a:r>
            <a:r>
              <a:rPr lang="en-US" sz="900"/>
              <a:t>SEA: Engagement Score Not Updating or Displaying Incorrectly</a:t>
            </a:r>
          </a:p>
          <a:p>
            <a:r>
              <a:rPr lang="en-US" sz="900" b="1"/>
              <a:t>Product: </a:t>
            </a:r>
            <a:r>
              <a:rPr lang="en-US" sz="900"/>
              <a:t>Social Engagement Accelerator (SEA)</a:t>
            </a:r>
          </a:p>
          <a:p>
            <a:r>
              <a:rPr lang="en-US" sz="900" b="1"/>
              <a:t>Product Version: </a:t>
            </a:r>
            <a:r>
              <a:rPr lang="en-US" sz="900"/>
              <a:t>1.0</a:t>
            </a:r>
          </a:p>
          <a:p>
            <a:r>
              <a:rPr lang="en-US" sz="900" b="1"/>
              <a:t>Summary: </a:t>
            </a:r>
            <a:r>
              <a:rPr lang="en-US" sz="900">
                <a:ea typeface="+mn-lt"/>
                <a:cs typeface="+mn-lt"/>
              </a:rPr>
              <a:t>Student engagement scores are not reflecting recent activity or are displaying below the expected baseline</a:t>
            </a:r>
          </a:p>
          <a:p>
            <a:r>
              <a:rPr lang="en-US" sz="900" b="1"/>
              <a:t>Content: </a:t>
            </a:r>
          </a:p>
          <a:p>
            <a:pPr lvl="1"/>
            <a:r>
              <a:rPr lang="en-US" sz="900">
                <a:ea typeface="+mn-lt"/>
                <a:cs typeface="+mn-lt"/>
              </a:rPr>
              <a:t>Engagement scores pull from clubs, dining, rec center visits, events, and residence life — if one source is broken, the score will be off</a:t>
            </a:r>
            <a:endParaRPr lang="en-US" sz="900"/>
          </a:p>
          <a:p>
            <a:pPr lvl="1"/>
            <a:r>
              <a:rPr lang="en-US" sz="900">
                <a:ea typeface="+mn-lt"/>
                <a:cs typeface="+mn-lt"/>
              </a:rPr>
              <a:t>Open the student's profile and check the Engagement Activity section to see which categories are showing zero</a:t>
            </a:r>
            <a:endParaRPr lang="en-US" sz="900"/>
          </a:p>
          <a:p>
            <a:pPr lvl="1"/>
            <a:r>
              <a:rPr lang="en-US" sz="900">
                <a:ea typeface="+mn-lt"/>
                <a:cs typeface="+mn-lt"/>
              </a:rPr>
              <a:t>Check that no dashboard filters are narrowing the population before assuming the score itself is wrong</a:t>
            </a:r>
            <a:endParaRPr lang="en-US" sz="900"/>
          </a:p>
          <a:p>
            <a:pPr lvl="1"/>
            <a:r>
              <a:rPr lang="en-US" sz="900">
                <a:ea typeface="+mn-lt"/>
                <a:cs typeface="+mn-lt"/>
              </a:rPr>
              <a:t>If nothing stands out, contact your SEA administrator to confirm all data integrations are syncing</a:t>
            </a:r>
            <a:endParaRPr lang="en-US" sz="900"/>
          </a:p>
          <a:p>
            <a:pPr lvl="1"/>
            <a:r>
              <a:rPr lang="en-US" sz="900">
                <a:ea typeface="+mn-lt"/>
                <a:cs typeface="+mn-lt"/>
              </a:rPr>
              <a:t>Any student scoring below the term baseline will display in red</a:t>
            </a:r>
            <a:endParaRPr lang="en-US" sz="900"/>
          </a:p>
          <a:p>
            <a:r>
              <a:rPr lang="en-US" sz="900" b="1"/>
              <a:t>Internal Secrets:</a:t>
            </a:r>
          </a:p>
          <a:p>
            <a:pPr lvl="1"/>
            <a:r>
              <a:rPr lang="en-US" sz="900">
                <a:ea typeface="+mn-lt"/>
                <a:cs typeface="+mn-lt"/>
              </a:rPr>
              <a:t>Scores recalculate overnight, not in real time</a:t>
            </a:r>
            <a:endParaRPr lang="en-US" sz="900"/>
          </a:p>
          <a:p>
            <a:pPr lvl="1"/>
            <a:r>
              <a:rPr lang="en-US" sz="900">
                <a:ea typeface="+mn-lt"/>
                <a:cs typeface="+mn-lt"/>
              </a:rPr>
              <a:t>If scores have not updated in over 48 hours, escalate to engineering to check the pipeline logs</a:t>
            </a:r>
            <a:endParaRPr lang="en-US" sz="900"/>
          </a:p>
          <a:p>
            <a:pPr lvl="1"/>
            <a:r>
              <a:rPr lang="en-US" sz="900">
                <a:ea typeface="+mn-lt"/>
                <a:cs typeface="+mn-lt"/>
              </a:rPr>
              <a:t>The most common cause is a broken API connection to dining or housing after a campus IT update</a:t>
            </a:r>
            <a:endParaRPr lang="en-US" sz="900"/>
          </a:p>
          <a:p>
            <a:r>
              <a:rPr lang="en-US" sz="900" b="1"/>
              <a:t>Functional Use: </a:t>
            </a:r>
            <a:r>
              <a:rPr lang="en-US" sz="900">
                <a:ea typeface="+mn-lt"/>
                <a:cs typeface="+mn-lt"/>
              </a:rPr>
              <a:t>Support, Professional Services, Customer Success</a:t>
            </a:r>
            <a:endParaRPr lang="en-US" sz="900" b="1"/>
          </a:p>
        </p:txBody>
      </p:sp>
      <p:sp>
        <p:nvSpPr>
          <p:cNvPr id="4" name="Date Placeholder 3">
            <a:extLst>
              <a:ext uri="{FF2B5EF4-FFF2-40B4-BE49-F238E27FC236}">
                <a16:creationId xmlns:a16="http://schemas.microsoft.com/office/drawing/2014/main" id="{8126B1CA-EEB2-9024-F558-EE8A10D670F2}"/>
              </a:ext>
            </a:extLst>
          </p:cNvPr>
          <p:cNvSpPr>
            <a:spLocks noGrp="1"/>
          </p:cNvSpPr>
          <p:nvPr>
            <p:ph type="dt" sz="half" idx="10"/>
          </p:nvPr>
        </p:nvSpPr>
        <p:spPr/>
        <p:txBody>
          <a:bodyPr/>
          <a:lstStyle/>
          <a:p>
            <a:fld id="{9E63B73A-DD24-4E54-87F5-06C574CBD879}" type="datetime1">
              <a:t>6/30/2026</a:t>
            </a:fld>
            <a:endParaRPr lang="en-US"/>
          </a:p>
        </p:txBody>
      </p:sp>
      <p:sp>
        <p:nvSpPr>
          <p:cNvPr id="5" name="Footer Placeholder 4">
            <a:extLst>
              <a:ext uri="{FF2B5EF4-FFF2-40B4-BE49-F238E27FC236}">
                <a16:creationId xmlns:a16="http://schemas.microsoft.com/office/drawing/2014/main" id="{BE86428F-25CF-1A78-B3F6-0F0F805094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DF93A6-5218-5EE7-8A3E-34817B425879}"/>
              </a:ext>
            </a:extLst>
          </p:cNvPr>
          <p:cNvSpPr>
            <a:spLocks noGrp="1"/>
          </p:cNvSpPr>
          <p:nvPr>
            <p:ph type="sldNum" sz="quarter" idx="12"/>
          </p:nvPr>
        </p:nvSpPr>
        <p:spPr/>
        <p:txBody>
          <a:bodyPr/>
          <a:lstStyle/>
          <a:p>
            <a:fld id="{A65A5C87-DF58-40C8-B092-1DE63DB4547E}" type="slidenum">
              <a:rPr lang="en-US" dirty="0"/>
              <a:t>4</a:t>
            </a:fld>
            <a:endParaRPr lang="en-US"/>
          </a:p>
        </p:txBody>
      </p:sp>
      <p:pic>
        <p:nvPicPr>
          <p:cNvPr id="9" name="Picture 8" descr="A screenshot of a computer&#10;&#10;AI-generated content may be incorrect.">
            <a:extLst>
              <a:ext uri="{FF2B5EF4-FFF2-40B4-BE49-F238E27FC236}">
                <a16:creationId xmlns:a16="http://schemas.microsoft.com/office/drawing/2014/main" id="{A8FE1549-E23C-4729-EA62-9BA7CF8C7CFA}"/>
              </a:ext>
            </a:extLst>
          </p:cNvPr>
          <p:cNvPicPr>
            <a:picLocks noChangeAspect="1"/>
          </p:cNvPicPr>
          <p:nvPr/>
        </p:nvPicPr>
        <p:blipFill>
          <a:blip r:embed="rId2"/>
          <a:stretch>
            <a:fillRect/>
          </a:stretch>
        </p:blipFill>
        <p:spPr>
          <a:xfrm>
            <a:off x="7397150" y="2098873"/>
            <a:ext cx="4478548" cy="1078744"/>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F03B38B5-98CB-7B6D-018D-680CFB8B24FC}"/>
              </a:ext>
            </a:extLst>
          </p:cNvPr>
          <p:cNvPicPr>
            <a:picLocks noChangeAspect="1"/>
          </p:cNvPicPr>
          <p:nvPr/>
        </p:nvPicPr>
        <p:blipFill>
          <a:blip r:embed="rId3"/>
          <a:stretch>
            <a:fillRect/>
          </a:stretch>
        </p:blipFill>
        <p:spPr>
          <a:xfrm>
            <a:off x="7603005" y="3321169"/>
            <a:ext cx="4066840" cy="2724510"/>
          </a:xfrm>
          <a:prstGeom prst="rect">
            <a:avLst/>
          </a:prstGeom>
        </p:spPr>
      </p:pic>
    </p:spTree>
    <p:extLst>
      <p:ext uri="{BB962C8B-B14F-4D97-AF65-F5344CB8AC3E}">
        <p14:creationId xmlns:p14="http://schemas.microsoft.com/office/powerpoint/2010/main" val="24407892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ABA24-1A25-04DF-3E7F-D0933C84BF61}"/>
              </a:ext>
            </a:extLst>
          </p:cNvPr>
          <p:cNvSpPr>
            <a:spLocks noGrp="1"/>
          </p:cNvSpPr>
          <p:nvPr>
            <p:ph type="title"/>
          </p:nvPr>
        </p:nvSpPr>
        <p:spPr/>
        <p:txBody>
          <a:bodyPr/>
          <a:lstStyle/>
          <a:p>
            <a:r>
              <a:rPr lang="en-US"/>
              <a:t>KB Article #2 (Carter)</a:t>
            </a:r>
          </a:p>
        </p:txBody>
      </p:sp>
      <p:sp>
        <p:nvSpPr>
          <p:cNvPr id="4" name="Date Placeholder 3">
            <a:extLst>
              <a:ext uri="{FF2B5EF4-FFF2-40B4-BE49-F238E27FC236}">
                <a16:creationId xmlns:a16="http://schemas.microsoft.com/office/drawing/2014/main" id="{497DF687-0E91-92EB-120C-24777D4B0080}"/>
              </a:ext>
            </a:extLst>
          </p:cNvPr>
          <p:cNvSpPr>
            <a:spLocks noGrp="1"/>
          </p:cNvSpPr>
          <p:nvPr>
            <p:ph type="dt" sz="half" idx="10"/>
          </p:nvPr>
        </p:nvSpPr>
        <p:spPr/>
        <p:txBody>
          <a:bodyPr/>
          <a:lstStyle/>
          <a:p>
            <a:fld id="{DEDBF036-CE81-444A-8CF4-89D7DCF029E8}" type="datetime1">
              <a:t>6/30/2026</a:t>
            </a:fld>
            <a:endParaRPr lang="en-US"/>
          </a:p>
        </p:txBody>
      </p:sp>
      <p:sp>
        <p:nvSpPr>
          <p:cNvPr id="5" name="Footer Placeholder 4">
            <a:extLst>
              <a:ext uri="{FF2B5EF4-FFF2-40B4-BE49-F238E27FC236}">
                <a16:creationId xmlns:a16="http://schemas.microsoft.com/office/drawing/2014/main" id="{F9CE0F82-7006-25B5-87D7-D1B1EB3182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EF6314-B641-BBC4-6949-6550273DFF37}"/>
              </a:ext>
            </a:extLst>
          </p:cNvPr>
          <p:cNvSpPr>
            <a:spLocks noGrp="1"/>
          </p:cNvSpPr>
          <p:nvPr>
            <p:ph type="sldNum" sz="quarter" idx="12"/>
          </p:nvPr>
        </p:nvSpPr>
        <p:spPr/>
        <p:txBody>
          <a:bodyPr/>
          <a:lstStyle/>
          <a:p>
            <a:fld id="{A65A5C87-DF58-40C8-B092-1DE63DB4547E}" type="slidenum">
              <a:rPr lang="en-US" dirty="0"/>
              <a:t>5</a:t>
            </a:fld>
            <a:endParaRPr lang="en-US"/>
          </a:p>
        </p:txBody>
      </p:sp>
      <p:sp>
        <p:nvSpPr>
          <p:cNvPr id="14" name="Content Placeholder 2">
            <a:extLst>
              <a:ext uri="{FF2B5EF4-FFF2-40B4-BE49-F238E27FC236}">
                <a16:creationId xmlns:a16="http://schemas.microsoft.com/office/drawing/2014/main" id="{576C42C4-F9ED-74DB-FE9C-D49C09F145CA}"/>
              </a:ext>
            </a:extLst>
          </p:cNvPr>
          <p:cNvSpPr>
            <a:spLocks noGrp="1"/>
          </p:cNvSpPr>
          <p:nvPr>
            <p:ph idx="1"/>
          </p:nvPr>
        </p:nvSpPr>
        <p:spPr>
          <a:xfrm>
            <a:off x="792919" y="2201859"/>
            <a:ext cx="7749952" cy="3781261"/>
          </a:xfrm>
        </p:spPr>
        <p:txBody>
          <a:bodyPr vert="horz" lIns="91440" tIns="45720" rIns="91440" bIns="45720" rtlCol="0" anchor="t">
            <a:noAutofit/>
          </a:bodyPr>
          <a:lstStyle/>
          <a:p>
            <a:r>
              <a:rPr lang="en-US" sz="900" b="1"/>
              <a:t>Title: </a:t>
            </a:r>
            <a:r>
              <a:rPr lang="en-US" sz="900">
                <a:ea typeface="+mn-lt"/>
                <a:cs typeface="+mn-lt"/>
              </a:rPr>
              <a:t>SEA: At-Risk Student List Showing Incorrect Results or Filters Not Working</a:t>
            </a:r>
            <a:endParaRPr lang="en-US" sz="900"/>
          </a:p>
          <a:p>
            <a:r>
              <a:rPr lang="en-US" sz="900" b="1"/>
              <a:t>Product: </a:t>
            </a:r>
            <a:r>
              <a:rPr lang="en-US" sz="900"/>
              <a:t>Social Engagement Accelerator (SEA)</a:t>
            </a:r>
          </a:p>
          <a:p>
            <a:r>
              <a:rPr lang="en-US" sz="900" b="1"/>
              <a:t>Product Version: </a:t>
            </a:r>
            <a:r>
              <a:rPr lang="en-US" sz="900"/>
              <a:t>1.0</a:t>
            </a:r>
          </a:p>
          <a:p>
            <a:r>
              <a:rPr lang="en-US" sz="900" b="1"/>
              <a:t>Summary: </a:t>
            </a:r>
            <a:r>
              <a:rPr lang="en-US" sz="900">
                <a:ea typeface="+mn-lt"/>
                <a:cs typeface="+mn-lt"/>
              </a:rPr>
              <a:t>The At-Risk Students list is returning too many or too few students, or filters are not producing the expected output</a:t>
            </a:r>
          </a:p>
          <a:p>
            <a:r>
              <a:rPr lang="en-US" sz="900" b="1"/>
              <a:t>Content: </a:t>
            </a:r>
          </a:p>
          <a:p>
            <a:pPr lvl="1"/>
            <a:r>
              <a:rPr lang="en-US" sz="900">
                <a:ea typeface="+mn-lt"/>
                <a:cs typeface="+mn-lt"/>
              </a:rPr>
              <a:t>Before assuming something is broken, verify no unintended filters are active — Class Year, Major, Housing Status, and Risk Level stack on top of each other</a:t>
            </a:r>
            <a:endParaRPr lang="en-US" sz="900"/>
          </a:p>
          <a:p>
            <a:pPr lvl="1"/>
            <a:r>
              <a:rPr lang="en-US" sz="900">
                <a:ea typeface="+mn-lt"/>
                <a:cs typeface="+mn-lt"/>
              </a:rPr>
              <a:t>The "Newly Flagged" tile only counts students flagged this week, not carry-overs from prior weeks</a:t>
            </a:r>
            <a:endParaRPr lang="en-US" sz="900"/>
          </a:p>
          <a:p>
            <a:pPr lvl="1"/>
            <a:r>
              <a:rPr lang="en-US" sz="900">
                <a:ea typeface="+mn-lt"/>
                <a:cs typeface="+mn-lt"/>
              </a:rPr>
              <a:t>If a specific student is missing, search for them directly and confirm their score actually meets the at-risk threshold</a:t>
            </a:r>
            <a:endParaRPr lang="en-US" sz="900"/>
          </a:p>
          <a:p>
            <a:pPr lvl="1"/>
            <a:r>
              <a:rPr lang="en-US" sz="900">
                <a:ea typeface="+mn-lt"/>
                <a:cs typeface="+mn-lt"/>
              </a:rPr>
              <a:t>Students marked as "Improving" still count toward the total at-risk number</a:t>
            </a:r>
            <a:endParaRPr lang="en-US" sz="900"/>
          </a:p>
          <a:p>
            <a:r>
              <a:rPr lang="en-US" sz="900" b="1"/>
              <a:t>Internal Secrets:</a:t>
            </a:r>
          </a:p>
          <a:p>
            <a:pPr lvl="1"/>
            <a:r>
              <a:rPr lang="en-US" sz="900">
                <a:ea typeface="+mn-lt"/>
                <a:cs typeface="+mn-lt"/>
              </a:rPr>
              <a:t>The at-risk threshold is set per institution during implementation; if clients think too many or too few students are flagged, that is a PS or Customer Success conversation</a:t>
            </a:r>
            <a:endParaRPr lang="en-US" sz="900"/>
          </a:p>
          <a:p>
            <a:pPr lvl="1"/>
            <a:r>
              <a:rPr lang="en-US" sz="900">
                <a:ea typeface="+mn-lt"/>
                <a:cs typeface="+mn-lt"/>
              </a:rPr>
              <a:t>"Change vs Last Week" compares against the prior Monday snapshot, not a rolling 7-day window</a:t>
            </a:r>
            <a:endParaRPr lang="en-US" sz="900"/>
          </a:p>
          <a:p>
            <a:pPr lvl="1"/>
            <a:r>
              <a:rPr lang="en-US" sz="900">
                <a:ea typeface="+mn-lt"/>
                <a:cs typeface="+mn-lt"/>
              </a:rPr>
              <a:t>If Risk Level was never configured during onboarding, filtering by it will always return the full list</a:t>
            </a:r>
            <a:endParaRPr lang="en-US" sz="900"/>
          </a:p>
          <a:p>
            <a:r>
              <a:rPr lang="en-US" sz="900" b="1"/>
              <a:t>Functional Use: </a:t>
            </a:r>
            <a:r>
              <a:rPr lang="en-US" sz="900">
                <a:ea typeface="+mn-lt"/>
                <a:cs typeface="+mn-lt"/>
              </a:rPr>
              <a:t>Support, Professional Services, Customer Success</a:t>
            </a:r>
            <a:endParaRPr lang="en-US" sz="900" b="1"/>
          </a:p>
        </p:txBody>
      </p:sp>
      <p:pic>
        <p:nvPicPr>
          <p:cNvPr id="16" name="Picture 15" descr="A screenshot of a computer&#10;&#10;AI-generated content may be incorrect.">
            <a:extLst>
              <a:ext uri="{FF2B5EF4-FFF2-40B4-BE49-F238E27FC236}">
                <a16:creationId xmlns:a16="http://schemas.microsoft.com/office/drawing/2014/main" id="{21C79A45-9739-F13A-96EA-CF46A7B6C2A5}"/>
              </a:ext>
            </a:extLst>
          </p:cNvPr>
          <p:cNvPicPr>
            <a:picLocks noChangeAspect="1"/>
          </p:cNvPicPr>
          <p:nvPr/>
        </p:nvPicPr>
        <p:blipFill>
          <a:blip r:embed="rId2"/>
          <a:stretch>
            <a:fillRect/>
          </a:stretch>
        </p:blipFill>
        <p:spPr>
          <a:xfrm>
            <a:off x="8979523" y="3996906"/>
            <a:ext cx="2859367" cy="2357886"/>
          </a:xfrm>
          <a:prstGeom prst="rect">
            <a:avLst/>
          </a:prstGeom>
        </p:spPr>
      </p:pic>
      <p:pic>
        <p:nvPicPr>
          <p:cNvPr id="18" name="Picture 17" descr="A screenshot of a cellphone&#10;&#10;AI-generated content may be incorrect.">
            <a:extLst>
              <a:ext uri="{FF2B5EF4-FFF2-40B4-BE49-F238E27FC236}">
                <a16:creationId xmlns:a16="http://schemas.microsoft.com/office/drawing/2014/main" id="{C1E8B6D8-8D9C-2B27-6374-84F0200C2477}"/>
              </a:ext>
            </a:extLst>
          </p:cNvPr>
          <p:cNvPicPr>
            <a:picLocks noChangeAspect="1"/>
          </p:cNvPicPr>
          <p:nvPr/>
        </p:nvPicPr>
        <p:blipFill>
          <a:blip r:embed="rId3"/>
          <a:stretch>
            <a:fillRect/>
          </a:stretch>
        </p:blipFill>
        <p:spPr>
          <a:xfrm>
            <a:off x="9303940" y="2205162"/>
            <a:ext cx="1984321" cy="1606276"/>
          </a:xfrm>
          <a:prstGeom prst="rect">
            <a:avLst/>
          </a:prstGeom>
        </p:spPr>
      </p:pic>
    </p:spTree>
    <p:extLst>
      <p:ext uri="{BB962C8B-B14F-4D97-AF65-F5344CB8AC3E}">
        <p14:creationId xmlns:p14="http://schemas.microsoft.com/office/powerpoint/2010/main" val="24798023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88E76-9848-2A96-2468-06F688E3272C}"/>
              </a:ext>
            </a:extLst>
          </p:cNvPr>
          <p:cNvSpPr>
            <a:spLocks noGrp="1"/>
          </p:cNvSpPr>
          <p:nvPr>
            <p:ph type="title"/>
          </p:nvPr>
        </p:nvSpPr>
        <p:spPr/>
        <p:txBody>
          <a:bodyPr/>
          <a:lstStyle/>
          <a:p>
            <a:r>
              <a:rPr lang="en-US"/>
              <a:t>KB Article #3 (Carter)</a:t>
            </a:r>
          </a:p>
        </p:txBody>
      </p:sp>
      <p:sp>
        <p:nvSpPr>
          <p:cNvPr id="4" name="Date Placeholder 3">
            <a:extLst>
              <a:ext uri="{FF2B5EF4-FFF2-40B4-BE49-F238E27FC236}">
                <a16:creationId xmlns:a16="http://schemas.microsoft.com/office/drawing/2014/main" id="{EABCAC76-CFF2-90A9-2BE6-FD4F70899AD6}"/>
              </a:ext>
            </a:extLst>
          </p:cNvPr>
          <p:cNvSpPr>
            <a:spLocks noGrp="1"/>
          </p:cNvSpPr>
          <p:nvPr>
            <p:ph type="dt" sz="half" idx="10"/>
          </p:nvPr>
        </p:nvSpPr>
        <p:spPr/>
        <p:txBody>
          <a:bodyPr/>
          <a:lstStyle/>
          <a:p>
            <a:fld id="{A78BDC6C-D9D1-4128-ADFA-14E25DE618B6}" type="datetime1">
              <a:t>6/30/2026</a:t>
            </a:fld>
            <a:endParaRPr lang="en-US"/>
          </a:p>
        </p:txBody>
      </p:sp>
      <p:sp>
        <p:nvSpPr>
          <p:cNvPr id="5" name="Footer Placeholder 4">
            <a:extLst>
              <a:ext uri="{FF2B5EF4-FFF2-40B4-BE49-F238E27FC236}">
                <a16:creationId xmlns:a16="http://schemas.microsoft.com/office/drawing/2014/main" id="{913FF7F1-3151-838D-C351-D57C59ED8A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8807AF-31EB-8431-6B17-9F4526F1BAB0}"/>
              </a:ext>
            </a:extLst>
          </p:cNvPr>
          <p:cNvSpPr>
            <a:spLocks noGrp="1"/>
          </p:cNvSpPr>
          <p:nvPr>
            <p:ph type="sldNum" sz="quarter" idx="12"/>
          </p:nvPr>
        </p:nvSpPr>
        <p:spPr/>
        <p:txBody>
          <a:bodyPr/>
          <a:lstStyle/>
          <a:p>
            <a:fld id="{A65A5C87-DF58-40C8-B092-1DE63DB4547E}" type="slidenum">
              <a:rPr lang="en-US" dirty="0"/>
              <a:t>6</a:t>
            </a:fld>
            <a:endParaRPr lang="en-US"/>
          </a:p>
        </p:txBody>
      </p:sp>
      <p:sp>
        <p:nvSpPr>
          <p:cNvPr id="10" name="Content Placeholder 2">
            <a:extLst>
              <a:ext uri="{FF2B5EF4-FFF2-40B4-BE49-F238E27FC236}">
                <a16:creationId xmlns:a16="http://schemas.microsoft.com/office/drawing/2014/main" id="{BFC5E246-B03A-00AC-E0EA-B2AC372DEADE}"/>
              </a:ext>
            </a:extLst>
          </p:cNvPr>
          <p:cNvSpPr>
            <a:spLocks noGrp="1"/>
          </p:cNvSpPr>
          <p:nvPr>
            <p:ph idx="1"/>
          </p:nvPr>
        </p:nvSpPr>
        <p:spPr>
          <a:xfrm>
            <a:off x="792919" y="2201859"/>
            <a:ext cx="7749952" cy="3846576"/>
          </a:xfrm>
        </p:spPr>
        <p:txBody>
          <a:bodyPr vert="horz" lIns="91440" tIns="45720" rIns="91440" bIns="45720" rtlCol="0" anchor="t">
            <a:noAutofit/>
          </a:bodyPr>
          <a:lstStyle/>
          <a:p>
            <a:r>
              <a:rPr lang="en-US" sz="900" b="1"/>
              <a:t>Title: </a:t>
            </a:r>
            <a:r>
              <a:rPr lang="en-US" sz="900">
                <a:ea typeface="+mn-lt"/>
                <a:cs typeface="+mn-lt"/>
              </a:rPr>
              <a:t>SEA: Events Calendar Not Displaying Upcoming Events or Club Meetings</a:t>
            </a:r>
            <a:endParaRPr lang="en-US" sz="900"/>
          </a:p>
          <a:p>
            <a:r>
              <a:rPr lang="en-US" sz="900" b="1"/>
              <a:t>Product: </a:t>
            </a:r>
            <a:r>
              <a:rPr lang="en-US" sz="900"/>
              <a:t>Social Engagement Accelerator (SEA)</a:t>
            </a:r>
          </a:p>
          <a:p>
            <a:r>
              <a:rPr lang="en-US" sz="900" b="1"/>
              <a:t>Product Version: </a:t>
            </a:r>
            <a:r>
              <a:rPr lang="en-US" sz="900"/>
              <a:t>1.0</a:t>
            </a:r>
          </a:p>
          <a:p>
            <a:r>
              <a:rPr lang="en-US" sz="900" b="1"/>
              <a:t>Summary: </a:t>
            </a:r>
            <a:r>
              <a:rPr lang="en-US" sz="900">
                <a:ea typeface="+mn-lt"/>
                <a:cs typeface="+mn-lt"/>
              </a:rPr>
              <a:t>The Events page is not populating upcoming events or club meetings, or entries are missing for specific dates</a:t>
            </a:r>
          </a:p>
          <a:p>
            <a:r>
              <a:rPr lang="en-US" sz="900" b="1"/>
              <a:t>Content: </a:t>
            </a:r>
          </a:p>
          <a:p>
            <a:pPr lvl="1"/>
            <a:r>
              <a:rPr lang="en-US" sz="900">
                <a:ea typeface="+mn-lt"/>
                <a:cs typeface="+mn-lt"/>
              </a:rPr>
              <a:t>The Events page pulls from your campus scheduling system, so missing data usually means a sync or integration issue upstream</a:t>
            </a:r>
            <a:endParaRPr lang="en-US" sz="900" b="1"/>
          </a:p>
          <a:p>
            <a:pPr lvl="1"/>
            <a:r>
              <a:rPr lang="en-US" sz="900">
                <a:ea typeface="+mn-lt"/>
                <a:cs typeface="+mn-lt"/>
              </a:rPr>
              <a:t>Check the Date filter first since the default view has a set window that may not include the dates you are looking for</a:t>
            </a:r>
            <a:endParaRPr lang="en-US" sz="900"/>
          </a:p>
          <a:p>
            <a:pPr lvl="1"/>
            <a:r>
              <a:rPr lang="en-US" sz="900">
                <a:ea typeface="+mn-lt"/>
                <a:cs typeface="+mn-lt"/>
              </a:rPr>
              <a:t>The Upcoming Events and Club Meetings panels pull from separate sources, so one can work while the other does not</a:t>
            </a:r>
            <a:endParaRPr lang="en-US" sz="900"/>
          </a:p>
          <a:p>
            <a:pPr lvl="1"/>
            <a:r>
              <a:rPr lang="en-US" sz="900">
                <a:ea typeface="+mn-lt"/>
                <a:cs typeface="+mn-lt"/>
              </a:rPr>
              <a:t>If a specific event is missing, confirm with your campus events team that it is published and set to active in the source system</a:t>
            </a:r>
            <a:endParaRPr lang="en-US" sz="900"/>
          </a:p>
          <a:p>
            <a:pPr lvl="1"/>
            <a:r>
              <a:rPr lang="en-US" sz="900">
                <a:ea typeface="+mn-lt"/>
                <a:cs typeface="+mn-lt"/>
              </a:rPr>
              <a:t>Missing or incorrect room numbers need to be corrected in the campus scheduling system, not in SEA</a:t>
            </a:r>
            <a:endParaRPr lang="en-US" sz="900"/>
          </a:p>
          <a:p>
            <a:r>
              <a:rPr lang="en-US" sz="900" b="1"/>
              <a:t>Internal Secrets:</a:t>
            </a:r>
          </a:p>
          <a:p>
            <a:pPr lvl="1"/>
            <a:r>
              <a:rPr lang="en-US" sz="900">
                <a:ea typeface="+mn-lt"/>
                <a:cs typeface="+mn-lt"/>
              </a:rPr>
              <a:t>The calendar syncs every 4 hours during business hours and once overnight, so recently added events may not appear right away</a:t>
            </a:r>
            <a:endParaRPr lang="en-US" sz="900"/>
          </a:p>
          <a:p>
            <a:pPr lvl="1"/>
            <a:r>
              <a:rPr lang="en-US" sz="900">
                <a:ea typeface="+mn-lt"/>
                <a:cs typeface="+mn-lt"/>
              </a:rPr>
              <a:t>If events appear on the calendar but not in the panel, room number data and event data come from separate endpoints and a partial failure can cause this</a:t>
            </a:r>
            <a:endParaRPr lang="en-US" sz="900"/>
          </a:p>
          <a:p>
            <a:pPr lvl="1"/>
            <a:r>
              <a:rPr lang="en-US" sz="900">
                <a:ea typeface="+mn-lt"/>
                <a:cs typeface="+mn-lt"/>
              </a:rPr>
              <a:t>If all events disappeared after a campus IT update, check whether the API credentials for the events system were rotated</a:t>
            </a:r>
            <a:endParaRPr lang="en-US" sz="900"/>
          </a:p>
          <a:p>
            <a:r>
              <a:rPr lang="en-US" sz="900" b="1"/>
              <a:t>Functional Use: </a:t>
            </a:r>
            <a:r>
              <a:rPr lang="en-US" sz="900">
                <a:ea typeface="+mn-lt"/>
                <a:cs typeface="+mn-lt"/>
              </a:rPr>
              <a:t>Support, Professional Services, Customer Success</a:t>
            </a:r>
            <a:endParaRPr lang="en-US" sz="900" b="1"/>
          </a:p>
        </p:txBody>
      </p:sp>
      <p:pic>
        <p:nvPicPr>
          <p:cNvPr id="11" name="Picture 10" descr="A screenshot of a calendar&#10;&#10;AI-generated content may be incorrect.">
            <a:extLst>
              <a:ext uri="{FF2B5EF4-FFF2-40B4-BE49-F238E27FC236}">
                <a16:creationId xmlns:a16="http://schemas.microsoft.com/office/drawing/2014/main" id="{F76D46E4-8DC2-8B04-DAD7-5FC1630E328A}"/>
              </a:ext>
            </a:extLst>
          </p:cNvPr>
          <p:cNvPicPr>
            <a:picLocks noChangeAspect="1"/>
          </p:cNvPicPr>
          <p:nvPr/>
        </p:nvPicPr>
        <p:blipFill>
          <a:blip r:embed="rId2"/>
          <a:stretch>
            <a:fillRect/>
          </a:stretch>
        </p:blipFill>
        <p:spPr>
          <a:xfrm>
            <a:off x="8752467" y="3975339"/>
            <a:ext cx="2440997" cy="2382109"/>
          </a:xfrm>
          <a:prstGeom prst="rect">
            <a:avLst/>
          </a:prstGeom>
        </p:spPr>
      </p:pic>
      <p:pic>
        <p:nvPicPr>
          <p:cNvPr id="12" name="Picture 11">
            <a:extLst>
              <a:ext uri="{FF2B5EF4-FFF2-40B4-BE49-F238E27FC236}">
                <a16:creationId xmlns:a16="http://schemas.microsoft.com/office/drawing/2014/main" id="{1BE16813-B223-BFA9-59FF-943AFA23E2A3}"/>
              </a:ext>
            </a:extLst>
          </p:cNvPr>
          <p:cNvPicPr>
            <a:picLocks noChangeAspect="1"/>
          </p:cNvPicPr>
          <p:nvPr/>
        </p:nvPicPr>
        <p:blipFill>
          <a:blip r:embed="rId3"/>
          <a:srcRect r="310"/>
          <a:stretch>
            <a:fillRect/>
          </a:stretch>
        </p:blipFill>
        <p:spPr>
          <a:xfrm>
            <a:off x="8753565" y="2037542"/>
            <a:ext cx="2534872" cy="1934653"/>
          </a:xfrm>
          <a:prstGeom prst="rect">
            <a:avLst/>
          </a:prstGeom>
        </p:spPr>
      </p:pic>
    </p:spTree>
    <p:extLst>
      <p:ext uri="{BB962C8B-B14F-4D97-AF65-F5344CB8AC3E}">
        <p14:creationId xmlns:p14="http://schemas.microsoft.com/office/powerpoint/2010/main" val="41875925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3FF7C-9D0B-70D0-ECB7-E533C5ECB70E}"/>
              </a:ext>
            </a:extLst>
          </p:cNvPr>
          <p:cNvSpPr>
            <a:spLocks noGrp="1"/>
          </p:cNvSpPr>
          <p:nvPr>
            <p:ph type="title"/>
          </p:nvPr>
        </p:nvSpPr>
        <p:spPr/>
        <p:txBody>
          <a:bodyPr/>
          <a:lstStyle/>
          <a:p>
            <a:r>
              <a:rPr lang="en-US"/>
              <a:t>KB Article #1 (Athziri)</a:t>
            </a:r>
          </a:p>
        </p:txBody>
      </p:sp>
      <p:sp>
        <p:nvSpPr>
          <p:cNvPr id="3" name="Content Placeholder 2">
            <a:extLst>
              <a:ext uri="{FF2B5EF4-FFF2-40B4-BE49-F238E27FC236}">
                <a16:creationId xmlns:a16="http://schemas.microsoft.com/office/drawing/2014/main" id="{A2BAAE8C-CD7F-7D3F-37F4-A6BC92195D67}"/>
              </a:ext>
            </a:extLst>
          </p:cNvPr>
          <p:cNvSpPr>
            <a:spLocks noGrp="1"/>
          </p:cNvSpPr>
          <p:nvPr>
            <p:ph idx="1"/>
          </p:nvPr>
        </p:nvSpPr>
        <p:spPr/>
        <p:txBody>
          <a:bodyPr vert="horz" lIns="91440" tIns="45720" rIns="91440" bIns="45720" rtlCol="0" anchor="t">
            <a:normAutofit fontScale="47500" lnSpcReduction="20000"/>
          </a:bodyPr>
          <a:lstStyle/>
          <a:p>
            <a:r>
              <a:rPr lang="en-US">
                <a:ea typeface="+mn-lt"/>
                <a:cs typeface="+mn-lt"/>
              </a:rPr>
              <a:t>Title: SEA: How to Connect Student with a Buddy</a:t>
            </a:r>
          </a:p>
          <a:p>
            <a:r>
              <a:rPr lang="en-US">
                <a:ea typeface="+mn-lt"/>
                <a:cs typeface="+mn-lt"/>
              </a:rPr>
              <a:t>Product: Intended </a:t>
            </a:r>
            <a:r>
              <a:rPr lang="en-US" err="1">
                <a:ea typeface="+mn-lt"/>
                <a:cs typeface="+mn-lt"/>
              </a:rPr>
              <a:t>fo</a:t>
            </a:r>
            <a:r>
              <a:rPr lang="en-US">
                <a:ea typeface="+mn-lt"/>
                <a:cs typeface="+mn-lt"/>
              </a:rPr>
              <a:t>r users who aren't as comfortable talking to staff. Allows staff to find other students/mentors to help with social engagement. Buddies will help students adjust to school life and help them get involved in events. </a:t>
            </a:r>
          </a:p>
          <a:p>
            <a:r>
              <a:rPr lang="en-US">
                <a:ea typeface="+mn-lt"/>
                <a:cs typeface="+mn-lt"/>
              </a:rPr>
              <a:t>Summary: Help staff users navigate connect system to link students together. </a:t>
            </a:r>
          </a:p>
          <a:p>
            <a:r>
              <a:rPr lang="en-US">
                <a:ea typeface="+mn-lt"/>
                <a:cs typeface="+mn-lt"/>
              </a:rPr>
              <a:t>Content: </a:t>
            </a:r>
            <a:endParaRPr lang="en-US"/>
          </a:p>
          <a:p>
            <a:pPr marL="0" indent="0">
              <a:buNone/>
            </a:pPr>
            <a:r>
              <a:rPr lang="en-US">
                <a:ea typeface="+mn-lt"/>
                <a:cs typeface="+mn-lt"/>
              </a:rPr>
              <a:t>-What is Connect?</a:t>
            </a:r>
            <a:endParaRPr lang="en-US"/>
          </a:p>
          <a:p>
            <a:pPr marL="0" indent="0">
              <a:buNone/>
            </a:pPr>
            <a:r>
              <a:rPr lang="en-US">
                <a:ea typeface="+mn-lt"/>
                <a:cs typeface="+mn-lt"/>
              </a:rPr>
              <a:t>-How is it beneficial</a:t>
            </a:r>
          </a:p>
          <a:p>
            <a:pPr marL="0" indent="0">
              <a:buNone/>
            </a:pPr>
            <a:r>
              <a:rPr lang="en-US">
                <a:ea typeface="+mn-lt"/>
                <a:cs typeface="+mn-lt"/>
              </a:rPr>
              <a:t>-Where to find it</a:t>
            </a:r>
          </a:p>
          <a:p>
            <a:pPr marL="0" indent="0">
              <a:buNone/>
            </a:pPr>
            <a:r>
              <a:rPr lang="en-US">
                <a:ea typeface="+mn-lt"/>
                <a:cs typeface="+mn-lt"/>
              </a:rPr>
              <a:t>-Guide on how to use it</a:t>
            </a:r>
          </a:p>
          <a:p>
            <a:pPr marL="0" indent="0">
              <a:buNone/>
            </a:pPr>
            <a:r>
              <a:rPr lang="en-US">
                <a:ea typeface="+mn-lt"/>
                <a:cs typeface="+mn-lt"/>
              </a:rPr>
              <a:t>-Removing or changing connect buddy</a:t>
            </a:r>
          </a:p>
          <a:p>
            <a:r>
              <a:rPr lang="en-US">
                <a:ea typeface="+mn-lt"/>
                <a:cs typeface="+mn-lt"/>
              </a:rPr>
              <a:t>Internal Secrets:  Multiple buddies should not be linked to one student</a:t>
            </a:r>
            <a:endParaRPr lang="en-US"/>
          </a:p>
          <a:p>
            <a:r>
              <a:rPr lang="en-US">
                <a:ea typeface="+mn-lt"/>
                <a:cs typeface="+mn-lt"/>
              </a:rPr>
              <a:t>Functional Use: Product Management</a:t>
            </a:r>
            <a:endParaRPr lang="en-US"/>
          </a:p>
        </p:txBody>
      </p:sp>
      <p:sp>
        <p:nvSpPr>
          <p:cNvPr id="4" name="Date Placeholder 3">
            <a:extLst>
              <a:ext uri="{FF2B5EF4-FFF2-40B4-BE49-F238E27FC236}">
                <a16:creationId xmlns:a16="http://schemas.microsoft.com/office/drawing/2014/main" id="{58F7F5B4-4975-049A-FC6D-8F1C079D7E49}"/>
              </a:ext>
            </a:extLst>
          </p:cNvPr>
          <p:cNvSpPr>
            <a:spLocks noGrp="1"/>
          </p:cNvSpPr>
          <p:nvPr>
            <p:ph type="dt" sz="half" idx="10"/>
          </p:nvPr>
        </p:nvSpPr>
        <p:spPr/>
        <p:txBody>
          <a:bodyPr/>
          <a:lstStyle/>
          <a:p>
            <a:fld id="{EB155708-6764-4079-93B5-89D075DEF503}" type="datetime1">
              <a:t>6/30/2026</a:t>
            </a:fld>
            <a:endParaRPr lang="en-US"/>
          </a:p>
        </p:txBody>
      </p:sp>
      <p:sp>
        <p:nvSpPr>
          <p:cNvPr id="5" name="Footer Placeholder 4">
            <a:extLst>
              <a:ext uri="{FF2B5EF4-FFF2-40B4-BE49-F238E27FC236}">
                <a16:creationId xmlns:a16="http://schemas.microsoft.com/office/drawing/2014/main" id="{7B2B21F9-0639-E199-1A9B-32A770247A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0D3476-0B0D-1769-DC42-BDE3DD567EFB}"/>
              </a:ext>
            </a:extLst>
          </p:cNvPr>
          <p:cNvSpPr>
            <a:spLocks noGrp="1"/>
          </p:cNvSpPr>
          <p:nvPr>
            <p:ph type="sldNum" sz="quarter" idx="12"/>
          </p:nvPr>
        </p:nvSpPr>
        <p:spPr/>
        <p:txBody>
          <a:bodyPr/>
          <a:lstStyle/>
          <a:p>
            <a:fld id="{A65A5C87-DF58-40C8-B092-1DE63DB4547E}" type="slidenum">
              <a:rPr lang="en-US" dirty="0"/>
              <a:t>7</a:t>
            </a:fld>
            <a:endParaRPr lang="en-US"/>
          </a:p>
        </p:txBody>
      </p:sp>
      <p:pic>
        <p:nvPicPr>
          <p:cNvPr id="7" name="Picture 6" descr="A screenshot of a computer&#10;&#10;AI-generated content may be incorrect.">
            <a:extLst>
              <a:ext uri="{FF2B5EF4-FFF2-40B4-BE49-F238E27FC236}">
                <a16:creationId xmlns:a16="http://schemas.microsoft.com/office/drawing/2014/main" id="{382ACAE7-A556-3191-16BA-35E5ADFA3056}"/>
              </a:ext>
            </a:extLst>
          </p:cNvPr>
          <p:cNvPicPr>
            <a:picLocks noChangeAspect="1"/>
          </p:cNvPicPr>
          <p:nvPr/>
        </p:nvPicPr>
        <p:blipFill>
          <a:blip r:embed="rId2"/>
          <a:stretch>
            <a:fillRect/>
          </a:stretch>
        </p:blipFill>
        <p:spPr>
          <a:xfrm>
            <a:off x="7394574" y="3231243"/>
            <a:ext cx="4659993" cy="3087914"/>
          </a:xfrm>
          <a:prstGeom prst="rect">
            <a:avLst/>
          </a:prstGeom>
        </p:spPr>
      </p:pic>
      <mc:AlternateContent xmlns:mc="http://schemas.openxmlformats.org/markup-compatibility/2006" xmlns:p14="http://schemas.microsoft.com/office/powerpoint/2010/main">
        <mc:Choice Requires="p14">
          <p:contentPart p14:bwMode="auto" r:id="rId3">
            <p14:nvContentPartPr>
              <p14:cNvPr id="9" name="Ink 8">
                <a:extLst>
                  <a:ext uri="{FF2B5EF4-FFF2-40B4-BE49-F238E27FC236}">
                    <a16:creationId xmlns:a16="http://schemas.microsoft.com/office/drawing/2014/main" id="{AC716A1B-83A1-5C4E-178D-864B54ED0DD3}"/>
                  </a:ext>
                </a:extLst>
              </p14:cNvPr>
              <p14:cNvContentPartPr/>
              <p14:nvPr/>
            </p14:nvContentPartPr>
            <p14:xfrm>
              <a:off x="8370308" y="5944715"/>
              <a:ext cx="900181" cy="432069"/>
            </p14:xfrm>
          </p:contentPart>
        </mc:Choice>
        <mc:Fallback xmlns="">
          <p:pic>
            <p:nvPicPr>
              <p:cNvPr id="9" name="Ink 8">
                <a:extLst>
                  <a:ext uri="{FF2B5EF4-FFF2-40B4-BE49-F238E27FC236}">
                    <a16:creationId xmlns:a16="http://schemas.microsoft.com/office/drawing/2014/main" id="{AC716A1B-83A1-5C4E-178D-864B54ED0DD3}"/>
                  </a:ext>
                </a:extLst>
              </p:cNvPr>
              <p:cNvPicPr/>
              <p:nvPr/>
            </p:nvPicPr>
            <p:blipFill>
              <a:blip r:embed="rId4"/>
              <a:stretch>
                <a:fillRect/>
              </a:stretch>
            </p:blipFill>
            <p:spPr>
              <a:xfrm>
                <a:off x="8352319" y="5926727"/>
                <a:ext cx="935800" cy="467685"/>
              </a:xfrm>
              <a:prstGeom prst="rect">
                <a:avLst/>
              </a:prstGeom>
            </p:spPr>
          </p:pic>
        </mc:Fallback>
      </mc:AlternateContent>
    </p:spTree>
    <p:extLst>
      <p:ext uri="{BB962C8B-B14F-4D97-AF65-F5344CB8AC3E}">
        <p14:creationId xmlns:p14="http://schemas.microsoft.com/office/powerpoint/2010/main" val="9595103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CC0DD-52B7-015B-E01A-3F22870B3921}"/>
              </a:ext>
            </a:extLst>
          </p:cNvPr>
          <p:cNvSpPr>
            <a:spLocks noGrp="1"/>
          </p:cNvSpPr>
          <p:nvPr>
            <p:ph type="title"/>
          </p:nvPr>
        </p:nvSpPr>
        <p:spPr/>
        <p:txBody>
          <a:bodyPr/>
          <a:lstStyle/>
          <a:p>
            <a:r>
              <a:rPr lang="en-US"/>
              <a:t>KB Article #2 (Athziri)</a:t>
            </a:r>
          </a:p>
          <a:p>
            <a:endParaRPr lang="en-US"/>
          </a:p>
        </p:txBody>
      </p:sp>
      <p:sp>
        <p:nvSpPr>
          <p:cNvPr id="3" name="Content Placeholder 2">
            <a:extLst>
              <a:ext uri="{FF2B5EF4-FFF2-40B4-BE49-F238E27FC236}">
                <a16:creationId xmlns:a16="http://schemas.microsoft.com/office/drawing/2014/main" id="{09F55FEC-802E-231A-57E3-495669CE8796}"/>
              </a:ext>
            </a:extLst>
          </p:cNvPr>
          <p:cNvSpPr>
            <a:spLocks noGrp="1"/>
          </p:cNvSpPr>
          <p:nvPr>
            <p:ph idx="1"/>
          </p:nvPr>
        </p:nvSpPr>
        <p:spPr/>
        <p:txBody>
          <a:bodyPr vert="horz" lIns="91440" tIns="45720" rIns="91440" bIns="45720" rtlCol="0" anchor="t">
            <a:normAutofit fontScale="47500" lnSpcReduction="20000"/>
          </a:bodyPr>
          <a:lstStyle/>
          <a:p>
            <a:r>
              <a:rPr lang="en-US"/>
              <a:t>Title: SEA: </a:t>
            </a:r>
            <a:r>
              <a:rPr lang="en-US">
                <a:ea typeface="+mn-lt"/>
                <a:cs typeface="+mn-lt"/>
              </a:rPr>
              <a:t>Data Privacy and Security</a:t>
            </a:r>
            <a:endParaRPr lang="en-US"/>
          </a:p>
          <a:p>
            <a:r>
              <a:rPr lang="en-US"/>
              <a:t>Product: Account Settings which includes 2 step verification, password change, and ways to limit specific data view(</a:t>
            </a:r>
            <a:r>
              <a:rPr lang="en-US" err="1"/>
              <a:t>Privating</a:t>
            </a:r>
            <a:r>
              <a:rPr lang="en-US"/>
              <a:t> so only limited staff can see data)</a:t>
            </a:r>
          </a:p>
          <a:p>
            <a:r>
              <a:rPr lang="en-US"/>
              <a:t>Summary: Protect student data such as personal information and school stats</a:t>
            </a:r>
          </a:p>
          <a:p>
            <a:r>
              <a:rPr lang="en-US"/>
              <a:t>Content: </a:t>
            </a:r>
          </a:p>
          <a:p>
            <a:pPr marL="0" indent="0">
              <a:buNone/>
            </a:pPr>
            <a:r>
              <a:rPr lang="en-US"/>
              <a:t>-Why it's important</a:t>
            </a:r>
          </a:p>
          <a:p>
            <a:pPr marL="0" indent="0">
              <a:buNone/>
            </a:pPr>
            <a:r>
              <a:rPr lang="en-US"/>
              <a:t>-Limiting access</a:t>
            </a:r>
          </a:p>
          <a:p>
            <a:pPr marL="0" indent="0">
              <a:buNone/>
            </a:pPr>
            <a:r>
              <a:rPr lang="en-US"/>
              <a:t>-What to do if you lose access to your account</a:t>
            </a:r>
          </a:p>
          <a:p>
            <a:pPr marL="0" indent="0">
              <a:buNone/>
            </a:pPr>
            <a:r>
              <a:rPr lang="en-US"/>
              <a:t>-How to set up lock system(if something happens, you can lock account from another device/account)</a:t>
            </a:r>
          </a:p>
          <a:p>
            <a:pPr marL="0" indent="0">
              <a:buNone/>
            </a:pPr>
            <a:r>
              <a:rPr lang="en-US"/>
              <a:t>-Guide on how to change password</a:t>
            </a:r>
          </a:p>
          <a:p>
            <a:r>
              <a:rPr lang="en-US"/>
              <a:t>Internal Secrets:  10 Second cooldown on changing password and should be changed every 2 months. </a:t>
            </a:r>
          </a:p>
          <a:p>
            <a:r>
              <a:rPr lang="en-US"/>
              <a:t>Functional Use: Support, IT</a:t>
            </a:r>
          </a:p>
          <a:p>
            <a:endParaRPr lang="en-US"/>
          </a:p>
        </p:txBody>
      </p:sp>
      <p:sp>
        <p:nvSpPr>
          <p:cNvPr id="4" name="Date Placeholder 3">
            <a:extLst>
              <a:ext uri="{FF2B5EF4-FFF2-40B4-BE49-F238E27FC236}">
                <a16:creationId xmlns:a16="http://schemas.microsoft.com/office/drawing/2014/main" id="{09DAD05F-8500-2416-1981-D404C6209413}"/>
              </a:ext>
            </a:extLst>
          </p:cNvPr>
          <p:cNvSpPr>
            <a:spLocks noGrp="1"/>
          </p:cNvSpPr>
          <p:nvPr>
            <p:ph type="dt" sz="half" idx="10"/>
          </p:nvPr>
        </p:nvSpPr>
        <p:spPr/>
        <p:txBody>
          <a:bodyPr/>
          <a:lstStyle/>
          <a:p>
            <a:fld id="{99C44BD4-DA4A-4826-B1D5-D392DC9413C2}" type="datetime1">
              <a:t>6/30/2026</a:t>
            </a:fld>
            <a:endParaRPr lang="en-US"/>
          </a:p>
        </p:txBody>
      </p:sp>
      <p:sp>
        <p:nvSpPr>
          <p:cNvPr id="5" name="Footer Placeholder 4">
            <a:extLst>
              <a:ext uri="{FF2B5EF4-FFF2-40B4-BE49-F238E27FC236}">
                <a16:creationId xmlns:a16="http://schemas.microsoft.com/office/drawing/2014/main" id="{6AC12C3D-FBF2-DE23-3052-79C511BF5D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E38450-1208-45B5-6DD5-708C1B20D345}"/>
              </a:ext>
            </a:extLst>
          </p:cNvPr>
          <p:cNvSpPr>
            <a:spLocks noGrp="1"/>
          </p:cNvSpPr>
          <p:nvPr>
            <p:ph type="sldNum" sz="quarter" idx="12"/>
          </p:nvPr>
        </p:nvSpPr>
        <p:spPr/>
        <p:txBody>
          <a:bodyPr/>
          <a:lstStyle/>
          <a:p>
            <a:fld id="{A65A5C87-DF58-40C8-B092-1DE63DB4547E}" type="slidenum">
              <a:rPr lang="en-US" dirty="0"/>
              <a:t>8</a:t>
            </a:fld>
            <a:endParaRPr lang="en-US"/>
          </a:p>
        </p:txBody>
      </p:sp>
    </p:spTree>
    <p:extLst>
      <p:ext uri="{BB962C8B-B14F-4D97-AF65-F5344CB8AC3E}">
        <p14:creationId xmlns:p14="http://schemas.microsoft.com/office/powerpoint/2010/main" val="11933502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E48C2-8040-3762-ADA5-7E9539E07B75}"/>
              </a:ext>
            </a:extLst>
          </p:cNvPr>
          <p:cNvSpPr>
            <a:spLocks noGrp="1"/>
          </p:cNvSpPr>
          <p:nvPr>
            <p:ph type="title"/>
          </p:nvPr>
        </p:nvSpPr>
        <p:spPr/>
        <p:txBody>
          <a:bodyPr/>
          <a:lstStyle/>
          <a:p>
            <a:r>
              <a:rPr lang="en-US"/>
              <a:t>KB Article #3 (Athziri)</a:t>
            </a:r>
          </a:p>
          <a:p>
            <a:endParaRPr lang="en-US"/>
          </a:p>
        </p:txBody>
      </p:sp>
      <p:sp>
        <p:nvSpPr>
          <p:cNvPr id="3" name="Content Placeholder 2">
            <a:extLst>
              <a:ext uri="{FF2B5EF4-FFF2-40B4-BE49-F238E27FC236}">
                <a16:creationId xmlns:a16="http://schemas.microsoft.com/office/drawing/2014/main" id="{E668A413-63BB-40ED-571B-2DF94EAE2DF3}"/>
              </a:ext>
            </a:extLst>
          </p:cNvPr>
          <p:cNvSpPr>
            <a:spLocks noGrp="1"/>
          </p:cNvSpPr>
          <p:nvPr>
            <p:ph idx="1"/>
          </p:nvPr>
        </p:nvSpPr>
        <p:spPr/>
        <p:txBody>
          <a:bodyPr vert="horz" lIns="91440" tIns="45720" rIns="91440" bIns="45720" rtlCol="0" anchor="t">
            <a:normAutofit fontScale="47500" lnSpcReduction="20000"/>
          </a:bodyPr>
          <a:lstStyle/>
          <a:p>
            <a:r>
              <a:rPr lang="en-US"/>
              <a:t>Title: SEA: How to Update At-Risk Students</a:t>
            </a:r>
          </a:p>
          <a:p>
            <a:r>
              <a:rPr lang="en-US"/>
              <a:t>Product: At-Risk tab allows staff to view which students aren't involved in many events/activities/clubs. It shares what the students are involved in and feedback they have. The purpose it to find the patterns to see the reason there isn't engagement and guide student for higher engagement results. </a:t>
            </a:r>
          </a:p>
          <a:p>
            <a:r>
              <a:rPr lang="en-US"/>
              <a:t>Summary: Update student involvement to identify </a:t>
            </a:r>
            <a:r>
              <a:rPr lang="en-US" err="1"/>
              <a:t>i</a:t>
            </a:r>
            <a:r>
              <a:rPr lang="en-US"/>
              <a:t>f they are still considered At-Risk</a:t>
            </a:r>
          </a:p>
          <a:p>
            <a:r>
              <a:rPr lang="en-US"/>
              <a:t>Content: </a:t>
            </a:r>
          </a:p>
          <a:p>
            <a:pPr marL="0" indent="0">
              <a:buNone/>
            </a:pPr>
            <a:r>
              <a:rPr lang="en-US"/>
              <a:t>-How to navigate tab</a:t>
            </a:r>
          </a:p>
          <a:p>
            <a:pPr marL="0" indent="0">
              <a:buNone/>
            </a:pPr>
            <a:r>
              <a:rPr lang="en-US"/>
              <a:t>-What is considered At-Risk</a:t>
            </a:r>
          </a:p>
          <a:p>
            <a:pPr marL="0" indent="0">
              <a:buNone/>
            </a:pPr>
            <a:r>
              <a:rPr lang="en-US"/>
              <a:t>-Ways to rise engagement </a:t>
            </a:r>
          </a:p>
          <a:p>
            <a:pPr marL="0" indent="0">
              <a:buNone/>
            </a:pPr>
            <a:r>
              <a:rPr lang="en-US"/>
              <a:t>-How to change student status </a:t>
            </a:r>
          </a:p>
          <a:p>
            <a:r>
              <a:rPr lang="en-US"/>
              <a:t>Internal Secrets:  Requirements must be met to flag student(specific amount of events or clubs)</a:t>
            </a:r>
          </a:p>
          <a:p>
            <a:r>
              <a:rPr lang="en-US"/>
              <a:t>Functional Use: IT, Product Management</a:t>
            </a:r>
          </a:p>
          <a:p>
            <a:endParaRPr lang="en-US"/>
          </a:p>
        </p:txBody>
      </p:sp>
      <p:sp>
        <p:nvSpPr>
          <p:cNvPr id="4" name="Date Placeholder 3">
            <a:extLst>
              <a:ext uri="{FF2B5EF4-FFF2-40B4-BE49-F238E27FC236}">
                <a16:creationId xmlns:a16="http://schemas.microsoft.com/office/drawing/2014/main" id="{23D69AED-E3E4-A4EC-8A4F-24772266060E}"/>
              </a:ext>
            </a:extLst>
          </p:cNvPr>
          <p:cNvSpPr>
            <a:spLocks noGrp="1"/>
          </p:cNvSpPr>
          <p:nvPr>
            <p:ph type="dt" sz="half" idx="10"/>
          </p:nvPr>
        </p:nvSpPr>
        <p:spPr/>
        <p:txBody>
          <a:bodyPr/>
          <a:lstStyle/>
          <a:p>
            <a:fld id="{831A0B76-26D9-4062-9094-4120D71E46E6}" type="datetime1">
              <a:t>6/30/2026</a:t>
            </a:fld>
            <a:endParaRPr lang="en-US"/>
          </a:p>
        </p:txBody>
      </p:sp>
      <p:sp>
        <p:nvSpPr>
          <p:cNvPr id="5" name="Footer Placeholder 4">
            <a:extLst>
              <a:ext uri="{FF2B5EF4-FFF2-40B4-BE49-F238E27FC236}">
                <a16:creationId xmlns:a16="http://schemas.microsoft.com/office/drawing/2014/main" id="{8863DC3E-F4B0-9540-0916-B7D355501E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A3FC1A-C6E1-F273-A81B-A082FB3E0E46}"/>
              </a:ext>
            </a:extLst>
          </p:cNvPr>
          <p:cNvSpPr>
            <a:spLocks noGrp="1"/>
          </p:cNvSpPr>
          <p:nvPr>
            <p:ph type="sldNum" sz="quarter" idx="12"/>
          </p:nvPr>
        </p:nvSpPr>
        <p:spPr/>
        <p:txBody>
          <a:bodyPr/>
          <a:lstStyle/>
          <a:p>
            <a:fld id="{A65A5C87-DF58-40C8-B092-1DE63DB4547E}" type="slidenum">
              <a:rPr lang="en-US" dirty="0"/>
              <a:t>9</a:t>
            </a:fld>
            <a:endParaRPr lang="en-US"/>
          </a:p>
        </p:txBody>
      </p:sp>
      <p:pic>
        <p:nvPicPr>
          <p:cNvPr id="7" name="Picture 6" descr="A screenshot of a computer&#10;&#10;AI-generated content may be incorrect.">
            <a:extLst>
              <a:ext uri="{FF2B5EF4-FFF2-40B4-BE49-F238E27FC236}">
                <a16:creationId xmlns:a16="http://schemas.microsoft.com/office/drawing/2014/main" id="{059FEED0-62F1-A92E-9CCF-DE49CD0362E9}"/>
              </a:ext>
            </a:extLst>
          </p:cNvPr>
          <p:cNvPicPr>
            <a:picLocks noChangeAspect="1"/>
          </p:cNvPicPr>
          <p:nvPr/>
        </p:nvPicPr>
        <p:blipFill>
          <a:blip r:embed="rId2"/>
          <a:stretch>
            <a:fillRect/>
          </a:stretch>
        </p:blipFill>
        <p:spPr>
          <a:xfrm>
            <a:off x="6284684" y="100400"/>
            <a:ext cx="5573487" cy="2702056"/>
          </a:xfrm>
          <a:prstGeom prst="rect">
            <a:avLst/>
          </a:prstGeom>
        </p:spPr>
      </p:pic>
    </p:spTree>
    <p:extLst>
      <p:ext uri="{BB962C8B-B14F-4D97-AF65-F5344CB8AC3E}">
        <p14:creationId xmlns:p14="http://schemas.microsoft.com/office/powerpoint/2010/main" val="16645205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2064" y="786384"/>
            <a:ext cx="118872" cy="713232"/>
          </a:xfrm>
          <a:prstGeom prst="rect">
            <a:avLst/>
          </a:prstGeom>
          <a:solidFill>
            <a:srgbClr val="F5A300"/>
          </a:solidFill>
          <a:ln>
            <a:solidFill>
              <a:srgbClr val="F5A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05840" y="713232"/>
            <a:ext cx="6949440" cy="438912"/>
          </a:xfrm>
          <a:prstGeom prst="rect">
            <a:avLst/>
          </a:prstGeom>
          <a:noFill/>
        </p:spPr>
        <p:txBody>
          <a:bodyPr wrap="none" lIns="0" tIns="0" rIns="0" bIns="0">
            <a:spAutoFit/>
          </a:bodyPr>
          <a:lstStyle/>
          <a:p>
            <a:r>
              <a:rPr sz="2900" b="1">
                <a:solidFill>
                  <a:srgbClr val="232323"/>
                </a:solidFill>
                <a:latin typeface="Aptos"/>
              </a:rPr>
              <a:t>KB Article #1 (Jeremy)</a:t>
            </a:r>
          </a:p>
        </p:txBody>
      </p:sp>
      <p:sp>
        <p:nvSpPr>
          <p:cNvPr id="4" name="TextBox 3"/>
          <p:cNvSpPr txBox="1"/>
          <p:nvPr/>
        </p:nvSpPr>
        <p:spPr>
          <a:xfrm>
            <a:off x="1005840" y="1197864"/>
            <a:ext cx="4312334" cy="261610"/>
          </a:xfrm>
          <a:prstGeom prst="rect">
            <a:avLst/>
          </a:prstGeom>
          <a:noFill/>
        </p:spPr>
        <p:txBody>
          <a:bodyPr wrap="none" lIns="0" tIns="0" rIns="0" bIns="0" anchor="t">
            <a:spAutoFit/>
          </a:bodyPr>
          <a:lstStyle/>
          <a:p>
            <a:r>
              <a:rPr sz="1700" b="0">
                <a:solidFill>
                  <a:srgbClr val="2D5889"/>
                </a:solidFill>
                <a:latin typeface="Aptos"/>
              </a:rPr>
              <a:t>Accelerator: Social Engagement Accelerator </a:t>
            </a:r>
          </a:p>
        </p:txBody>
      </p:sp>
      <p:sp>
        <p:nvSpPr>
          <p:cNvPr id="5" name="TextBox 4"/>
          <p:cNvSpPr txBox="1"/>
          <p:nvPr/>
        </p:nvSpPr>
        <p:spPr>
          <a:xfrm>
            <a:off x="1005840" y="1847088"/>
            <a:ext cx="10149840" cy="438912"/>
          </a:xfrm>
          <a:prstGeom prst="rect">
            <a:avLst/>
          </a:prstGeom>
          <a:noFill/>
        </p:spPr>
        <p:txBody>
          <a:bodyPr wrap="none" lIns="0" tIns="0" rIns="0" bIns="0">
            <a:spAutoFit/>
          </a:bodyPr>
          <a:lstStyle/>
          <a:p>
            <a:r>
              <a:rPr sz="2400" b="1">
                <a:solidFill>
                  <a:srgbClr val="232323"/>
                </a:solidFill>
                <a:latin typeface="Aptos"/>
              </a:rPr>
              <a:t>SEA: Student Engagement Profile Overview</a:t>
            </a:r>
          </a:p>
        </p:txBody>
      </p:sp>
      <p:sp>
        <p:nvSpPr>
          <p:cNvPr id="6" name="TextBox 5"/>
          <p:cNvSpPr txBox="1"/>
          <p:nvPr/>
        </p:nvSpPr>
        <p:spPr>
          <a:xfrm>
            <a:off x="1005840" y="2487168"/>
            <a:ext cx="10058400" cy="237744"/>
          </a:xfrm>
          <a:prstGeom prst="rect">
            <a:avLst/>
          </a:prstGeom>
          <a:noFill/>
        </p:spPr>
        <p:txBody>
          <a:bodyPr wrap="none" lIns="0" tIns="0" rIns="0" bIns="0">
            <a:spAutoFit/>
          </a:bodyPr>
          <a:lstStyle/>
          <a:p>
            <a:r>
              <a:rPr sz="1400" b="1">
                <a:solidFill>
                  <a:srgbClr val="2D5889"/>
                </a:solidFill>
                <a:latin typeface="Aptos"/>
              </a:rPr>
              <a:t>Summary</a:t>
            </a:r>
          </a:p>
        </p:txBody>
      </p:sp>
      <p:sp>
        <p:nvSpPr>
          <p:cNvPr id="7" name="TextBox 6"/>
          <p:cNvSpPr txBox="1"/>
          <p:nvPr/>
        </p:nvSpPr>
        <p:spPr>
          <a:xfrm>
            <a:off x="1005840" y="2752344"/>
            <a:ext cx="10058400" cy="438912"/>
          </a:xfrm>
          <a:prstGeom prst="rect">
            <a:avLst/>
          </a:prstGeom>
          <a:noFill/>
        </p:spPr>
        <p:txBody>
          <a:bodyPr wrap="square" lIns="0" tIns="0" rIns="0" bIns="0">
            <a:spAutoFit/>
          </a:bodyPr>
          <a:lstStyle/>
          <a:p>
            <a:r>
              <a:rPr sz="1450" b="0">
                <a:solidFill>
                  <a:srgbClr val="232323"/>
                </a:solidFill>
                <a:latin typeface="Aptos"/>
              </a:rPr>
              <a:t>Explains what a student profile shows and how staff can use it to understand a student’s campus involvement.</a:t>
            </a:r>
          </a:p>
        </p:txBody>
      </p:sp>
      <p:sp>
        <p:nvSpPr>
          <p:cNvPr id="8" name="TextBox 7"/>
          <p:cNvSpPr txBox="1"/>
          <p:nvPr/>
        </p:nvSpPr>
        <p:spPr>
          <a:xfrm>
            <a:off x="1005840" y="3291840"/>
            <a:ext cx="4937760" cy="237744"/>
          </a:xfrm>
          <a:prstGeom prst="rect">
            <a:avLst/>
          </a:prstGeom>
          <a:noFill/>
        </p:spPr>
        <p:txBody>
          <a:bodyPr wrap="none" lIns="0" tIns="0" rIns="0" bIns="0">
            <a:spAutoFit/>
          </a:bodyPr>
          <a:lstStyle/>
          <a:p>
            <a:r>
              <a:rPr sz="1400" b="1">
                <a:solidFill>
                  <a:srgbClr val="2D5889"/>
                </a:solidFill>
                <a:latin typeface="Aptos"/>
              </a:rPr>
              <a:t>What the content is</a:t>
            </a:r>
          </a:p>
        </p:txBody>
      </p:sp>
      <p:sp>
        <p:nvSpPr>
          <p:cNvPr id="9" name="TextBox 8"/>
          <p:cNvSpPr txBox="1"/>
          <p:nvPr/>
        </p:nvSpPr>
        <p:spPr>
          <a:xfrm>
            <a:off x="1005840" y="3602736"/>
            <a:ext cx="5212080" cy="1463040"/>
          </a:xfrm>
          <a:prstGeom prst="rect">
            <a:avLst/>
          </a:prstGeom>
          <a:noFill/>
        </p:spPr>
        <p:txBody>
          <a:bodyPr wrap="square" lIns="0" tIns="0" rIns="0" bIns="0">
            <a:spAutoFit/>
          </a:bodyPr>
          <a:lstStyle/>
          <a:p>
            <a:pPr>
              <a:spcAft>
                <a:spcPts val="500"/>
              </a:spcAft>
              <a:defRPr sz="1330">
                <a:solidFill>
                  <a:srgbClr val="232323"/>
                </a:solidFill>
                <a:latin typeface="Aptos"/>
              </a:defRPr>
            </a:pPr>
            <a:r>
              <a:t>Shows engagement score, activity history, notes, and risk status.</a:t>
            </a:r>
          </a:p>
          <a:p>
            <a:pPr>
              <a:spcAft>
                <a:spcPts val="500"/>
              </a:spcAft>
              <a:defRPr sz="1330">
                <a:solidFill>
                  <a:srgbClr val="232323"/>
                </a:solidFill>
                <a:latin typeface="Aptos"/>
              </a:defRPr>
            </a:pPr>
            <a:r>
              <a:t>Connects data from events, clubs, housing, dining, and other campus activity.</a:t>
            </a:r>
          </a:p>
          <a:p>
            <a:pPr>
              <a:spcAft>
                <a:spcPts val="500"/>
              </a:spcAft>
              <a:defRPr sz="1330">
                <a:solidFill>
                  <a:srgbClr val="232323"/>
                </a:solidFill>
                <a:latin typeface="Aptos"/>
              </a:defRPr>
            </a:pPr>
            <a:r>
              <a:t>Gives staff a quick view before deciding what support is needed.</a:t>
            </a:r>
          </a:p>
        </p:txBody>
      </p:sp>
      <p:sp>
        <p:nvSpPr>
          <p:cNvPr id="10" name="TextBox 9"/>
          <p:cNvSpPr txBox="1"/>
          <p:nvPr/>
        </p:nvSpPr>
        <p:spPr>
          <a:xfrm>
            <a:off x="6565392" y="3291840"/>
            <a:ext cx="4480560" cy="237744"/>
          </a:xfrm>
          <a:prstGeom prst="rect">
            <a:avLst/>
          </a:prstGeom>
          <a:noFill/>
        </p:spPr>
        <p:txBody>
          <a:bodyPr wrap="none" lIns="0" tIns="0" rIns="0" bIns="0">
            <a:spAutoFit/>
          </a:bodyPr>
          <a:lstStyle/>
          <a:p>
            <a:r>
              <a:rPr sz="1400" b="1">
                <a:solidFill>
                  <a:srgbClr val="2D5889"/>
                </a:solidFill>
                <a:latin typeface="Aptos"/>
              </a:rPr>
              <a:t>What it is meant for</a:t>
            </a:r>
          </a:p>
        </p:txBody>
      </p:sp>
      <p:sp>
        <p:nvSpPr>
          <p:cNvPr id="11" name="TextBox 10"/>
          <p:cNvSpPr txBox="1"/>
          <p:nvPr/>
        </p:nvSpPr>
        <p:spPr>
          <a:xfrm>
            <a:off x="6565392" y="3557016"/>
            <a:ext cx="4480560" cy="438912"/>
          </a:xfrm>
          <a:prstGeom prst="rect">
            <a:avLst/>
          </a:prstGeom>
          <a:noFill/>
        </p:spPr>
        <p:txBody>
          <a:bodyPr wrap="square" lIns="0" tIns="0" rIns="0" bIns="0">
            <a:spAutoFit/>
          </a:bodyPr>
          <a:lstStyle/>
          <a:p>
            <a:r>
              <a:rPr sz="1400" b="0">
                <a:solidFill>
                  <a:srgbClr val="232323"/>
                </a:solidFill>
                <a:latin typeface="Aptos"/>
              </a:rPr>
              <a:t>Staff who need a simple view of a student’s engagement before contacting them or referring them to another department.</a:t>
            </a:r>
          </a:p>
        </p:txBody>
      </p:sp>
      <p:sp>
        <p:nvSpPr>
          <p:cNvPr id="12" name="TextBox 11"/>
          <p:cNvSpPr txBox="1"/>
          <p:nvPr/>
        </p:nvSpPr>
        <p:spPr>
          <a:xfrm>
            <a:off x="6565392" y="4315968"/>
            <a:ext cx="4480560" cy="237744"/>
          </a:xfrm>
          <a:prstGeom prst="rect">
            <a:avLst/>
          </a:prstGeom>
          <a:noFill/>
        </p:spPr>
        <p:txBody>
          <a:bodyPr wrap="none" lIns="0" tIns="0" rIns="0" bIns="0">
            <a:spAutoFit/>
          </a:bodyPr>
          <a:lstStyle/>
          <a:p>
            <a:r>
              <a:rPr sz="1400" b="1">
                <a:solidFill>
                  <a:srgbClr val="2D5889"/>
                </a:solidFill>
                <a:latin typeface="Aptos"/>
              </a:rPr>
              <a:t>Why this KB is needed</a:t>
            </a:r>
          </a:p>
        </p:txBody>
      </p:sp>
      <p:sp>
        <p:nvSpPr>
          <p:cNvPr id="13" name="TextBox 12"/>
          <p:cNvSpPr txBox="1"/>
          <p:nvPr/>
        </p:nvSpPr>
        <p:spPr>
          <a:xfrm>
            <a:off x="6565392" y="4581144"/>
            <a:ext cx="4480560" cy="438912"/>
          </a:xfrm>
          <a:prstGeom prst="rect">
            <a:avLst/>
          </a:prstGeom>
          <a:noFill/>
        </p:spPr>
        <p:txBody>
          <a:bodyPr wrap="square" lIns="0" tIns="0" rIns="0" bIns="0">
            <a:spAutoFit/>
          </a:bodyPr>
          <a:lstStyle/>
          <a:p>
            <a:r>
              <a:rPr sz="1400" b="0">
                <a:solidFill>
                  <a:srgbClr val="232323"/>
                </a:solidFill>
                <a:latin typeface="Aptos"/>
              </a:rPr>
              <a:t>Without a clear profile overview, staff may miss important context or repeat work another team already completed.</a:t>
            </a:r>
          </a:p>
        </p:txBody>
      </p:sp>
      <p:sp>
        <p:nvSpPr>
          <p:cNvPr id="16" name="TextBox 15"/>
          <p:cNvSpPr txBox="1"/>
          <p:nvPr/>
        </p:nvSpPr>
        <p:spPr>
          <a:xfrm>
            <a:off x="1005840" y="6236208"/>
            <a:ext cx="9966960" cy="274320"/>
          </a:xfrm>
          <a:prstGeom prst="rect">
            <a:avLst/>
          </a:prstGeom>
          <a:noFill/>
        </p:spPr>
        <p:txBody>
          <a:bodyPr wrap="none" lIns="0" tIns="0" rIns="0" bIns="0">
            <a:spAutoFit/>
          </a:bodyPr>
          <a:lstStyle/>
          <a:p>
            <a:r>
              <a:rPr sz="1350" b="1">
                <a:solidFill>
                  <a:srgbClr val="232323"/>
                </a:solidFill>
                <a:latin typeface="Aptos"/>
              </a:rPr>
              <a:t>Functional Use: Support, Student Affairs, Advisors, Customer Success</a:t>
            </a:r>
          </a:p>
        </p:txBody>
      </p:sp>
      <p:sp>
        <p:nvSpPr>
          <p:cNvPr id="17" name="TextBox 16"/>
          <p:cNvSpPr txBox="1"/>
          <p:nvPr/>
        </p:nvSpPr>
        <p:spPr>
          <a:xfrm>
            <a:off x="1188720" y="6492240"/>
            <a:ext cx="1188720" cy="201168"/>
          </a:xfrm>
          <a:prstGeom prst="rect">
            <a:avLst/>
          </a:prstGeom>
          <a:noFill/>
        </p:spPr>
        <p:txBody>
          <a:bodyPr wrap="none" lIns="0" tIns="0" rIns="0" bIns="0">
            <a:spAutoFit/>
          </a:bodyPr>
          <a:lstStyle/>
          <a:p>
            <a:r>
              <a:rPr sz="1050" b="0">
                <a:solidFill>
                  <a:srgbClr val="8C8C8C"/>
                </a:solidFill>
                <a:latin typeface="Aptos"/>
              </a:rPr>
              <a:t>06/30/2026</a:t>
            </a:r>
          </a:p>
        </p:txBody>
      </p:sp>
      <p:sp>
        <p:nvSpPr>
          <p:cNvPr id="18" name="TextBox 17"/>
          <p:cNvSpPr txBox="1"/>
          <p:nvPr/>
        </p:nvSpPr>
        <p:spPr>
          <a:xfrm>
            <a:off x="11082528" y="6492240"/>
            <a:ext cx="320040" cy="201168"/>
          </a:xfrm>
          <a:prstGeom prst="rect">
            <a:avLst/>
          </a:prstGeom>
          <a:noFill/>
        </p:spPr>
        <p:txBody>
          <a:bodyPr wrap="none" lIns="0" tIns="0" rIns="0" bIns="0">
            <a:spAutoFit/>
          </a:bodyPr>
          <a:lstStyle/>
          <a:p>
            <a:pPr algn="r"/>
            <a:r>
              <a:rPr sz="1050" b="0">
                <a:solidFill>
                  <a:srgbClr val="8C8C8C"/>
                </a:solidFill>
                <a:latin typeface="Aptos"/>
              </a:rPr>
              <a:t>10</a:t>
            </a:r>
          </a:p>
        </p:txBody>
      </p:sp>
    </p:spTree>
    <p:extLst>
      <p:ext uri="{BB962C8B-B14F-4D97-AF65-F5344CB8AC3E}">
        <p14:creationId xmlns:p14="http://schemas.microsoft.com/office/powerpoint/2010/main" val="2953382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2064" y="786384"/>
            <a:ext cx="118872" cy="713232"/>
          </a:xfrm>
          <a:prstGeom prst="rect">
            <a:avLst/>
          </a:prstGeom>
          <a:solidFill>
            <a:srgbClr val="F5A300"/>
          </a:solidFill>
          <a:ln>
            <a:solidFill>
              <a:srgbClr val="F5A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05840" y="713232"/>
            <a:ext cx="6949440" cy="438912"/>
          </a:xfrm>
          <a:prstGeom prst="rect">
            <a:avLst/>
          </a:prstGeom>
          <a:noFill/>
        </p:spPr>
        <p:txBody>
          <a:bodyPr wrap="none" lIns="0" tIns="0" rIns="0" bIns="0">
            <a:spAutoFit/>
          </a:bodyPr>
          <a:lstStyle/>
          <a:p>
            <a:r>
              <a:rPr sz="2900" b="1">
                <a:solidFill>
                  <a:srgbClr val="232323"/>
                </a:solidFill>
                <a:latin typeface="Aptos"/>
              </a:rPr>
              <a:t>KB Article #2 (Jeremy)</a:t>
            </a:r>
          </a:p>
        </p:txBody>
      </p:sp>
      <p:sp>
        <p:nvSpPr>
          <p:cNvPr id="4" name="TextBox 3"/>
          <p:cNvSpPr txBox="1"/>
          <p:nvPr/>
        </p:nvSpPr>
        <p:spPr>
          <a:xfrm>
            <a:off x="838926" y="1183350"/>
            <a:ext cx="4163256" cy="261610"/>
          </a:xfrm>
          <a:prstGeom prst="rect">
            <a:avLst/>
          </a:prstGeom>
          <a:noFill/>
        </p:spPr>
        <p:txBody>
          <a:bodyPr wrap="none" lIns="0" tIns="0" rIns="0" bIns="0" anchor="t">
            <a:spAutoFit/>
          </a:bodyPr>
          <a:lstStyle/>
          <a:p>
            <a:r>
              <a:rPr sz="1700" b="0">
                <a:solidFill>
                  <a:srgbClr val="2D5889"/>
                </a:solidFill>
                <a:latin typeface="Aptos"/>
              </a:rPr>
              <a:t>Accelerator: Social Engagement Accelerator</a:t>
            </a:r>
          </a:p>
        </p:txBody>
      </p:sp>
      <p:sp>
        <p:nvSpPr>
          <p:cNvPr id="5" name="TextBox 4"/>
          <p:cNvSpPr txBox="1"/>
          <p:nvPr/>
        </p:nvSpPr>
        <p:spPr>
          <a:xfrm>
            <a:off x="1005840" y="1847088"/>
            <a:ext cx="10149840" cy="438912"/>
          </a:xfrm>
          <a:prstGeom prst="rect">
            <a:avLst/>
          </a:prstGeom>
          <a:noFill/>
        </p:spPr>
        <p:txBody>
          <a:bodyPr wrap="none" lIns="0" tIns="0" rIns="0" bIns="0">
            <a:spAutoFit/>
          </a:bodyPr>
          <a:lstStyle/>
          <a:p>
            <a:r>
              <a:rPr sz="2400" b="1">
                <a:solidFill>
                  <a:srgbClr val="232323"/>
                </a:solidFill>
                <a:latin typeface="Aptos"/>
              </a:rPr>
              <a:t>SEA: Understanding Low Engagement and At-Risk Students</a:t>
            </a:r>
          </a:p>
        </p:txBody>
      </p:sp>
      <p:sp>
        <p:nvSpPr>
          <p:cNvPr id="6" name="TextBox 5"/>
          <p:cNvSpPr txBox="1"/>
          <p:nvPr/>
        </p:nvSpPr>
        <p:spPr>
          <a:xfrm>
            <a:off x="1005840" y="2487168"/>
            <a:ext cx="10058400" cy="237744"/>
          </a:xfrm>
          <a:prstGeom prst="rect">
            <a:avLst/>
          </a:prstGeom>
          <a:noFill/>
        </p:spPr>
        <p:txBody>
          <a:bodyPr wrap="none" lIns="0" tIns="0" rIns="0" bIns="0">
            <a:spAutoFit/>
          </a:bodyPr>
          <a:lstStyle/>
          <a:p>
            <a:r>
              <a:rPr sz="1400" b="1">
                <a:solidFill>
                  <a:srgbClr val="2D5889"/>
                </a:solidFill>
                <a:latin typeface="Aptos"/>
              </a:rPr>
              <a:t>Summary</a:t>
            </a:r>
          </a:p>
        </p:txBody>
      </p:sp>
      <p:sp>
        <p:nvSpPr>
          <p:cNvPr id="7" name="TextBox 6"/>
          <p:cNvSpPr txBox="1"/>
          <p:nvPr/>
        </p:nvSpPr>
        <p:spPr>
          <a:xfrm>
            <a:off x="1005840" y="2752344"/>
            <a:ext cx="10058400" cy="438912"/>
          </a:xfrm>
          <a:prstGeom prst="rect">
            <a:avLst/>
          </a:prstGeom>
          <a:noFill/>
        </p:spPr>
        <p:txBody>
          <a:bodyPr wrap="square" lIns="0" tIns="0" rIns="0" bIns="0">
            <a:spAutoFit/>
          </a:bodyPr>
          <a:lstStyle/>
          <a:p>
            <a:r>
              <a:rPr sz="1450" b="0">
                <a:solidFill>
                  <a:srgbClr val="232323"/>
                </a:solidFill>
                <a:latin typeface="Aptos"/>
              </a:rPr>
              <a:t>Defines what low engagement means in SEA and explains how the At-Risk Students list should be used by campus staff.</a:t>
            </a:r>
          </a:p>
        </p:txBody>
      </p:sp>
      <p:sp>
        <p:nvSpPr>
          <p:cNvPr id="8" name="TextBox 7"/>
          <p:cNvSpPr txBox="1"/>
          <p:nvPr/>
        </p:nvSpPr>
        <p:spPr>
          <a:xfrm>
            <a:off x="1005840" y="3291840"/>
            <a:ext cx="4937760" cy="237744"/>
          </a:xfrm>
          <a:prstGeom prst="rect">
            <a:avLst/>
          </a:prstGeom>
          <a:noFill/>
        </p:spPr>
        <p:txBody>
          <a:bodyPr wrap="none" lIns="0" tIns="0" rIns="0" bIns="0">
            <a:spAutoFit/>
          </a:bodyPr>
          <a:lstStyle/>
          <a:p>
            <a:r>
              <a:rPr sz="1400" b="1">
                <a:solidFill>
                  <a:srgbClr val="2D5889"/>
                </a:solidFill>
                <a:latin typeface="Aptos"/>
              </a:rPr>
              <a:t>What the content is</a:t>
            </a:r>
          </a:p>
        </p:txBody>
      </p:sp>
      <p:sp>
        <p:nvSpPr>
          <p:cNvPr id="9" name="TextBox 8"/>
          <p:cNvSpPr txBox="1"/>
          <p:nvPr/>
        </p:nvSpPr>
        <p:spPr>
          <a:xfrm>
            <a:off x="1005840" y="3602736"/>
            <a:ext cx="5212080" cy="1463040"/>
          </a:xfrm>
          <a:prstGeom prst="rect">
            <a:avLst/>
          </a:prstGeom>
          <a:noFill/>
        </p:spPr>
        <p:txBody>
          <a:bodyPr wrap="square" lIns="0" tIns="0" rIns="0" bIns="0">
            <a:spAutoFit/>
          </a:bodyPr>
          <a:lstStyle/>
          <a:p>
            <a:pPr>
              <a:spcAft>
                <a:spcPts val="500"/>
              </a:spcAft>
              <a:defRPr sz="1330">
                <a:solidFill>
                  <a:srgbClr val="232323"/>
                </a:solidFill>
                <a:latin typeface="Aptos"/>
              </a:defRPr>
            </a:pPr>
            <a:r>
              <a:t>Explains how students are flagged based on engagement score and recent activity.</a:t>
            </a:r>
          </a:p>
          <a:p>
            <a:pPr>
              <a:spcAft>
                <a:spcPts val="500"/>
              </a:spcAft>
              <a:defRPr sz="1330">
                <a:solidFill>
                  <a:srgbClr val="232323"/>
                </a:solidFill>
                <a:latin typeface="Aptos"/>
              </a:defRPr>
            </a:pPr>
            <a:r>
              <a:t>Shows why filters like term, major, housing, and risk level matter.</a:t>
            </a:r>
          </a:p>
          <a:p>
            <a:pPr>
              <a:spcAft>
                <a:spcPts val="500"/>
              </a:spcAft>
              <a:defRPr sz="1330">
                <a:solidFill>
                  <a:srgbClr val="232323"/>
                </a:solidFill>
                <a:latin typeface="Aptos"/>
              </a:defRPr>
            </a:pPr>
            <a:r>
              <a:t>Helps staff decide when outreach or follow-up is needed.</a:t>
            </a:r>
          </a:p>
        </p:txBody>
      </p:sp>
      <p:sp>
        <p:nvSpPr>
          <p:cNvPr id="10" name="TextBox 9"/>
          <p:cNvSpPr txBox="1"/>
          <p:nvPr/>
        </p:nvSpPr>
        <p:spPr>
          <a:xfrm>
            <a:off x="6565392" y="3291840"/>
            <a:ext cx="4480560" cy="237744"/>
          </a:xfrm>
          <a:prstGeom prst="rect">
            <a:avLst/>
          </a:prstGeom>
          <a:noFill/>
        </p:spPr>
        <p:txBody>
          <a:bodyPr wrap="none" lIns="0" tIns="0" rIns="0" bIns="0">
            <a:spAutoFit/>
          </a:bodyPr>
          <a:lstStyle/>
          <a:p>
            <a:r>
              <a:rPr sz="1400" b="1">
                <a:solidFill>
                  <a:srgbClr val="2D5889"/>
                </a:solidFill>
                <a:latin typeface="Aptos"/>
              </a:rPr>
              <a:t>What it is meant for</a:t>
            </a:r>
          </a:p>
        </p:txBody>
      </p:sp>
      <p:sp>
        <p:nvSpPr>
          <p:cNvPr id="11" name="TextBox 10"/>
          <p:cNvSpPr txBox="1"/>
          <p:nvPr/>
        </p:nvSpPr>
        <p:spPr>
          <a:xfrm>
            <a:off x="6565392" y="3557016"/>
            <a:ext cx="4480560" cy="438912"/>
          </a:xfrm>
          <a:prstGeom prst="rect">
            <a:avLst/>
          </a:prstGeom>
          <a:noFill/>
        </p:spPr>
        <p:txBody>
          <a:bodyPr wrap="square" lIns="0" tIns="0" rIns="0" bIns="0">
            <a:spAutoFit/>
          </a:bodyPr>
          <a:lstStyle/>
          <a:p>
            <a:r>
              <a:rPr sz="1400" b="0">
                <a:solidFill>
                  <a:srgbClr val="232323"/>
                </a:solidFill>
                <a:latin typeface="Aptos"/>
              </a:rPr>
              <a:t>Advisors, student success teams, and support staff who monitor students who may be disconnecting from campus.</a:t>
            </a:r>
          </a:p>
        </p:txBody>
      </p:sp>
      <p:sp>
        <p:nvSpPr>
          <p:cNvPr id="12" name="TextBox 11"/>
          <p:cNvSpPr txBox="1"/>
          <p:nvPr/>
        </p:nvSpPr>
        <p:spPr>
          <a:xfrm>
            <a:off x="6565392" y="4315968"/>
            <a:ext cx="4480560" cy="237744"/>
          </a:xfrm>
          <a:prstGeom prst="rect">
            <a:avLst/>
          </a:prstGeom>
          <a:noFill/>
        </p:spPr>
        <p:txBody>
          <a:bodyPr wrap="none" lIns="0" tIns="0" rIns="0" bIns="0">
            <a:spAutoFit/>
          </a:bodyPr>
          <a:lstStyle/>
          <a:p>
            <a:r>
              <a:rPr sz="1400" b="1">
                <a:solidFill>
                  <a:srgbClr val="2D5889"/>
                </a:solidFill>
                <a:latin typeface="Aptos"/>
              </a:rPr>
              <a:t>Why this KB is needed</a:t>
            </a:r>
          </a:p>
        </p:txBody>
      </p:sp>
      <p:sp>
        <p:nvSpPr>
          <p:cNvPr id="13" name="TextBox 12"/>
          <p:cNvSpPr txBox="1"/>
          <p:nvPr/>
        </p:nvSpPr>
        <p:spPr>
          <a:xfrm>
            <a:off x="6565392" y="4581144"/>
            <a:ext cx="4480560" cy="438912"/>
          </a:xfrm>
          <a:prstGeom prst="rect">
            <a:avLst/>
          </a:prstGeom>
          <a:noFill/>
        </p:spPr>
        <p:txBody>
          <a:bodyPr wrap="square" lIns="0" tIns="0" rIns="0" bIns="0">
            <a:spAutoFit/>
          </a:bodyPr>
          <a:lstStyle/>
          <a:p>
            <a:r>
              <a:rPr sz="1400" b="0">
                <a:solidFill>
                  <a:srgbClr val="232323"/>
                </a:solidFill>
                <a:latin typeface="Aptos"/>
              </a:rPr>
              <a:t>This KB helps teams find students early, before low involvement turns into a bigger retention problem.</a:t>
            </a:r>
          </a:p>
        </p:txBody>
      </p:sp>
      <p:sp>
        <p:nvSpPr>
          <p:cNvPr id="16" name="TextBox 15"/>
          <p:cNvSpPr txBox="1"/>
          <p:nvPr/>
        </p:nvSpPr>
        <p:spPr>
          <a:xfrm>
            <a:off x="1005840" y="6236208"/>
            <a:ext cx="9966960" cy="274320"/>
          </a:xfrm>
          <a:prstGeom prst="rect">
            <a:avLst/>
          </a:prstGeom>
          <a:noFill/>
        </p:spPr>
        <p:txBody>
          <a:bodyPr wrap="none" lIns="0" tIns="0" rIns="0" bIns="0">
            <a:spAutoFit/>
          </a:bodyPr>
          <a:lstStyle/>
          <a:p>
            <a:r>
              <a:rPr sz="1350" b="1">
                <a:solidFill>
                  <a:srgbClr val="232323"/>
                </a:solidFill>
                <a:latin typeface="Aptos"/>
              </a:rPr>
              <a:t>Functional Use: Support, Student Affairs, Advisors, Customer Success</a:t>
            </a:r>
          </a:p>
        </p:txBody>
      </p:sp>
      <p:sp>
        <p:nvSpPr>
          <p:cNvPr id="17" name="TextBox 16"/>
          <p:cNvSpPr txBox="1"/>
          <p:nvPr/>
        </p:nvSpPr>
        <p:spPr>
          <a:xfrm>
            <a:off x="1188720" y="6492240"/>
            <a:ext cx="1188720" cy="201168"/>
          </a:xfrm>
          <a:prstGeom prst="rect">
            <a:avLst/>
          </a:prstGeom>
          <a:noFill/>
        </p:spPr>
        <p:txBody>
          <a:bodyPr wrap="none" lIns="0" tIns="0" rIns="0" bIns="0">
            <a:spAutoFit/>
          </a:bodyPr>
          <a:lstStyle/>
          <a:p>
            <a:r>
              <a:rPr sz="1050" b="0">
                <a:solidFill>
                  <a:srgbClr val="8C8C8C"/>
                </a:solidFill>
                <a:latin typeface="Aptos"/>
              </a:rPr>
              <a:t>06/30/2026</a:t>
            </a:r>
          </a:p>
        </p:txBody>
      </p:sp>
      <p:sp>
        <p:nvSpPr>
          <p:cNvPr id="18" name="TextBox 17"/>
          <p:cNvSpPr txBox="1"/>
          <p:nvPr/>
        </p:nvSpPr>
        <p:spPr>
          <a:xfrm>
            <a:off x="11082528" y="6492240"/>
            <a:ext cx="320040" cy="201168"/>
          </a:xfrm>
          <a:prstGeom prst="rect">
            <a:avLst/>
          </a:prstGeom>
          <a:noFill/>
        </p:spPr>
        <p:txBody>
          <a:bodyPr wrap="none" lIns="0" tIns="0" rIns="0" bIns="0">
            <a:spAutoFit/>
          </a:bodyPr>
          <a:lstStyle/>
          <a:p>
            <a:pPr algn="r"/>
            <a:r>
              <a:rPr sz="1050" b="0">
                <a:solidFill>
                  <a:srgbClr val="8C8C8C"/>
                </a:solidFill>
                <a:latin typeface="Aptos"/>
              </a:rPr>
              <a:t>11</a:t>
            </a:r>
          </a:p>
        </p:txBody>
      </p:sp>
    </p:spTree>
    <p:extLst>
      <p:ext uri="{BB962C8B-B14F-4D97-AF65-F5344CB8AC3E}">
        <p14:creationId xmlns:p14="http://schemas.microsoft.com/office/powerpoint/2010/main" val="19572144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2064" y="786384"/>
            <a:ext cx="118872" cy="713232"/>
          </a:xfrm>
          <a:prstGeom prst="rect">
            <a:avLst/>
          </a:prstGeom>
          <a:solidFill>
            <a:srgbClr val="F5A300"/>
          </a:solidFill>
          <a:ln>
            <a:solidFill>
              <a:srgbClr val="F5A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05840" y="713232"/>
            <a:ext cx="6949440" cy="438912"/>
          </a:xfrm>
          <a:prstGeom prst="rect">
            <a:avLst/>
          </a:prstGeom>
          <a:noFill/>
        </p:spPr>
        <p:txBody>
          <a:bodyPr wrap="none" lIns="0" tIns="0" rIns="0" bIns="0">
            <a:spAutoFit/>
          </a:bodyPr>
          <a:lstStyle/>
          <a:p>
            <a:r>
              <a:rPr sz="2900" b="1">
                <a:solidFill>
                  <a:srgbClr val="232323"/>
                </a:solidFill>
                <a:latin typeface="Aptos"/>
              </a:rPr>
              <a:t>KB Article #3 (Jeremy)</a:t>
            </a:r>
          </a:p>
        </p:txBody>
      </p:sp>
      <p:sp>
        <p:nvSpPr>
          <p:cNvPr id="4" name="TextBox 3"/>
          <p:cNvSpPr txBox="1"/>
          <p:nvPr/>
        </p:nvSpPr>
        <p:spPr>
          <a:xfrm>
            <a:off x="1005840" y="1197864"/>
            <a:ext cx="9875520" cy="320040"/>
          </a:xfrm>
          <a:prstGeom prst="rect">
            <a:avLst/>
          </a:prstGeom>
          <a:noFill/>
        </p:spPr>
        <p:txBody>
          <a:bodyPr wrap="none" lIns="0" tIns="0" rIns="0" bIns="0">
            <a:spAutoFit/>
          </a:bodyPr>
          <a:lstStyle/>
          <a:p>
            <a:r>
              <a:rPr sz="1700" b="0">
                <a:solidFill>
                  <a:srgbClr val="2D5889"/>
                </a:solidFill>
                <a:latin typeface="Aptos"/>
              </a:rPr>
              <a:t>Accelerator: Social Engagement Accelerator   |   Version: 1.0 and above</a:t>
            </a:r>
          </a:p>
        </p:txBody>
      </p:sp>
      <p:sp>
        <p:nvSpPr>
          <p:cNvPr id="5" name="TextBox 4"/>
          <p:cNvSpPr txBox="1"/>
          <p:nvPr/>
        </p:nvSpPr>
        <p:spPr>
          <a:xfrm>
            <a:off x="1005840" y="1847088"/>
            <a:ext cx="10149840" cy="438912"/>
          </a:xfrm>
          <a:prstGeom prst="rect">
            <a:avLst/>
          </a:prstGeom>
          <a:noFill/>
        </p:spPr>
        <p:txBody>
          <a:bodyPr wrap="none" lIns="0" tIns="0" rIns="0" bIns="0">
            <a:spAutoFit/>
          </a:bodyPr>
          <a:lstStyle/>
          <a:p>
            <a:r>
              <a:rPr sz="2400" b="1">
                <a:solidFill>
                  <a:srgbClr val="232323"/>
                </a:solidFill>
                <a:latin typeface="Aptos"/>
              </a:rPr>
              <a:t>SEA: Engagement Reports and Department Usage</a:t>
            </a:r>
          </a:p>
        </p:txBody>
      </p:sp>
      <p:sp>
        <p:nvSpPr>
          <p:cNvPr id="6" name="TextBox 5"/>
          <p:cNvSpPr txBox="1"/>
          <p:nvPr/>
        </p:nvSpPr>
        <p:spPr>
          <a:xfrm>
            <a:off x="1005840" y="2487168"/>
            <a:ext cx="10058400" cy="237744"/>
          </a:xfrm>
          <a:prstGeom prst="rect">
            <a:avLst/>
          </a:prstGeom>
          <a:noFill/>
        </p:spPr>
        <p:txBody>
          <a:bodyPr wrap="none" lIns="0" tIns="0" rIns="0" bIns="0">
            <a:spAutoFit/>
          </a:bodyPr>
          <a:lstStyle/>
          <a:p>
            <a:r>
              <a:rPr sz="1400" b="1">
                <a:solidFill>
                  <a:srgbClr val="2D5889"/>
                </a:solidFill>
                <a:latin typeface="Aptos"/>
              </a:rPr>
              <a:t>Summary</a:t>
            </a:r>
          </a:p>
        </p:txBody>
      </p:sp>
      <p:sp>
        <p:nvSpPr>
          <p:cNvPr id="7" name="TextBox 6"/>
          <p:cNvSpPr txBox="1"/>
          <p:nvPr/>
        </p:nvSpPr>
        <p:spPr>
          <a:xfrm>
            <a:off x="1005840" y="2752344"/>
            <a:ext cx="10058400" cy="438912"/>
          </a:xfrm>
          <a:prstGeom prst="rect">
            <a:avLst/>
          </a:prstGeom>
          <a:noFill/>
        </p:spPr>
        <p:txBody>
          <a:bodyPr wrap="square" lIns="0" tIns="0" rIns="0" bIns="0">
            <a:spAutoFit/>
          </a:bodyPr>
          <a:lstStyle/>
          <a:p>
            <a:r>
              <a:rPr sz="1450" b="0">
                <a:solidFill>
                  <a:srgbClr val="232323"/>
                </a:solidFill>
                <a:latin typeface="Aptos"/>
              </a:rPr>
              <a:t>Explains what engagement reports include and how departments can use them to make decisions about student support.</a:t>
            </a:r>
          </a:p>
        </p:txBody>
      </p:sp>
      <p:sp>
        <p:nvSpPr>
          <p:cNvPr id="8" name="TextBox 7"/>
          <p:cNvSpPr txBox="1"/>
          <p:nvPr/>
        </p:nvSpPr>
        <p:spPr>
          <a:xfrm>
            <a:off x="1005840" y="3291840"/>
            <a:ext cx="4937760" cy="237744"/>
          </a:xfrm>
          <a:prstGeom prst="rect">
            <a:avLst/>
          </a:prstGeom>
          <a:noFill/>
        </p:spPr>
        <p:txBody>
          <a:bodyPr wrap="none" lIns="0" tIns="0" rIns="0" bIns="0">
            <a:spAutoFit/>
          </a:bodyPr>
          <a:lstStyle/>
          <a:p>
            <a:r>
              <a:rPr sz="1400" b="1">
                <a:solidFill>
                  <a:srgbClr val="2D5889"/>
                </a:solidFill>
                <a:latin typeface="Aptos"/>
              </a:rPr>
              <a:t>What the content is</a:t>
            </a:r>
          </a:p>
        </p:txBody>
      </p:sp>
      <p:sp>
        <p:nvSpPr>
          <p:cNvPr id="9" name="TextBox 8"/>
          <p:cNvSpPr txBox="1"/>
          <p:nvPr/>
        </p:nvSpPr>
        <p:spPr>
          <a:xfrm>
            <a:off x="1005840" y="3602736"/>
            <a:ext cx="5212080" cy="1463040"/>
          </a:xfrm>
          <a:prstGeom prst="rect">
            <a:avLst/>
          </a:prstGeom>
          <a:noFill/>
        </p:spPr>
        <p:txBody>
          <a:bodyPr wrap="square" lIns="0" tIns="0" rIns="0" bIns="0">
            <a:spAutoFit/>
          </a:bodyPr>
          <a:lstStyle/>
          <a:p>
            <a:pPr>
              <a:spcAft>
                <a:spcPts val="500"/>
              </a:spcAft>
              <a:defRPr sz="1330">
                <a:solidFill>
                  <a:srgbClr val="232323"/>
                </a:solidFill>
                <a:latin typeface="Aptos"/>
              </a:defRPr>
            </a:pPr>
            <a:r>
              <a:t>Summarizes engagement trends by student group, term, department, or activity type.</a:t>
            </a:r>
          </a:p>
          <a:p>
            <a:pPr>
              <a:spcAft>
                <a:spcPts val="500"/>
              </a:spcAft>
              <a:defRPr sz="1330">
                <a:solidFill>
                  <a:srgbClr val="232323"/>
                </a:solidFill>
                <a:latin typeface="Aptos"/>
              </a:defRPr>
            </a:pPr>
            <a:r>
              <a:t>Helps teams compare activity levels and identify where support is needed.</a:t>
            </a:r>
          </a:p>
          <a:p>
            <a:pPr>
              <a:spcAft>
                <a:spcPts val="500"/>
              </a:spcAft>
              <a:defRPr sz="1330">
                <a:solidFill>
                  <a:srgbClr val="232323"/>
                </a:solidFill>
                <a:latin typeface="Aptos"/>
              </a:defRPr>
            </a:pPr>
            <a:r>
              <a:t>Can be used in meetings, planning, and follow-up conversations.</a:t>
            </a:r>
          </a:p>
        </p:txBody>
      </p:sp>
      <p:sp>
        <p:nvSpPr>
          <p:cNvPr id="10" name="TextBox 9"/>
          <p:cNvSpPr txBox="1"/>
          <p:nvPr/>
        </p:nvSpPr>
        <p:spPr>
          <a:xfrm>
            <a:off x="6565392" y="3291840"/>
            <a:ext cx="4480560" cy="237744"/>
          </a:xfrm>
          <a:prstGeom prst="rect">
            <a:avLst/>
          </a:prstGeom>
          <a:noFill/>
        </p:spPr>
        <p:txBody>
          <a:bodyPr wrap="none" lIns="0" tIns="0" rIns="0" bIns="0">
            <a:spAutoFit/>
          </a:bodyPr>
          <a:lstStyle/>
          <a:p>
            <a:r>
              <a:rPr sz="1400" b="1">
                <a:solidFill>
                  <a:srgbClr val="2D5889"/>
                </a:solidFill>
                <a:latin typeface="Aptos"/>
              </a:rPr>
              <a:t>What it is meant for</a:t>
            </a:r>
          </a:p>
        </p:txBody>
      </p:sp>
      <p:sp>
        <p:nvSpPr>
          <p:cNvPr id="11" name="TextBox 10"/>
          <p:cNvSpPr txBox="1"/>
          <p:nvPr/>
        </p:nvSpPr>
        <p:spPr>
          <a:xfrm>
            <a:off x="6565392" y="3557016"/>
            <a:ext cx="4480560" cy="438912"/>
          </a:xfrm>
          <a:prstGeom prst="rect">
            <a:avLst/>
          </a:prstGeom>
          <a:noFill/>
        </p:spPr>
        <p:txBody>
          <a:bodyPr wrap="square" lIns="0" tIns="0" rIns="0" bIns="0">
            <a:spAutoFit/>
          </a:bodyPr>
          <a:lstStyle/>
          <a:p>
            <a:r>
              <a:rPr sz="1400" b="0">
                <a:solidFill>
                  <a:srgbClr val="232323"/>
                </a:solidFill>
                <a:latin typeface="Aptos"/>
              </a:rPr>
              <a:t>Support, Student Affairs, Customer Success, and leadership teams that need clear engagement data.</a:t>
            </a:r>
          </a:p>
        </p:txBody>
      </p:sp>
      <p:sp>
        <p:nvSpPr>
          <p:cNvPr id="12" name="TextBox 11"/>
          <p:cNvSpPr txBox="1"/>
          <p:nvPr/>
        </p:nvSpPr>
        <p:spPr>
          <a:xfrm>
            <a:off x="6565392" y="4315968"/>
            <a:ext cx="4480560" cy="237744"/>
          </a:xfrm>
          <a:prstGeom prst="rect">
            <a:avLst/>
          </a:prstGeom>
          <a:noFill/>
        </p:spPr>
        <p:txBody>
          <a:bodyPr wrap="none" lIns="0" tIns="0" rIns="0" bIns="0">
            <a:spAutoFit/>
          </a:bodyPr>
          <a:lstStyle/>
          <a:p>
            <a:r>
              <a:rPr sz="1400" b="1">
                <a:solidFill>
                  <a:srgbClr val="2D5889"/>
                </a:solidFill>
                <a:latin typeface="Aptos"/>
              </a:rPr>
              <a:t>Why this KB is needed</a:t>
            </a:r>
          </a:p>
        </p:txBody>
      </p:sp>
      <p:sp>
        <p:nvSpPr>
          <p:cNvPr id="13" name="TextBox 12"/>
          <p:cNvSpPr txBox="1"/>
          <p:nvPr/>
        </p:nvSpPr>
        <p:spPr>
          <a:xfrm>
            <a:off x="6565392" y="4581144"/>
            <a:ext cx="4480560" cy="438912"/>
          </a:xfrm>
          <a:prstGeom prst="rect">
            <a:avLst/>
          </a:prstGeom>
          <a:noFill/>
        </p:spPr>
        <p:txBody>
          <a:bodyPr wrap="square" lIns="0" tIns="0" rIns="0" bIns="0">
            <a:spAutoFit/>
          </a:bodyPr>
          <a:lstStyle/>
          <a:p>
            <a:r>
              <a:rPr sz="1400" b="0">
                <a:solidFill>
                  <a:srgbClr val="232323"/>
                </a:solidFill>
                <a:latin typeface="Aptos"/>
              </a:rPr>
              <a:t>Reports give all departments the same source of information, which helps teams make better decisions together.</a:t>
            </a:r>
          </a:p>
        </p:txBody>
      </p:sp>
      <p:sp>
        <p:nvSpPr>
          <p:cNvPr id="16" name="TextBox 15"/>
          <p:cNvSpPr txBox="1"/>
          <p:nvPr/>
        </p:nvSpPr>
        <p:spPr>
          <a:xfrm>
            <a:off x="1005840" y="6236208"/>
            <a:ext cx="9966960" cy="274320"/>
          </a:xfrm>
          <a:prstGeom prst="rect">
            <a:avLst/>
          </a:prstGeom>
          <a:noFill/>
        </p:spPr>
        <p:txBody>
          <a:bodyPr wrap="none" lIns="0" tIns="0" rIns="0" bIns="0">
            <a:spAutoFit/>
          </a:bodyPr>
          <a:lstStyle/>
          <a:p>
            <a:r>
              <a:rPr sz="1350" b="1">
                <a:solidFill>
                  <a:srgbClr val="232323"/>
                </a:solidFill>
                <a:latin typeface="Aptos"/>
              </a:rPr>
              <a:t>Functional Use: Support, Student Affairs, Advisors, Customer Success</a:t>
            </a:r>
          </a:p>
        </p:txBody>
      </p:sp>
      <p:sp>
        <p:nvSpPr>
          <p:cNvPr id="17" name="TextBox 16"/>
          <p:cNvSpPr txBox="1"/>
          <p:nvPr/>
        </p:nvSpPr>
        <p:spPr>
          <a:xfrm>
            <a:off x="1188720" y="6492240"/>
            <a:ext cx="1188720" cy="201168"/>
          </a:xfrm>
          <a:prstGeom prst="rect">
            <a:avLst/>
          </a:prstGeom>
          <a:noFill/>
        </p:spPr>
        <p:txBody>
          <a:bodyPr wrap="none" lIns="0" tIns="0" rIns="0" bIns="0">
            <a:spAutoFit/>
          </a:bodyPr>
          <a:lstStyle/>
          <a:p>
            <a:r>
              <a:rPr sz="1050" b="0">
                <a:solidFill>
                  <a:srgbClr val="8C8C8C"/>
                </a:solidFill>
                <a:latin typeface="Aptos"/>
              </a:rPr>
              <a:t>06/30/2026</a:t>
            </a:r>
          </a:p>
        </p:txBody>
      </p:sp>
      <p:sp>
        <p:nvSpPr>
          <p:cNvPr id="18" name="TextBox 17"/>
          <p:cNvSpPr txBox="1"/>
          <p:nvPr/>
        </p:nvSpPr>
        <p:spPr>
          <a:xfrm>
            <a:off x="11082528" y="6492240"/>
            <a:ext cx="320040" cy="201168"/>
          </a:xfrm>
          <a:prstGeom prst="rect">
            <a:avLst/>
          </a:prstGeom>
          <a:noFill/>
        </p:spPr>
        <p:txBody>
          <a:bodyPr wrap="none" lIns="0" tIns="0" rIns="0" bIns="0">
            <a:spAutoFit/>
          </a:bodyPr>
          <a:lstStyle/>
          <a:p>
            <a:pPr algn="r"/>
            <a:r>
              <a:rPr sz="1050" b="0">
                <a:solidFill>
                  <a:srgbClr val="8C8C8C"/>
                </a:solidFill>
                <a:latin typeface="Aptos"/>
              </a:rPr>
              <a:t>12</a:t>
            </a:r>
          </a:p>
        </p:txBody>
      </p:sp>
    </p:spTree>
    <p:extLst>
      <p:ext uri="{BB962C8B-B14F-4D97-AF65-F5344CB8AC3E}">
        <p14:creationId xmlns:p14="http://schemas.microsoft.com/office/powerpoint/2010/main" val="10552685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CED6E-8572-D5CB-CA80-625F168845A7}"/>
              </a:ext>
            </a:extLst>
          </p:cNvPr>
          <p:cNvSpPr>
            <a:spLocks noGrp="1"/>
          </p:cNvSpPr>
          <p:nvPr>
            <p:ph type="title"/>
          </p:nvPr>
        </p:nvSpPr>
        <p:spPr/>
        <p:txBody>
          <a:bodyPr vert="horz" lIns="91440" tIns="45720" rIns="91440" bIns="45720" rtlCol="0" anchor="ctr">
            <a:noAutofit/>
          </a:bodyPr>
          <a:lstStyle/>
          <a:p>
            <a:r>
              <a:rPr lang="en-US" sz="3200" u="sng">
                <a:solidFill>
                  <a:srgbClr val="0E2740"/>
                </a:solidFill>
                <a:highlight>
                  <a:srgbClr val="FFFFFF"/>
                </a:highlight>
                <a:latin typeface="Aptos"/>
              </a:rPr>
              <a:t>Accelerator: </a:t>
            </a:r>
            <a:endParaRPr lang="en-US" sz="3200">
              <a:solidFill>
                <a:srgbClr val="000000"/>
              </a:solidFill>
              <a:highlight>
                <a:srgbClr val="FFFFFF"/>
              </a:highlight>
              <a:latin typeface="Aptos"/>
            </a:endParaRPr>
          </a:p>
          <a:p>
            <a:r>
              <a:rPr lang="en-US" sz="3200" u="sng">
                <a:solidFill>
                  <a:srgbClr val="0E2740"/>
                </a:solidFill>
                <a:highlight>
                  <a:srgbClr val="FFFFFF"/>
                </a:highlight>
                <a:latin typeface="Aptos"/>
              </a:rPr>
              <a:t>Social Engagement Accelerator</a:t>
            </a:r>
            <a:endParaRPr lang="en-US" sz="3200">
              <a:solidFill>
                <a:srgbClr val="000000"/>
              </a:solidFill>
              <a:highlight>
                <a:srgbClr val="FFFFFF"/>
              </a:highlight>
              <a:latin typeface="Aptos"/>
            </a:endParaRPr>
          </a:p>
          <a:p>
            <a:r>
              <a:rPr lang="en-US" sz="3200" u="sng">
                <a:solidFill>
                  <a:srgbClr val="0E2740"/>
                </a:solidFill>
                <a:highlight>
                  <a:srgbClr val="FFFFFF"/>
                </a:highlight>
                <a:latin typeface="Aptos"/>
              </a:rPr>
              <a:t>1.0 and above</a:t>
            </a:r>
            <a:endParaRPr lang="en-US"/>
          </a:p>
        </p:txBody>
      </p:sp>
      <p:sp>
        <p:nvSpPr>
          <p:cNvPr id="3" name="Content Placeholder 2">
            <a:extLst>
              <a:ext uri="{FF2B5EF4-FFF2-40B4-BE49-F238E27FC236}">
                <a16:creationId xmlns:a16="http://schemas.microsoft.com/office/drawing/2014/main" id="{FB9FB1C3-332A-0295-FBB4-C8567F762694}"/>
              </a:ext>
            </a:extLst>
          </p:cNvPr>
          <p:cNvSpPr>
            <a:spLocks noGrp="1"/>
          </p:cNvSpPr>
          <p:nvPr>
            <p:ph idx="1"/>
          </p:nvPr>
        </p:nvSpPr>
        <p:spPr/>
        <p:txBody>
          <a:bodyPr vert="horz" lIns="91440" tIns="45720" rIns="91440" bIns="45720" rtlCol="0" anchor="t">
            <a:normAutofit/>
          </a:bodyPr>
          <a:lstStyle/>
          <a:p>
            <a:r>
              <a:rPr lang="en-US"/>
              <a:t>How do I remove a user from the account?</a:t>
            </a:r>
          </a:p>
          <a:p>
            <a:r>
              <a:rPr lang="en-US" sz="2000"/>
              <a:t>To remove a user from your account you must first be logged in as an administrator, (if you are not an admin please contact your school's relevant department). Once logged in, select the manage users' section in the Admin actions section of the menu on the left. From there find the user you would like to remove via the search bar, and click on the user. You will then see manage user, from there you can remove the user from the account after confirming the selection.</a:t>
            </a:r>
          </a:p>
        </p:txBody>
      </p:sp>
      <p:sp>
        <p:nvSpPr>
          <p:cNvPr id="4" name="Date Placeholder 3">
            <a:extLst>
              <a:ext uri="{FF2B5EF4-FFF2-40B4-BE49-F238E27FC236}">
                <a16:creationId xmlns:a16="http://schemas.microsoft.com/office/drawing/2014/main" id="{81D649E4-4F23-C324-D0DA-E0662E1B8509}"/>
              </a:ext>
            </a:extLst>
          </p:cNvPr>
          <p:cNvSpPr>
            <a:spLocks noGrp="1"/>
          </p:cNvSpPr>
          <p:nvPr>
            <p:ph type="dt" sz="half" idx="10"/>
          </p:nvPr>
        </p:nvSpPr>
        <p:spPr/>
        <p:txBody>
          <a:bodyPr/>
          <a:lstStyle/>
          <a:p>
            <a:fld id="{5B2A71FE-01BC-46D3-B5A6-045152759EEB}" type="datetime1">
              <a:t>6/30/2026</a:t>
            </a:fld>
            <a:endParaRPr lang="en-US"/>
          </a:p>
        </p:txBody>
      </p:sp>
      <p:sp>
        <p:nvSpPr>
          <p:cNvPr id="5" name="Footer Placeholder 4">
            <a:extLst>
              <a:ext uri="{FF2B5EF4-FFF2-40B4-BE49-F238E27FC236}">
                <a16:creationId xmlns:a16="http://schemas.microsoft.com/office/drawing/2014/main" id="{CF072166-12A3-60B5-1950-862B074DA0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FA9C17-292D-A386-AE02-ACA296281335}"/>
              </a:ext>
            </a:extLst>
          </p:cNvPr>
          <p:cNvSpPr>
            <a:spLocks noGrp="1"/>
          </p:cNvSpPr>
          <p:nvPr>
            <p:ph type="sldNum" sz="quarter" idx="12"/>
          </p:nvPr>
        </p:nvSpPr>
        <p:spPr/>
        <p:txBody>
          <a:bodyPr/>
          <a:lstStyle/>
          <a:p>
            <a:fld id="{A65A5C87-DF58-40C8-B092-1DE63DB4547E}" type="slidenum">
              <a:rPr lang="en-US" dirty="0"/>
              <a:t>13</a:t>
            </a:fld>
            <a:endParaRPr lang="en-US"/>
          </a:p>
        </p:txBody>
      </p:sp>
    </p:spTree>
    <p:extLst>
      <p:ext uri="{BB962C8B-B14F-4D97-AF65-F5344CB8AC3E}">
        <p14:creationId xmlns:p14="http://schemas.microsoft.com/office/powerpoint/2010/main" val="12211970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28746-A86A-23E8-C43C-E16550455E9B}"/>
              </a:ext>
            </a:extLst>
          </p:cNvPr>
          <p:cNvSpPr>
            <a:spLocks noGrp="1"/>
          </p:cNvSpPr>
          <p:nvPr>
            <p:ph type="title"/>
          </p:nvPr>
        </p:nvSpPr>
        <p:spPr/>
        <p:txBody>
          <a:bodyPr>
            <a:normAutofit fontScale="90000"/>
          </a:bodyPr>
          <a:lstStyle/>
          <a:p>
            <a:r>
              <a:rPr lang="en-US" sz="3200" u="sng">
                <a:solidFill>
                  <a:srgbClr val="0E2740"/>
                </a:solidFill>
                <a:highlight>
                  <a:srgbClr val="FFFFFF"/>
                </a:highlight>
                <a:latin typeface="Aptos"/>
              </a:rPr>
              <a:t>Accelerator: </a:t>
            </a:r>
            <a:endParaRPr lang="en-US" sz="3200">
              <a:latin typeface="Aptos"/>
            </a:endParaRPr>
          </a:p>
          <a:p>
            <a:r>
              <a:rPr lang="en-US" sz="3200" u="sng">
                <a:solidFill>
                  <a:srgbClr val="0E2740"/>
                </a:solidFill>
                <a:highlight>
                  <a:srgbClr val="FFFFFF"/>
                </a:highlight>
                <a:latin typeface="Aptos"/>
              </a:rPr>
              <a:t>Social Engagement Accelerator</a:t>
            </a:r>
            <a:endParaRPr lang="en-US" sz="3200">
              <a:latin typeface="Aptos"/>
            </a:endParaRPr>
          </a:p>
          <a:p>
            <a:r>
              <a:rPr lang="en-US" sz="3200" u="sng">
                <a:solidFill>
                  <a:srgbClr val="0E2740"/>
                </a:solidFill>
                <a:highlight>
                  <a:srgbClr val="FFFFFF"/>
                </a:highlight>
                <a:latin typeface="Aptos"/>
              </a:rPr>
              <a:t>1.0 and above</a:t>
            </a:r>
            <a:endParaRPr lang="en-US"/>
          </a:p>
        </p:txBody>
      </p:sp>
      <p:sp>
        <p:nvSpPr>
          <p:cNvPr id="3" name="Content Placeholder 2">
            <a:extLst>
              <a:ext uri="{FF2B5EF4-FFF2-40B4-BE49-F238E27FC236}">
                <a16:creationId xmlns:a16="http://schemas.microsoft.com/office/drawing/2014/main" id="{0A16B31E-B2CF-147A-7EF1-7C573D7AF648}"/>
              </a:ext>
            </a:extLst>
          </p:cNvPr>
          <p:cNvSpPr>
            <a:spLocks noGrp="1"/>
          </p:cNvSpPr>
          <p:nvPr>
            <p:ph idx="1"/>
          </p:nvPr>
        </p:nvSpPr>
        <p:spPr/>
        <p:txBody>
          <a:bodyPr vert="horz" lIns="91440" tIns="45720" rIns="91440" bIns="45720" rtlCol="0" anchor="t">
            <a:normAutofit/>
          </a:bodyPr>
          <a:lstStyle/>
          <a:p>
            <a:r>
              <a:rPr lang="en-US"/>
              <a:t>How do I update a user's status/permissions?</a:t>
            </a:r>
          </a:p>
          <a:p>
            <a:r>
              <a:rPr lang="en-US" sz="2000"/>
              <a:t>To update a user's status you must first be logged in as an administrator, (if you are not an admin please contact your school's relevant department). Once logged in, select the manage users' section in the Admin actions section of the menu on the left. From there find the user you would like to update via the search bar and click on the user. You will then see manage user; from there you can give the user admin status or change what permissions they have.</a:t>
            </a:r>
          </a:p>
        </p:txBody>
      </p:sp>
      <p:sp>
        <p:nvSpPr>
          <p:cNvPr id="4" name="Date Placeholder 3">
            <a:extLst>
              <a:ext uri="{FF2B5EF4-FFF2-40B4-BE49-F238E27FC236}">
                <a16:creationId xmlns:a16="http://schemas.microsoft.com/office/drawing/2014/main" id="{D970DD5E-C9CF-76B9-3F21-0FE7EFF61829}"/>
              </a:ext>
            </a:extLst>
          </p:cNvPr>
          <p:cNvSpPr>
            <a:spLocks noGrp="1"/>
          </p:cNvSpPr>
          <p:nvPr>
            <p:ph type="dt" sz="half" idx="10"/>
          </p:nvPr>
        </p:nvSpPr>
        <p:spPr/>
        <p:txBody>
          <a:bodyPr/>
          <a:lstStyle/>
          <a:p>
            <a:fld id="{02BB1C30-B99D-4F18-AC4F-53A1B1CE660E}" type="datetime1">
              <a:t>6/30/2026</a:t>
            </a:fld>
            <a:endParaRPr lang="en-US"/>
          </a:p>
        </p:txBody>
      </p:sp>
      <p:sp>
        <p:nvSpPr>
          <p:cNvPr id="5" name="Footer Placeholder 4">
            <a:extLst>
              <a:ext uri="{FF2B5EF4-FFF2-40B4-BE49-F238E27FC236}">
                <a16:creationId xmlns:a16="http://schemas.microsoft.com/office/drawing/2014/main" id="{E4841B28-2D43-8FA3-9630-9358E74764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4A8CAF-DFA5-26C5-DE03-FDC46C2B87DD}"/>
              </a:ext>
            </a:extLst>
          </p:cNvPr>
          <p:cNvSpPr>
            <a:spLocks noGrp="1"/>
          </p:cNvSpPr>
          <p:nvPr>
            <p:ph type="sldNum" sz="quarter" idx="12"/>
          </p:nvPr>
        </p:nvSpPr>
        <p:spPr/>
        <p:txBody>
          <a:bodyPr/>
          <a:lstStyle/>
          <a:p>
            <a:fld id="{A65A5C87-DF58-40C8-B092-1DE63DB4547E}" type="slidenum">
              <a:rPr lang="en-US" dirty="0"/>
              <a:t>14</a:t>
            </a:fld>
            <a:endParaRPr lang="en-US"/>
          </a:p>
        </p:txBody>
      </p:sp>
    </p:spTree>
    <p:extLst>
      <p:ext uri="{BB962C8B-B14F-4D97-AF65-F5344CB8AC3E}">
        <p14:creationId xmlns:p14="http://schemas.microsoft.com/office/powerpoint/2010/main" val="13151938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317FA-9A25-A89F-5D39-BDEE1F1F097D}"/>
              </a:ext>
            </a:extLst>
          </p:cNvPr>
          <p:cNvSpPr>
            <a:spLocks noGrp="1"/>
          </p:cNvSpPr>
          <p:nvPr>
            <p:ph type="title"/>
          </p:nvPr>
        </p:nvSpPr>
        <p:spPr/>
        <p:txBody>
          <a:bodyPr>
            <a:normAutofit fontScale="90000"/>
          </a:bodyPr>
          <a:lstStyle/>
          <a:p>
            <a:r>
              <a:rPr lang="en-US" sz="3200" u="sng">
                <a:solidFill>
                  <a:srgbClr val="0E2740"/>
                </a:solidFill>
                <a:highlight>
                  <a:srgbClr val="FFFFFF"/>
                </a:highlight>
                <a:latin typeface="Aptos"/>
              </a:rPr>
              <a:t>Accelerator: </a:t>
            </a:r>
            <a:endParaRPr lang="en-US" sz="3200">
              <a:latin typeface="Aptos"/>
            </a:endParaRPr>
          </a:p>
          <a:p>
            <a:r>
              <a:rPr lang="en-US" sz="3200" u="sng">
                <a:solidFill>
                  <a:srgbClr val="0E2740"/>
                </a:solidFill>
                <a:highlight>
                  <a:srgbClr val="FFFFFF"/>
                </a:highlight>
                <a:latin typeface="Aptos"/>
              </a:rPr>
              <a:t>Social Engagement Accelerator</a:t>
            </a:r>
            <a:endParaRPr lang="en-US" sz="3200">
              <a:latin typeface="Aptos"/>
            </a:endParaRPr>
          </a:p>
          <a:p>
            <a:r>
              <a:rPr lang="en-US" sz="3200" u="sng">
                <a:solidFill>
                  <a:srgbClr val="0E2740"/>
                </a:solidFill>
                <a:highlight>
                  <a:srgbClr val="FFFFFF"/>
                </a:highlight>
                <a:latin typeface="Aptos"/>
              </a:rPr>
              <a:t>1.0 and above</a:t>
            </a:r>
            <a:endParaRPr lang="en-US"/>
          </a:p>
        </p:txBody>
      </p:sp>
      <p:sp>
        <p:nvSpPr>
          <p:cNvPr id="3" name="Content Placeholder 2">
            <a:extLst>
              <a:ext uri="{FF2B5EF4-FFF2-40B4-BE49-F238E27FC236}">
                <a16:creationId xmlns:a16="http://schemas.microsoft.com/office/drawing/2014/main" id="{FF3ABC95-C689-5AB8-5A28-D29231A69164}"/>
              </a:ext>
            </a:extLst>
          </p:cNvPr>
          <p:cNvSpPr>
            <a:spLocks noGrp="1"/>
          </p:cNvSpPr>
          <p:nvPr>
            <p:ph idx="1"/>
          </p:nvPr>
        </p:nvSpPr>
        <p:spPr/>
        <p:txBody>
          <a:bodyPr vert="horz" lIns="91440" tIns="45720" rIns="91440" bIns="45720" rtlCol="0" anchor="t">
            <a:normAutofit/>
          </a:bodyPr>
          <a:lstStyle/>
          <a:p>
            <a:r>
              <a:rPr lang="en-US"/>
              <a:t>How do I remove incorrect data from the system</a:t>
            </a:r>
          </a:p>
          <a:p>
            <a:r>
              <a:rPr lang="en-US" sz="2000"/>
              <a:t>To remove incorrect data from the application, first go to the manage data section of the application in the main menu (note: may need certain permissions to edit data in the application, please contact your admin if you are unable to edit data). From there you will be able to see all of the data you have, organized depending on the user. Once you have located the data you wish to edit select edit data on the data box. Be careful editing data as it may cause issues if deleted improperly, replacing a number with 0 instead of leaving it blank is a potential way to avoid issues. </a:t>
            </a:r>
          </a:p>
        </p:txBody>
      </p:sp>
      <p:sp>
        <p:nvSpPr>
          <p:cNvPr id="4" name="Date Placeholder 3">
            <a:extLst>
              <a:ext uri="{FF2B5EF4-FFF2-40B4-BE49-F238E27FC236}">
                <a16:creationId xmlns:a16="http://schemas.microsoft.com/office/drawing/2014/main" id="{9ABB7C74-547A-4746-DE93-740517C3BE0B}"/>
              </a:ext>
            </a:extLst>
          </p:cNvPr>
          <p:cNvSpPr>
            <a:spLocks noGrp="1"/>
          </p:cNvSpPr>
          <p:nvPr>
            <p:ph type="dt" sz="half" idx="10"/>
          </p:nvPr>
        </p:nvSpPr>
        <p:spPr/>
        <p:txBody>
          <a:bodyPr/>
          <a:lstStyle/>
          <a:p>
            <a:fld id="{CA0726CE-E873-4932-B847-7B0B51E11358}" type="datetime1">
              <a:t>6/30/2026</a:t>
            </a:fld>
            <a:endParaRPr lang="en-US"/>
          </a:p>
        </p:txBody>
      </p:sp>
      <p:sp>
        <p:nvSpPr>
          <p:cNvPr id="5" name="Footer Placeholder 4">
            <a:extLst>
              <a:ext uri="{FF2B5EF4-FFF2-40B4-BE49-F238E27FC236}">
                <a16:creationId xmlns:a16="http://schemas.microsoft.com/office/drawing/2014/main" id="{5F095991-5407-74A1-7A6E-A382F2610F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B69670-39F5-481F-F73A-636A0D4F8E01}"/>
              </a:ext>
            </a:extLst>
          </p:cNvPr>
          <p:cNvSpPr>
            <a:spLocks noGrp="1"/>
          </p:cNvSpPr>
          <p:nvPr>
            <p:ph type="sldNum" sz="quarter" idx="12"/>
          </p:nvPr>
        </p:nvSpPr>
        <p:spPr/>
        <p:txBody>
          <a:bodyPr/>
          <a:lstStyle/>
          <a:p>
            <a:fld id="{A65A5C87-DF58-40C8-B092-1DE63DB4547E}" type="slidenum">
              <a:rPr lang="en-US" dirty="0"/>
              <a:t>15</a:t>
            </a:fld>
            <a:endParaRPr lang="en-US"/>
          </a:p>
        </p:txBody>
      </p:sp>
    </p:spTree>
    <p:extLst>
      <p:ext uri="{BB962C8B-B14F-4D97-AF65-F5344CB8AC3E}">
        <p14:creationId xmlns:p14="http://schemas.microsoft.com/office/powerpoint/2010/main" val="3989162206"/>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ccentBoxVTI">
      <a:majorFont>
        <a:latin typeface="Avenir Next LT Pro"/>
        <a:ea typeface=""/>
        <a:cs typeface=""/>
      </a:majorFont>
      <a:minorFont>
        <a:latin typeface="Avenir Next LT Pro"/>
        <a:ea typeface=""/>
        <a:cs typeface=""/>
      </a:minorFont>
    </a:fontScheme>
    <a:fmtScheme name="AccentBox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F4FE582F-5DDE-4E50-A331-B77FB79D7361}" vid="{42624B42-66F4-4B9A-A3DB-EB561F16279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15</Slides>
  <Notes>0</Notes>
  <HiddenSlides>0</HiddenSlide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AccentBoxVTI</vt:lpstr>
      <vt:lpstr>Support Org Chart + KB Articles</vt:lpstr>
      <vt:lpstr>Overview Chart</vt:lpstr>
      <vt:lpstr>Other Departments</vt:lpstr>
      <vt:lpstr>KB Article #1 (Carter)</vt:lpstr>
      <vt:lpstr>KB Article #2 (Carter)</vt:lpstr>
      <vt:lpstr>KB Article #3 (Carter)</vt:lpstr>
      <vt:lpstr>KB Article #1 (Athziri)</vt:lpstr>
      <vt:lpstr>KB Article #2 (Athziri) </vt:lpstr>
      <vt:lpstr>KB Article #3 (Athziri) </vt:lpstr>
      <vt:lpstr>PowerPoint Presentation</vt:lpstr>
      <vt:lpstr>PowerPoint Presentation</vt:lpstr>
      <vt:lpstr>PowerPoint Presentation</vt:lpstr>
      <vt:lpstr>Accelerator:  Social Engagement Accelerator 1.0 and above</vt:lpstr>
      <vt:lpstr>Accelerator:  Social Engagement Accelerator 1.0 and above</vt:lpstr>
      <vt:lpstr>Accelerator:  Social Engagement Accelerator 1.0 and above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46</cp:revision>
  <dcterms:created xsi:type="dcterms:W3CDTF">2026-06-29T19:43:26Z</dcterms:created>
  <dcterms:modified xsi:type="dcterms:W3CDTF">2026-06-30T19:44:46Z</dcterms:modified>
</cp:coreProperties>
</file>