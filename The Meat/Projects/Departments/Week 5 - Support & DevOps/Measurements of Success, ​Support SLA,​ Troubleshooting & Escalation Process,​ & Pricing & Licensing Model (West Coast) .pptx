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2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0E767-41D0-7078-99D9-F1C04E64B5D4}" v="614" dt="2026-06-30T21:55:46.685"/>
    <p1510:client id="{9C8F64D8-60B5-09AB-4C2A-3BE57A5C84F1}" v="2" dt="2026-07-01T20:41:09.264"/>
    <p1510:client id="{A77C9A50-5EF3-C7B1-31A3-51164AAF59FC}" v="15" dt="2026-07-01T15:53:49.027"/>
    <p1510:client id="{C843281C-F980-FEFD-3889-D7530EB43B60}" v="664" dt="2026-06-30T21:11:00.898"/>
    <p1510:client id="{EF078DAA-7EE0-39EB-C303-67AF5E2FE53B}" v="71" dt="2026-06-30T19:46:07.992"/>
    <p1510:client id="{FAA3664A-ABEB-18C0-C866-6931C15AD346}" v="578" dt="2026-06-30T20:54:23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2.xml" Id="rId3" /><Relationship Type="http://schemas.openxmlformats.org/officeDocument/2006/relationships/slide" Target="slides/slide6.xml" Id="rId7" /><Relationship Type="http://schemas.openxmlformats.org/officeDocument/2006/relationships/tableStyles" Target="tableStyles.xml" Id="rId12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theme" Target="theme/theme1.xml" Id="rId11" /><Relationship Type="http://schemas.openxmlformats.org/officeDocument/2006/relationships/slide" Target="slides/slide4.xml" Id="rId5" /><Relationship Type="http://schemas.openxmlformats.org/officeDocument/2006/relationships/viewProps" Target="viewProps.xml" Id="rId10" /><Relationship Type="http://schemas.openxmlformats.org/officeDocument/2006/relationships/slide" Target="slides/slide3.xml" Id="rId4" /><Relationship Type="http://schemas.openxmlformats.org/officeDocument/2006/relationships/presProps" Target="presProps.xml" Id="rId9" /><Relationship Type="http://schemas.microsoft.com/office/2015/10/relationships/revisionInfo" Target="revisionInfo.xml" Id="rId14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visions-my.sharepoint.com/personal/athziri_vega_evisions_com/Documents/Measurements%20of%20Success,%20%E2%80%8BSupport%20SLA,%E2%80%8B%20Troubleshooting%20&amp;%20Escalation%20Process,%E2%80%8B%20&amp;%20Pricing%20&amp;%20Licensing%20Model%C2%A0(West%20Coast)_Histogra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Ex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2.xml.rels><?xml version="1.0" encoding="UTF-8" standalone="yes"?>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ptos Narrow" panose="02110004020202020204"/>
              </a:rPr>
              <a:t>Ticketing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v/>
          </c:tx>
          <c:spPr>
            <a:solidFill>
              <a:srgbClr val="153D64"/>
            </a:solidFill>
            <a:ln>
              <a:solidFill>
                <a:srgbClr val="215C98"/>
              </a:solidFill>
              <a:prstDash val="solid"/>
            </a:ln>
            <a:effectLst/>
          </c:spPr>
          <c:invertIfNegative val="0"/>
          <c:val>
            <c:numRef>
              <c:f>Sheet1!$A$2:$A$10</c:f>
              <c:numCache>
                <c:formatCode>General</c:formatCode>
                <c:ptCount val="9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5</c:v>
                </c:pt>
                <c:pt idx="5">
                  <c:v>7.5</c:v>
                </c:pt>
                <c:pt idx="6">
                  <c:v>6</c:v>
                </c:pt>
                <c:pt idx="7">
                  <c:v>7.8</c:v>
                </c:pt>
                <c:pt idx="8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0F-4390-BCC2-C5BF42EC0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112513032"/>
        <c:axId val="112515080"/>
      </c:barChart>
      <c:catAx>
        <c:axId val="112513032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5080"/>
        <c:crosses val="autoZero"/>
        <c:auto val="1"/>
        <c:lblAlgn val="ctr"/>
        <c:lblOffset val="100"/>
        <c:noMultiLvlLbl val="0"/>
      </c:catAx>
      <c:valAx>
        <c:axId val="112515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5130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f>Sheet1!$A$2:$A$5</cx:f>
        <cx:lvl ptCount="4">
          <cx:pt idx="0">January</cx:pt>
          <cx:pt idx="1">March</cx:pt>
          <cx:pt idx="2">May</cx:pt>
          <cx:pt idx="3">July</cx:pt>
        </cx:lvl>
      </cx:strDim>
      <cx:numDim type="val">
        <cx:f>Sheet1!$B$2:$B$5</cx:f>
        <cx:lvl ptCount="4" formatCode="General">
          <cx:pt idx="0">4.2999999999999998</cx:pt>
          <cx:pt idx="1">2.5</cx:pt>
          <cx:pt idx="2">3.5</cx:pt>
          <cx:pt idx="3">4.5</cx:pt>
        </cx:lvl>
      </cx:numDim>
    </cx:data>
    <cx:data id="1">
      <cx:strDim type="cat">
        <cx:f>Sheet1!$A$2:$A$5</cx:f>
        <cx:lvl ptCount="4">
          <cx:pt idx="0">January</cx:pt>
          <cx:pt idx="1">March</cx:pt>
          <cx:pt idx="2">May</cx:pt>
          <cx:pt idx="3">July</cx:pt>
        </cx:lvl>
      </cx:strDim>
      <cx:numDim type="val">
        <cx:f>Sheet1!$C$2:$C$5</cx:f>
        <cx:lvl ptCount="4" formatCode="General">
          <cx:pt idx="0">2.3999999999999999</cx:pt>
          <cx:pt idx="1">4.4000000000000004</cx:pt>
          <cx:pt idx="2">1.8</cx:pt>
          <cx:pt idx="3">2.7999999999999998</cx:pt>
        </cx:lvl>
      </cx:numDim>
    </cx:data>
    <cx:data id="2">
      <cx:strDim type="cat">
        <cx:f>Sheet1!$A$2:$A$5</cx:f>
        <cx:lvl ptCount="4">
          <cx:pt idx="0">January</cx:pt>
          <cx:pt idx="1">March</cx:pt>
          <cx:pt idx="2">May</cx:pt>
          <cx:pt idx="3">July</cx:pt>
        </cx:lvl>
      </cx:strDim>
      <cx:numDim type="val">
        <cx:f>Sheet1!$D$2:$D$5</cx:f>
        <cx:lvl ptCount="4" formatCode="General">
          <cx:pt idx="0">2</cx:pt>
          <cx:pt idx="1">2</cx:pt>
          <cx:pt idx="2">3</cx:pt>
          <cx:pt idx="3">5</cx:pt>
        </cx:lvl>
      </cx:numDim>
    </cx:data>
  </cx:chartData>
  <cx:chart>
    <cx:title pos="t" align="ctr" overlay="0">
      <cx:tx>
        <cx:txData>
          <cx:v>Positive Customer Feedback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862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r>
            <a:rPr kumimoji="0" lang="en-US" sz="1862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Aptos Narrow" panose="02110004020202020204"/>
            </a:rPr>
            <a:t>Positive Customer Feedback</a:t>
          </a:r>
        </a:p>
      </cx:txPr>
    </cx:title>
    <cx:plotArea>
      <cx:plotAreaRegion>
        <cx:series layoutId="clusteredColumn" uniqueId="{4E425D69-462A-4B52-A77C-046F470F1928}" formatIdx="0">
          <cx:tx>
            <cx:txData>
              <cx:f>Sheet1!$B$1</cx:f>
              <cx:v>Series 1</cx:v>
            </cx:txData>
          </cx:tx>
          <cx:spPr>
            <a:solidFill>
              <a:srgbClr val="153D64"/>
            </a:solidFill>
            <a:ln w="12700">
              <a:solidFill>
                <a:srgbClr val="215C98"/>
              </a:solidFill>
              <a:prstDash val="solid"/>
            </a:ln>
          </cx:spPr>
          <cx:dataId val="0"/>
          <cx:layoutPr>
            <cx:aggregation/>
          </cx:layoutPr>
          <cx:axisId val="1"/>
        </cx:series>
        <cx:series layoutId="paretoLine" ownerIdx="0" uniqueId="{99FF3152-E100-4AA7-8DC6-20B4E4524CA2}" formatIdx="1">
          <cx:spPr>
            <a:ln w="12700">
              <a:solidFill>
                <a:srgbClr val="A6C9EC"/>
              </a:solidFill>
              <a:prstDash val="solid"/>
            </a:ln>
          </cx:spPr>
          <cx:axisId val="2"/>
        </cx:series>
        <cx:series layoutId="clusteredColumn" hidden="1" uniqueId="{9EA59364-3AEA-4320-91E3-4683438DC7BA}" formatIdx="2">
          <cx:tx>
            <cx:txData>
              <cx:f>Sheet1!$C$1</cx:f>
              <cx:v>Series 2</cx:v>
            </cx:txData>
          </cx:tx>
          <cx:dataId val="1"/>
          <cx:layoutPr>
            <cx:aggregation/>
          </cx:layoutPr>
          <cx:axisId val="1"/>
        </cx:series>
        <cx:series layoutId="paretoLine" ownerIdx="2" uniqueId="{90CD4176-D9F7-40F6-8149-CF9E1694D5FF}" formatIdx="3">
          <cx:axisId val="2"/>
        </cx:series>
        <cx:series layoutId="clusteredColumn" hidden="1" uniqueId="{5F66788D-AC00-4F6A-8F1E-53B20ED3BF98}" formatIdx="4">
          <cx:tx>
            <cx:txData>
              <cx:v>Series 3</cx:v>
            </cx:txData>
          </cx:tx>
          <cx:dataId val="2"/>
          <cx:layoutPr>
            <cx:aggregation/>
          </cx:layoutPr>
          <cx:axisId val="1"/>
        </cx:series>
        <cx:series layoutId="paretoLine" ownerIdx="4" uniqueId="{A673AC4D-5BB2-4BCF-A745-631A34982EA1}" formatIdx="5">
          <cx:axisId val="2"/>
        </cx:series>
      </cx:plotAreaRegion>
      <cx:axis id="0">
        <cx:catScaling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  <cx:axis id="2">
        <cx:valScaling max="1" min="0"/>
        <cx:units unit="percentage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f>Sheet1!$A$2:$A$5</cx:f>
        <cx:lvl ptCount="4">
          <cx:pt idx="0">May</cx:pt>
          <cx:pt idx="1">Dec</cx:pt>
          <cx:pt idx="2">Sep</cx:pt>
          <cx:pt idx="3">Jan</cx:pt>
        </cx:lvl>
      </cx:strDim>
      <cx:numDim type="val">
        <cx:f>Sheet1!$B$2:$B$5</cx:f>
        <cx:lvl ptCount="4" formatCode="General">
          <cx:pt idx="0">4.2999999999999998</cx:pt>
          <cx:pt idx="1">2.5</cx:pt>
          <cx:pt idx="2">3.5</cx:pt>
          <cx:pt idx="3">4.5</cx:pt>
        </cx:lvl>
      </cx:numDim>
    </cx:data>
    <cx:data id="1">
      <cx:strDim type="cat">
        <cx:f>Sheet1!$A$2:$A$5</cx:f>
        <cx:lvl ptCount="4">
          <cx:pt idx="0">May</cx:pt>
          <cx:pt idx="1">Dec</cx:pt>
          <cx:pt idx="2">Sep</cx:pt>
          <cx:pt idx="3">Jan</cx:pt>
        </cx:lvl>
      </cx:strDim>
      <cx:numDim type="val">
        <cx:f>Sheet1!$C$2:$C$5</cx:f>
        <cx:lvl ptCount="4" formatCode="General">
          <cx:pt idx="0">2.3999999999999999</cx:pt>
          <cx:pt idx="1">4.4000000000000004</cx:pt>
          <cx:pt idx="2">1.8</cx:pt>
          <cx:pt idx="3">2.7999999999999998</cx:pt>
        </cx:lvl>
      </cx:numDim>
    </cx:data>
    <cx:data id="2">
      <cx:strDim type="cat">
        <cx:f>Sheet1!$A$2:$A$5</cx:f>
        <cx:lvl ptCount="4">
          <cx:pt idx="0">May</cx:pt>
          <cx:pt idx="1">Dec</cx:pt>
          <cx:pt idx="2">Sep</cx:pt>
          <cx:pt idx="3">Jan</cx:pt>
        </cx:lvl>
      </cx:strDim>
      <cx:numDim type="val">
        <cx:f>Sheet1!$D$2:$D$5</cx:f>
        <cx:lvl ptCount="4" formatCode="General">
          <cx:pt idx="0">2</cx:pt>
          <cx:pt idx="1">2</cx:pt>
          <cx:pt idx="2">3</cx:pt>
          <cx:pt idx="3">5</cx:pt>
        </cx:lvl>
      </cx:numDim>
    </cx:data>
  </cx:chartData>
  <cx:chart>
    <cx:title pos="t" align="ctr" overlay="0">
      <cx:tx>
        <cx:txData>
          <cx:v>Monthly Users</cx:v>
        </cx:txData>
      </cx:tx>
      <cx:txPr>
        <a:bodyPr rot="0" spcFirstLastPara="1" vertOverflow="ellipsis" vert="horz" wrap="square" lIns="38100" tIns="19050" rIns="38100" bIns="19050" anchor="ctr" anchorCtr="1" compatLnSpc="0"/>
        <a:lstStyle/>
        <a:p>
          <a:pPr algn="ctr" rtl="0"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r>
            <a:rPr kumimoji="0" lang="en-US" sz="1862" b="0" i="0" u="none" strike="noStrike" kern="1200" cap="none" spc="0" normalizeH="0" baseline="0" noProof="0">
              <a:ln>
                <a:noFill/>
              </a:ln>
              <a:solidFill>
                <a:sysClr val="windowText" lastClr="000000">
                  <a:lumMod val="65000"/>
                  <a:lumOff val="35000"/>
                </a:sysClr>
              </a:solidFill>
              <a:effectLst/>
              <a:uLnTx/>
              <a:uFillTx/>
              <a:latin typeface="Aptos Narrow" panose="02110004020202020204"/>
            </a:rPr>
            <a:t>Monthly Users</a:t>
          </a:r>
        </a:p>
      </cx:txPr>
    </cx:title>
    <cx:plotArea>
      <cx:plotAreaRegion>
        <cx:series layoutId="clusteredColumn" uniqueId="{D96F8402-861F-4422-A0DC-C1D26A45A1D1}" formatIdx="0">
          <cx:tx>
            <cx:txData>
              <cx:f>Sheet1!$B$1</cx:f>
              <cx:v>Series 1</cx:v>
            </cx:txData>
          </cx:tx>
          <cx:spPr>
            <a:solidFill>
              <a:srgbClr val="153D64"/>
            </a:solidFill>
            <a:ln w="12700">
              <a:solidFill>
                <a:srgbClr val="215C98"/>
              </a:solidFill>
              <a:prstDash val="solid"/>
            </a:ln>
          </cx:spPr>
          <cx:dataId val="0"/>
          <cx:layoutPr>
            <cx:aggregation/>
          </cx:layoutPr>
          <cx:axisId val="1"/>
        </cx:series>
        <cx:series layoutId="paretoLine" ownerIdx="0" uniqueId="{72A82321-2A23-4D14-B2EA-60D12EA94FD5}" formatIdx="1">
          <cx:spPr>
            <a:ln w="12700">
              <a:solidFill>
                <a:srgbClr val="215C98"/>
              </a:solidFill>
              <a:prstDash val="solid"/>
            </a:ln>
          </cx:spPr>
          <cx:axisId val="2"/>
        </cx:series>
        <cx:series layoutId="clusteredColumn" hidden="1" uniqueId="{6F65CAAF-9868-4F17-8C30-1AC816BE325A}" formatIdx="2">
          <cx:tx>
            <cx:txData>
              <cx:f>Sheet1!$C$1</cx:f>
              <cx:v>Series 2</cx:v>
            </cx:txData>
          </cx:tx>
          <cx:dataId val="1"/>
          <cx:layoutPr>
            <cx:aggregation/>
          </cx:layoutPr>
          <cx:axisId val="1"/>
        </cx:series>
        <cx:series layoutId="paretoLine" ownerIdx="2" uniqueId="{F339D096-BDDD-4090-9F21-8A139A28DD0F}" formatIdx="3">
          <cx:axisId val="2"/>
        </cx:series>
        <cx:series layoutId="clusteredColumn" hidden="1" uniqueId="{CF404F11-C085-4A8C-8CC6-FD9F38787608}" formatIdx="4">
          <cx:tx>
            <cx:txData>
              <cx:v>Series 3</cx:v>
            </cx:txData>
          </cx:tx>
          <cx:dataId val="2"/>
          <cx:layoutPr>
            <cx:aggregation/>
          </cx:layoutPr>
          <cx:axisId val="1"/>
        </cx:series>
        <cx:series layoutId="paretoLine" ownerIdx="4" uniqueId="{F9A3AA1D-DB13-4B8B-B5E5-6ECF8D083952}" formatIdx="5">
          <cx:axisId val="2"/>
        </cx:series>
      </cx:plotAreaRegion>
      <cx:axis id="0">
        <cx:catScaling gapWidth="2.19000006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  <cx:axis id="2">
        <cx:valScaling max="1" min="0"/>
        <cx:units unit="percentage"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/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7622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2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7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8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75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2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9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02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6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9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Measurements of Success, </a:t>
            </a:r>
            <a:br>
              <a:rPr lang="en-US" sz="4400">
                <a:ea typeface="+mj-lt"/>
                <a:cs typeface="+mj-lt"/>
              </a:rPr>
            </a:br>
            <a:r>
              <a:rPr lang="en-US" sz="4400">
                <a:ea typeface="+mj-lt"/>
                <a:cs typeface="+mj-lt"/>
              </a:rPr>
              <a:t>Support SLA,</a:t>
            </a:r>
            <a:br>
              <a:rPr lang="en-US" sz="4400">
                <a:ea typeface="+mj-lt"/>
                <a:cs typeface="+mj-lt"/>
              </a:rPr>
            </a:br>
            <a:r>
              <a:rPr lang="en-US" sz="4400">
                <a:ea typeface="+mj-lt"/>
                <a:cs typeface="+mj-lt"/>
              </a:rPr>
              <a:t>Troubleshooting &amp; Escalation Process,</a:t>
            </a:r>
            <a:br>
              <a:rPr lang="en-US" sz="4400">
                <a:ea typeface="+mj-lt"/>
                <a:cs typeface="+mj-lt"/>
              </a:rPr>
            </a:br>
            <a:r>
              <a:rPr lang="en-US" sz="4400">
                <a:ea typeface="+mj-lt"/>
                <a:cs typeface="+mj-lt"/>
              </a:rPr>
              <a:t>&amp; Pricing &amp; Licensing Model</a:t>
            </a:r>
            <a:endParaRPr lang="en-US" sz="440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CBF24D1-14B1-5BD4-FCA7-7B71D0DACE52}"/>
              </a:ext>
            </a:extLst>
          </p:cNvPr>
          <p:cNvSpPr>
            <a:spLocks noGrp="1"/>
          </p:cNvSpPr>
          <p:nvPr/>
        </p:nvSpPr>
        <p:spPr>
          <a:xfrm>
            <a:off x="576072" y="4727448"/>
            <a:ext cx="11036808" cy="14813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Athziri Vega, Carter Ward, Jeremy Martel, Logan Foster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42BF-2A32-1330-22B7-8C2898CB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Measurements of Success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E0E52-3F84-48ED-D76C-54B2290C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7615-1607-4BC2-B343-035E5FC35B03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96D3-6EF5-6019-83FF-76EB1417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8EC6E-8FAD-5936-0D11-9DEAB46E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8E4F4450-CF63-4260-8EB2-D53FFFBA84A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31578351"/>
                  </p:ext>
                </p:extLst>
              </p:nvPr>
            </p:nvGraphicFramePr>
            <p:xfrm>
              <a:off x="0" y="3431268"/>
              <a:ext cx="7620000" cy="284752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8E4F4450-CF63-4260-8EB2-D53FFFBA84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431268"/>
                <a:ext cx="7620000" cy="2847522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E5A70E3-80EF-98A0-20BE-E0125863B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05578"/>
              </p:ext>
            </p:extLst>
          </p:nvPr>
        </p:nvGraphicFramePr>
        <p:xfrm>
          <a:off x="2490651" y="2231861"/>
          <a:ext cx="4751516" cy="10342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75758">
                  <a:extLst>
                    <a:ext uri="{9D8B030D-6E8A-4147-A177-3AD203B41FA5}">
                      <a16:colId xmlns:a16="http://schemas.microsoft.com/office/drawing/2014/main" val="3740626728"/>
                    </a:ext>
                  </a:extLst>
                </a:gridCol>
                <a:gridCol w="2375758">
                  <a:extLst>
                    <a:ext uri="{9D8B030D-6E8A-4147-A177-3AD203B41FA5}">
                      <a16:colId xmlns:a16="http://schemas.microsoft.com/office/drawing/2014/main" val="2477026421"/>
                    </a:ext>
                  </a:extLst>
                </a:gridCol>
              </a:tblGrid>
              <a:tr h="349475">
                <a:tc>
                  <a:txBody>
                    <a:bodyPr/>
                    <a:lstStyle/>
                    <a:p>
                      <a:r>
                        <a:rPr lang="en-US" sz="1600"/>
                        <a:t>Solving 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71425"/>
                  </a:ext>
                </a:extLst>
              </a:tr>
              <a:tr h="349475">
                <a:tc>
                  <a:txBody>
                    <a:bodyPr/>
                    <a:lstStyle/>
                    <a:p>
                      <a:r>
                        <a:rPr lang="en-US" sz="1600"/>
                        <a:t>Solved at First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85%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112883"/>
                  </a:ext>
                </a:extLst>
              </a:tr>
              <a:tr h="200625">
                <a:tc>
                  <a:txBody>
                    <a:bodyPr/>
                    <a:lstStyle/>
                    <a:p>
                      <a:r>
                        <a:rPr lang="en-US" sz="1600"/>
                        <a:t>Required Follow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01481"/>
                  </a:ext>
                </a:extLst>
              </a:tr>
            </a:tbl>
          </a:graphicData>
        </a:graphic>
      </p:graphicFrame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40D63CE-8986-1437-0E96-EAA241FCE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6" y="1977281"/>
            <a:ext cx="3847158" cy="7622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Support: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7B23C72-BE01-A42F-8108-0AFC2A7CD0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5131205"/>
              </p:ext>
            </p:extLst>
          </p:nvPr>
        </p:nvGraphicFramePr>
        <p:xfrm>
          <a:off x="7844971" y="2016125"/>
          <a:ext cx="4354286" cy="3348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D708D0C-475C-E6B8-A740-C589765A6A5D}"/>
              </a:ext>
            </a:extLst>
          </p:cNvPr>
          <p:cNvSpPr txBox="1"/>
          <p:nvPr/>
        </p:nvSpPr>
        <p:spPr>
          <a:xfrm rot="16200000">
            <a:off x="6390368" y="2944812"/>
            <a:ext cx="27432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Tickets Received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71EFDC-01E3-1BA7-9DD4-3ACE3B531525}"/>
              </a:ext>
            </a:extLst>
          </p:cNvPr>
          <p:cNvSpPr txBox="1"/>
          <p:nvPr/>
        </p:nvSpPr>
        <p:spPr>
          <a:xfrm>
            <a:off x="8160317" y="5362575"/>
            <a:ext cx="41220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Tickets Resolved within company guaranteed time</a:t>
            </a:r>
          </a:p>
        </p:txBody>
      </p:sp>
    </p:spTree>
    <p:extLst>
      <p:ext uri="{BB962C8B-B14F-4D97-AF65-F5344CB8AC3E}">
        <p14:creationId xmlns:p14="http://schemas.microsoft.com/office/powerpoint/2010/main" val="3999005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ECB4-B4A7-0375-B4C5-7F47CD310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Measurements of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CEE80-05CB-DCFC-79E6-AF11D10A4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339" y="2194995"/>
            <a:ext cx="2359442" cy="6171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Product: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92973-A977-8FB5-25B8-CE3900BA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8DEA5-3700-47A3-9DD9-A3CAD15D1697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CB57-FB0D-374D-6F7F-A7B8F6E1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D0414-3795-3FD0-C285-A5C16F7D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F971-AB0A-057E-365A-BB8F12939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231446"/>
              </p:ext>
            </p:extLst>
          </p:nvPr>
        </p:nvGraphicFramePr>
        <p:xfrm>
          <a:off x="232228" y="3730170"/>
          <a:ext cx="5965966" cy="1005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82983">
                  <a:extLst>
                    <a:ext uri="{9D8B030D-6E8A-4147-A177-3AD203B41FA5}">
                      <a16:colId xmlns:a16="http://schemas.microsoft.com/office/drawing/2014/main" val="4223109200"/>
                    </a:ext>
                  </a:extLst>
                </a:gridCol>
                <a:gridCol w="2982983">
                  <a:extLst>
                    <a:ext uri="{9D8B030D-6E8A-4147-A177-3AD203B41FA5}">
                      <a16:colId xmlns:a16="http://schemas.microsoft.com/office/drawing/2014/main" val="145541202"/>
                    </a:ext>
                  </a:extLst>
                </a:gridCol>
              </a:tblGrid>
              <a:tr h="187337">
                <a:tc>
                  <a:txBody>
                    <a:bodyPr/>
                    <a:lstStyle/>
                    <a:p>
                      <a:r>
                        <a:rPr lang="en-US" sz="1600"/>
                        <a:t>User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234740"/>
                  </a:ext>
                </a:extLst>
              </a:tr>
              <a:tr h="187337">
                <a:tc>
                  <a:txBody>
                    <a:bodyPr/>
                    <a:lstStyle/>
                    <a:p>
                      <a:r>
                        <a:rPr lang="en-US" sz="1600"/>
                        <a:t>Renewed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926266"/>
                  </a:ext>
                </a:extLst>
              </a:tr>
              <a:tr h="187337">
                <a:tc>
                  <a:txBody>
                    <a:bodyPr/>
                    <a:lstStyle/>
                    <a:p>
                      <a:r>
                        <a:rPr lang="en-US" sz="1600"/>
                        <a:t>Did Not Renew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71969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3BE90BEF-778B-B652-7CD1-D2FBCC2FC74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170742384"/>
                  </p:ext>
                </p:extLst>
              </p:nvPr>
            </p:nvGraphicFramePr>
            <p:xfrm>
              <a:off x="6197599" y="1936295"/>
              <a:ext cx="6096000" cy="458197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3BE90BEF-778B-B652-7CD1-D2FBCC2FC7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7599" y="1936295"/>
                <a:ext cx="6096000" cy="458197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23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B329-2F41-589A-093C-9E0BD2FA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SLA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C13A5-AFD3-05D6-8008-7794DF9E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83" y="2478024"/>
            <a:ext cx="11161227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Service and Support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Submitted through a dedicated SEA Support Portal, separate from the general </a:t>
            </a:r>
            <a:r>
              <a:rPr lang="en-US" sz="1000" err="1">
                <a:ea typeface="+mn-lt"/>
                <a:cs typeface="+mn-lt"/>
              </a:rPr>
              <a:t>Evisions</a:t>
            </a:r>
            <a:r>
              <a:rPr lang="en-US" sz="1000">
                <a:ea typeface="+mn-lt"/>
                <a:cs typeface="+mn-lt"/>
              </a:rPr>
              <a:t> helpdesk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Monitored Monday through Friday, 6:00 AM to 6:00 PM CT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All requests must include institution name, affected feature area, and expected versus actual behavior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A named support contact assigned to each account within 5 business days of contract signing</a:t>
            </a:r>
            <a:endParaRPr lang="en-US" sz="1000"/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Response Priority Tiers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Critical:</a:t>
            </a:r>
            <a:r>
              <a:rPr lang="en-US" sz="1000">
                <a:ea typeface="+mn-lt"/>
                <a:cs typeface="+mn-lt"/>
              </a:rPr>
              <a:t> Dashboard inaccessible or scores not calculating institution-wide. Response within 2 hours, 7 days a week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Significant:</a:t>
            </a:r>
            <a:r>
              <a:rPr lang="en-US" sz="1000">
                <a:ea typeface="+mn-lt"/>
                <a:cs typeface="+mn-lt"/>
              </a:rPr>
              <a:t> Core feature broken but platform accessible. Response within 4 business hours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Moderate:</a:t>
            </a:r>
            <a:r>
              <a:rPr lang="en-US" sz="1000">
                <a:ea typeface="+mn-lt"/>
                <a:cs typeface="+mn-lt"/>
              </a:rPr>
              <a:t> Data displaying incorrectly, filter returning inconsistent results. Response within 2 business days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Informational:</a:t>
            </a:r>
            <a:r>
              <a:rPr lang="en-US" sz="1000">
                <a:ea typeface="+mn-lt"/>
                <a:cs typeface="+mn-lt"/>
              </a:rPr>
              <a:t> Navigation questions, feature clarification, non-urgent configuration. Response within 4 business days</a:t>
            </a:r>
            <a:endParaRPr lang="en-US" sz="1000"/>
          </a:p>
          <a:p>
            <a:r>
              <a:rPr lang="en-US" sz="1000" b="1">
                <a:ea typeface="+mn-lt"/>
                <a:cs typeface="+mn-lt"/>
              </a:rPr>
              <a:t>Platform Availability and Integrations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99.7% monthly uptime guaranteed; clients receive a 5% billing credit per full percentage point below the threshold due to an </a:t>
            </a:r>
            <a:r>
              <a:rPr lang="en-US" sz="1000" err="1">
                <a:ea typeface="+mn-lt"/>
                <a:cs typeface="+mn-lt"/>
              </a:rPr>
              <a:t>Evisions</a:t>
            </a:r>
            <a:r>
              <a:rPr lang="en-US" sz="1000">
                <a:ea typeface="+mn-lt"/>
                <a:cs typeface="+mn-lt"/>
              </a:rPr>
              <a:t>-side failure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Planned maintenance scheduled weekends between 11:00 PM and 3:00 AM CT with 5 business days advance notice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err="1">
                <a:ea typeface="+mn-lt"/>
                <a:cs typeface="+mn-lt"/>
              </a:rPr>
              <a:t>Evisions</a:t>
            </a:r>
            <a:r>
              <a:rPr lang="en-US" sz="1000">
                <a:ea typeface="+mn-lt"/>
                <a:cs typeface="+mn-lt"/>
              </a:rPr>
              <a:t> monitors all managed integration pipelines and notifies clients within 3 business hours of a detected sync failure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Clients receive a monthly integration health report covering sync success rates, data latency, and incidents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Failures originating in the institution's own campus systems are outside scope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8CF19-8AD9-6A17-D4CE-49466A5A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93A8-46E4-4789-9147-854479BFABA9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04B76-E8A9-1F5D-A37F-EC0D9BF7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64EB-BCB2-CA5A-C671-2ABBB5B3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8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ACB46-A956-E08E-705C-FCBB78F6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DFB1-6AEB-3865-E964-427CF526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 SLA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CC2D-9717-B2A0-06E7-49CE81D7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83" y="2478024"/>
            <a:ext cx="11161227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Support Inclusions and Exclusions</a:t>
            </a:r>
            <a:endParaRPr lang="en-US" sz="1000" b="1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Included:</a:t>
            </a:r>
            <a:r>
              <a:rPr lang="en-US" sz="1000">
                <a:ea typeface="+mn-lt"/>
                <a:cs typeface="+mn-lt"/>
              </a:rPr>
              <a:t> engagement score errors, at-risk flagging and filter logic, events and club meeting data, referral workflows, and onboarding support within the first 90 days post-implementation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 b="1">
                <a:ea typeface="+mn-lt"/>
                <a:cs typeface="+mn-lt"/>
              </a:rPr>
              <a:t>Excluded: </a:t>
            </a:r>
            <a:r>
              <a:rPr lang="en-US" sz="1000">
                <a:ea typeface="+mn-lt"/>
                <a:cs typeface="+mn-lt"/>
              </a:rPr>
              <a:t>data accuracy issues from third party systems, custom scoring changes post-implementation, FERPA disputes, staff training on data interpretation, and any platform modifications made without </a:t>
            </a:r>
            <a:r>
              <a:rPr lang="en-US" sz="1000" err="1">
                <a:ea typeface="+mn-lt"/>
                <a:cs typeface="+mn-lt"/>
              </a:rPr>
              <a:t>Evisions</a:t>
            </a:r>
            <a:r>
              <a:rPr lang="en-US" sz="1000">
                <a:ea typeface="+mn-lt"/>
                <a:cs typeface="+mn-lt"/>
              </a:rPr>
              <a:t>' written approval</a:t>
            </a:r>
            <a:endParaRPr lang="en-US" sz="1000"/>
          </a:p>
          <a:p>
            <a:pPr>
              <a:lnSpc>
                <a:spcPct val="100000"/>
              </a:lnSpc>
            </a:pPr>
            <a:r>
              <a:rPr lang="en-US" sz="1000" b="1">
                <a:ea typeface="+mn-lt"/>
                <a:cs typeface="+mn-lt"/>
              </a:rPr>
              <a:t>Version Support and Client Responsibilities</a:t>
            </a:r>
            <a:endParaRPr lang="en-US" sz="1000" b="1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Current release and one prior minor version supported; quarterly minor releases, one major release per academic year before fall semester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60 days advance notice before any version moves to unsupported; clients on unsupported versions are ineligible for Critical and Significant tier response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Client must maintain active integrations, notify </a:t>
            </a:r>
            <a:r>
              <a:rPr lang="en-US" sz="1000" err="1">
                <a:ea typeface="+mn-lt"/>
                <a:cs typeface="+mn-lt"/>
              </a:rPr>
              <a:t>Evisions</a:t>
            </a:r>
            <a:r>
              <a:rPr lang="en-US" sz="1000">
                <a:ea typeface="+mn-lt"/>
                <a:cs typeface="+mn-lt"/>
              </a:rPr>
              <a:t> 15 business days before any upstream system changes, and designate at least one internal SEA administrator</a:t>
            </a: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sz="1000">
                <a:ea typeface="+mn-lt"/>
                <a:cs typeface="+mn-lt"/>
              </a:rPr>
              <a:t>Extended coverage available at 12% of annual license fee for weekend Critical and Significant tier response</a:t>
            </a:r>
            <a:endParaRPr lang="en-US" sz="1000"/>
          </a:p>
          <a:p>
            <a:pPr>
              <a:lnSpc>
                <a:spcPct val="100000"/>
              </a:lnSpc>
            </a:pPr>
            <a:endParaRPr lang="en-US" sz="1000" b="1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en-US" sz="1000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endParaRPr lang="en-US" sz="10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68904-B6B9-5EAE-3EBD-C3B0F7760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93A8-46E4-4789-9147-854479BFABA9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3823-7DE2-A8E7-962B-AB97BE57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8493F-61CC-8BBD-EEFD-6028BE19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80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50BF1-C946-50E6-1492-1C8B355E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70A2-6F93-7FA7-1AA6-55718863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</a:t>
            </a:r>
            <a:r>
              <a:rPr lang="en-US">
                <a:ea typeface="+mj-lt"/>
                <a:cs typeface="+mj-lt"/>
              </a:rPr>
              <a:t>roubleshooting &amp; Escalation Process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C42BF-4FF1-9263-97C3-7FCF5F319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900" b="1"/>
              <a:t>Step 1: Intake and Triage</a:t>
            </a:r>
            <a:endParaRPr lang="en-US" sz="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/>
              <a:t>Confirm request includes institution name, affected feature area, and expected versus actual behavior before beginning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/>
              <a:t>Assign priority tier (Critical, Significant, Moderate, Informational), start the response clock, and log in the SEA Support Portal</a:t>
            </a:r>
          </a:p>
          <a:p>
            <a:r>
              <a:rPr lang="en-US" sz="900" b="1"/>
              <a:t>Step 2: Analyst Troubleshooting</a:t>
            </a:r>
            <a:endParaRPr lang="en-US" sz="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Engagement Scores: </a:t>
            </a:r>
            <a:r>
              <a:rPr lang="en-US" sz="900"/>
              <a:t>Confirm last sync for all integrations, check if issue is institution-wide or isolated, verify filters are not skewing averages, confirm nightly recalculation job completed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At-Risk List: </a:t>
            </a:r>
            <a:r>
              <a:rPr lang="en-US" sz="900"/>
              <a:t>Verify no unintended filters are stacked, confirm threshold configuration is active, search for missing students directly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Events: </a:t>
            </a:r>
            <a:r>
              <a:rPr lang="en-US" sz="900"/>
              <a:t>Check Date and Reserved filters, confirm event is published and active in the source system, verify last sync timestamp</a:t>
            </a:r>
          </a:p>
          <a:p>
            <a:r>
              <a:rPr lang="en-US" sz="900" b="1"/>
              <a:t>Step 3: Escalation Paths</a:t>
            </a:r>
            <a:endParaRPr lang="en-US" sz="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Tier 1: Senior Support Analyst </a:t>
            </a:r>
            <a:r>
              <a:rPr lang="en-US" sz="900"/>
              <a:t>→ Analyst completed all checks, root cause still unknown; hand off full notes, steps taken, and screenshots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Tier 2: Data Engineering </a:t>
            </a:r>
            <a:r>
              <a:rPr lang="en-US" sz="900"/>
              <a:t>→ Suspected pipeline failure or sync error; hand off integration health data, sync timestamps, and affected data source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Tier 3: Software Engineering </a:t>
            </a:r>
            <a:r>
              <a:rPr lang="en-US" sz="900"/>
              <a:t>→ Confirmed platform bug or regression; hand off reproducible steps, SEA version, and a drafted Jira ticket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 b="1"/>
              <a:t>Tier 4: Product </a:t>
            </a:r>
            <a:r>
              <a:rPr lang="en-US" sz="900"/>
              <a:t>→ Issue reveals a product gap or missing feature; hand off client use case summary and frequency across the client base</a:t>
            </a:r>
          </a:p>
          <a:p>
            <a:r>
              <a:rPr lang="en-US" sz="900" b="1"/>
              <a:t>Step 4: Client Communication and Closure</a:t>
            </a:r>
            <a:endParaRPr lang="en-US" sz="9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/>
              <a:t>Acknowledge every ticket within the SLA window; send daily status updates while open; never commit to a resolution timeline without engineering confirmation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900"/>
              <a:t>Close only after client confirms resolution or after 5 business days of no response; log root cause, resolution steps, and escalation path before closing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A2A64-F552-8881-C8D4-1FAC6B97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593A8-46E4-4789-9147-854479BFABA9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C9799-111C-3271-FA55-50D27BE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99160-16D7-FE7F-B4F0-18D76FCA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54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CE30-BC8D-774C-9DAE-43F405713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Pricing &amp; Licensing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F893-1CD8-71CC-8EE9-B35BD776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/>
              <a:t>Basic version would be a licensed model, yearly with a discount for signing up for more than 1 year.</a:t>
            </a:r>
          </a:p>
          <a:p>
            <a:r>
              <a:rPr lang="en-US"/>
              <a:t>Basic/certain amount of time support included in any version.</a:t>
            </a:r>
          </a:p>
          <a:p>
            <a:r>
              <a:rPr lang="en-US"/>
              <a:t>Advanced/longer required support might be charged, would be dependent on the need shown and work required.</a:t>
            </a:r>
          </a:p>
          <a:p>
            <a:r>
              <a:rPr lang="en-US"/>
              <a:t>Bundle with other </a:t>
            </a:r>
            <a:r>
              <a:rPr lang="en-US" err="1"/>
              <a:t>Evisions</a:t>
            </a:r>
            <a:r>
              <a:rPr lang="en-US"/>
              <a:t> products likely, especially if applications can work together.</a:t>
            </a:r>
          </a:p>
          <a:p>
            <a:r>
              <a:rPr lang="en-US"/>
              <a:t>Different prices for school size possible, would depend on if larger schools would take a notably larger amount of resources to support on our end.</a:t>
            </a:r>
          </a:p>
          <a:p>
            <a:r>
              <a:rPr lang="en-US" dirty="0"/>
              <a:t>Paid virtual trainings available later after employees were </a:t>
            </a:r>
            <a:r>
              <a:rPr lang="en-US"/>
              <a:t>comfortable</a:t>
            </a:r>
            <a:r>
              <a:rPr lang="en-US" dirty="0"/>
              <a:t> enough to be able to train in the application, and any potential major issues had been ironed out.</a:t>
            </a: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31D2F-6CF8-F446-6CA7-40D254C3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DE219-F5CD-4A3F-A9D9-B3698C6133AD}" type="datetime1"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EF0E0-E2E3-A2EF-181E-8067A589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DFAF9-F279-DE45-1A62-F0A2FF9E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8058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AccentBoxVTI</vt:lpstr>
      <vt:lpstr>Measurements of Success,  Support SLA, Troubleshooting &amp; Escalation Process, &amp; Pricing &amp; Licensing Model</vt:lpstr>
      <vt:lpstr>Measurements of Success</vt:lpstr>
      <vt:lpstr>Measurements of Success</vt:lpstr>
      <vt:lpstr>Support SLA</vt:lpstr>
      <vt:lpstr>Support SLA (Cont.)</vt:lpstr>
      <vt:lpstr>Troubleshooting &amp; Escalation Process</vt:lpstr>
      <vt:lpstr>Pricing &amp; Licensing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2026-06-30T19:37:56Z</dcterms:created>
  <dcterms:modified xsi:type="dcterms:W3CDTF">2026-07-01T20:41:15Z</dcterms:modified>
</cp:coreProperties>
</file>