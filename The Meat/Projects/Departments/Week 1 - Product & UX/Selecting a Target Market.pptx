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6" r:id="rId2"/>
    <p:sldId id="259" r:id="rId3"/>
    <p:sldId id="257"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9100EA-0C72-953D-E497-74FFD6C7307A}" v="52" dt="2026-06-01T21:12:53.409"/>
    <p1510:client id="{5F273415-52B5-8666-6014-B32B1C628632}" v="653" dt="2026-06-01T21:22:34.065"/>
    <p1510:client id="{71A5D779-BAF5-88A3-6315-F8B350392E32}" v="4" dt="2026-06-02T16:09:35.815"/>
    <p1510:client id="{A6FC78EC-6090-8FFE-88DE-96F70EEF8FFA}" v="84" dt="2026-06-02T16:39:33.769"/>
    <p1510:client id="{B339DF94-E813-CDF6-C470-D7BCC21C9181}" v="257" dt="2026-06-01T21:10:33.8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7/17/2026</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65513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7/17/2026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500976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7/17/2026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987753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7/17/2026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638819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7/17/2026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662266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7/17/2026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058304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7/17/2026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5176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7/17/2026</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380425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7/17/2026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18550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7/17/2026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25370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7/17/2026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575591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7/17/2026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2849024662"/>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highereddive.com/spons/building-a-strong-campus-community-strategies-for-engagement-and-belonging/751566/" TargetMode="External"/><Relationship Id="rId2" Type="http://schemas.openxmlformats.org/officeDocument/2006/relationships/hyperlink" Target="https://engagement.gsu.edu/the-panther-experienc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Social Engagement Accelerator</a:t>
            </a:r>
          </a:p>
        </p:txBody>
      </p:sp>
      <p:sp>
        <p:nvSpPr>
          <p:cNvPr id="3" name="Subtitle 2"/>
          <p:cNvSpPr>
            <a:spLocks noGrp="1"/>
          </p:cNvSpPr>
          <p:nvPr>
            <p:ph type="subTitle" idx="1"/>
          </p:nvPr>
        </p:nvSpPr>
        <p:spPr/>
        <p:txBody>
          <a:bodyPr vert="horz" lIns="91440" tIns="45720" rIns="91440" bIns="45720" rtlCol="0" anchor="t">
            <a:normAutofit/>
          </a:bodyPr>
          <a:lstStyle/>
          <a:p>
            <a:endParaRPr lang="en-US"/>
          </a:p>
          <a:p>
            <a:r>
              <a:rPr lang="en-US">
                <a:ea typeface="+mn-lt"/>
                <a:cs typeface="+mn-lt"/>
              </a:rPr>
              <a:t>Athziri Vega, Carter Ward, Jeremy Martel, Logan Foster</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FFDDC-20BA-0F07-B261-EA18FB3ADF84}"/>
              </a:ext>
            </a:extLst>
          </p:cNvPr>
          <p:cNvSpPr>
            <a:spLocks noGrp="1"/>
          </p:cNvSpPr>
          <p:nvPr>
            <p:ph type="title"/>
          </p:nvPr>
        </p:nvSpPr>
        <p:spPr/>
        <p:txBody>
          <a:bodyPr/>
          <a:lstStyle/>
          <a:p>
            <a:r>
              <a:rPr lang="en-US"/>
              <a:t>What does it do</a:t>
            </a:r>
          </a:p>
        </p:txBody>
      </p:sp>
      <p:sp>
        <p:nvSpPr>
          <p:cNvPr id="3" name="Content Placeholder 2">
            <a:extLst>
              <a:ext uri="{FF2B5EF4-FFF2-40B4-BE49-F238E27FC236}">
                <a16:creationId xmlns:a16="http://schemas.microsoft.com/office/drawing/2014/main" id="{7CF0FC85-9F54-7968-2F52-DCB86BE1840C}"/>
              </a:ext>
            </a:extLst>
          </p:cNvPr>
          <p:cNvSpPr>
            <a:spLocks noGrp="1"/>
          </p:cNvSpPr>
          <p:nvPr>
            <p:ph idx="1"/>
          </p:nvPr>
        </p:nvSpPr>
        <p:spPr>
          <a:xfrm>
            <a:off x="1115568" y="2331887"/>
            <a:ext cx="10168128" cy="3694176"/>
          </a:xfrm>
        </p:spPr>
        <p:txBody>
          <a:bodyPr vert="horz" lIns="91440" tIns="45720" rIns="91440" bIns="45720" rtlCol="0" anchor="t">
            <a:noAutofit/>
          </a:bodyPr>
          <a:lstStyle/>
          <a:p>
            <a:r>
              <a:rPr lang="en-US" sz="2400"/>
              <a:t>The program would allow schools to collect student information about activities they want to take part in, as well likes and interests and help coordinate events and groups.</a:t>
            </a:r>
          </a:p>
          <a:p>
            <a:r>
              <a:rPr lang="en-US" sz="2400"/>
              <a:t>For the students it would help them meet other people who share interests with them, as many college students are in a new place with new people and can have trouble making friends and building a new community.</a:t>
            </a:r>
          </a:p>
          <a:p>
            <a:r>
              <a:rPr lang="en-US" sz="2400"/>
              <a:t>Schools can use this info to make clubs and plan off campus activities for the student that the students would have an interest in.</a:t>
            </a:r>
          </a:p>
        </p:txBody>
      </p:sp>
    </p:spTree>
    <p:extLst>
      <p:ext uri="{BB962C8B-B14F-4D97-AF65-F5344CB8AC3E}">
        <p14:creationId xmlns:p14="http://schemas.microsoft.com/office/powerpoint/2010/main" val="719277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6BD84-B2F8-EFE4-50FE-75ABF3E840F9}"/>
              </a:ext>
            </a:extLst>
          </p:cNvPr>
          <p:cNvSpPr>
            <a:spLocks noGrp="1"/>
          </p:cNvSpPr>
          <p:nvPr>
            <p:ph type="title"/>
          </p:nvPr>
        </p:nvSpPr>
        <p:spPr/>
        <p:txBody>
          <a:bodyPr/>
          <a:lstStyle/>
          <a:p>
            <a:r>
              <a:rPr lang="en-US"/>
              <a:t>Target Segment</a:t>
            </a:r>
          </a:p>
        </p:txBody>
      </p:sp>
      <p:sp>
        <p:nvSpPr>
          <p:cNvPr id="3" name="Content Placeholder 2">
            <a:extLst>
              <a:ext uri="{FF2B5EF4-FFF2-40B4-BE49-F238E27FC236}">
                <a16:creationId xmlns:a16="http://schemas.microsoft.com/office/drawing/2014/main" id="{0CA9CB80-9F88-2911-09A0-A53063CDF36A}"/>
              </a:ext>
            </a:extLst>
          </p:cNvPr>
          <p:cNvSpPr>
            <a:spLocks noGrp="1"/>
          </p:cNvSpPr>
          <p:nvPr>
            <p:ph idx="1"/>
          </p:nvPr>
        </p:nvSpPr>
        <p:spPr>
          <a:xfrm>
            <a:off x="1115568" y="2311011"/>
            <a:ext cx="10168128" cy="3694176"/>
          </a:xfrm>
        </p:spPr>
        <p:txBody>
          <a:bodyPr vert="horz" lIns="91440" tIns="45720" rIns="91440" bIns="45720" rtlCol="0" anchor="t">
            <a:noAutofit/>
          </a:bodyPr>
          <a:lstStyle/>
          <a:p>
            <a:r>
              <a:rPr lang="en-US" sz="2400"/>
              <a:t>Large residential universities where a high percentage of students come from out-of-state, first year, and transfer students.</a:t>
            </a:r>
          </a:p>
          <a:p>
            <a:r>
              <a:rPr lang="en-US" sz="2400"/>
              <a:t>Along with commuters who are on campus for a certain amount of time.</a:t>
            </a:r>
          </a:p>
          <a:p>
            <a:r>
              <a:rPr lang="en-US" sz="2400"/>
              <a:t>Schools with existing programs that could use the information to improve them with activities the students want.</a:t>
            </a:r>
          </a:p>
          <a:p>
            <a:r>
              <a:rPr lang="en-US" sz="2400"/>
              <a:t>Customers within these Higher Education Institutions would include Student Affairs, Residence Life, Orientation Programs, and Student Success Offices.</a:t>
            </a:r>
          </a:p>
          <a:p>
            <a:endParaRPr lang="en-US"/>
          </a:p>
          <a:p>
            <a:endParaRPr lang="en-US"/>
          </a:p>
        </p:txBody>
      </p:sp>
    </p:spTree>
    <p:extLst>
      <p:ext uri="{BB962C8B-B14F-4D97-AF65-F5344CB8AC3E}">
        <p14:creationId xmlns:p14="http://schemas.microsoft.com/office/powerpoint/2010/main" val="706425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479DB-F06F-BB21-4145-25EEE8145BD4}"/>
              </a:ext>
            </a:extLst>
          </p:cNvPr>
          <p:cNvSpPr>
            <a:spLocks noGrp="1"/>
          </p:cNvSpPr>
          <p:nvPr>
            <p:ph type="title"/>
          </p:nvPr>
        </p:nvSpPr>
        <p:spPr/>
        <p:txBody>
          <a:bodyPr/>
          <a:lstStyle/>
          <a:p>
            <a:r>
              <a:rPr lang="en-US"/>
              <a:t>Evidence</a:t>
            </a:r>
          </a:p>
        </p:txBody>
      </p:sp>
      <p:sp>
        <p:nvSpPr>
          <p:cNvPr id="3" name="Content Placeholder 2">
            <a:extLst>
              <a:ext uri="{FF2B5EF4-FFF2-40B4-BE49-F238E27FC236}">
                <a16:creationId xmlns:a16="http://schemas.microsoft.com/office/drawing/2014/main" id="{586E5C7D-B0DF-C0FF-B3B3-4AB8A71BF775}"/>
              </a:ext>
            </a:extLst>
          </p:cNvPr>
          <p:cNvSpPr>
            <a:spLocks noGrp="1"/>
          </p:cNvSpPr>
          <p:nvPr>
            <p:ph idx="1"/>
          </p:nvPr>
        </p:nvSpPr>
        <p:spPr>
          <a:xfrm>
            <a:off x="503447" y="2206823"/>
            <a:ext cx="11389414" cy="4863273"/>
          </a:xfrm>
        </p:spPr>
        <p:txBody>
          <a:bodyPr vert="horz" lIns="91440" tIns="45720" rIns="91440" bIns="45720" rtlCol="0" anchor="t">
            <a:normAutofit fontScale="85000" lnSpcReduction="10000"/>
          </a:bodyPr>
          <a:lstStyle/>
          <a:p>
            <a:r>
              <a:rPr lang="en-US" sz="2400" b="1"/>
              <a:t>GSU:</a:t>
            </a:r>
            <a:r>
              <a:rPr lang="en-US" sz="2400"/>
              <a:t> "</a:t>
            </a:r>
            <a:r>
              <a:rPr lang="en-US" sz="2400">
                <a:ea typeface="+mn-lt"/>
                <a:cs typeface="+mn-lt"/>
              </a:rPr>
              <a:t>Each pillar aligns with specific programs, activities and services available to all students. Attend events, explore each pillar and remember our teams are here to support you every step of the way!" (</a:t>
            </a:r>
            <a:r>
              <a:rPr lang="en-US" sz="2400">
                <a:ea typeface="+mn-lt"/>
                <a:cs typeface="+mn-lt"/>
                <a:hlinkClick r:id="rId2"/>
              </a:rPr>
              <a:t>https://engagement.gsu.edu/the-panther-experience/</a:t>
            </a:r>
            <a:r>
              <a:rPr lang="en-US" sz="2400">
                <a:ea typeface="+mn-lt"/>
                <a:cs typeface="+mn-lt"/>
              </a:rPr>
              <a:t>)</a:t>
            </a:r>
          </a:p>
          <a:p>
            <a:r>
              <a:rPr lang="en-US" sz="2400" b="1"/>
              <a:t>Higher Ed Dive:</a:t>
            </a:r>
            <a:r>
              <a:rPr lang="en-US" sz="2400"/>
              <a:t> "</a:t>
            </a:r>
            <a:r>
              <a:rPr lang="en-US" sz="2400">
                <a:ea typeface="+mn-lt"/>
                <a:cs typeface="+mn-lt"/>
              </a:rPr>
              <a:t>One of the keys to a strong campus community is fostering connections between different groups of students. Whether it’s connecting current students with alumni, or bridging the gap between freshmen and seniors, inter-cohort connections can improve the overall student experience." (</a:t>
            </a:r>
            <a:r>
              <a:rPr lang="en-US" sz="2400">
                <a:ea typeface="+mn-lt"/>
                <a:cs typeface="+mn-lt"/>
                <a:hlinkClick r:id="rId3"/>
              </a:rPr>
              <a:t>https://www.highereddive.com/spons/building-a-strong-campus-community-strategies-for-engagement-and-belonging/751566/</a:t>
            </a:r>
            <a:r>
              <a:rPr lang="en-US" sz="2400">
                <a:ea typeface="+mn-lt"/>
                <a:cs typeface="+mn-lt"/>
              </a:rPr>
              <a:t>)</a:t>
            </a:r>
            <a:endParaRPr lang="en-US" sz="2400"/>
          </a:p>
          <a:p>
            <a:r>
              <a:rPr lang="en-US" sz="2400" b="1"/>
              <a:t>Interview 5: "</a:t>
            </a:r>
            <a:r>
              <a:rPr lang="en-US" sz="2400">
                <a:ea typeface="+mn-lt"/>
                <a:cs typeface="+mn-lt"/>
              </a:rPr>
              <a:t>So that's great, but that's only great if you know what it is that they need and want and what it is that they're </a:t>
            </a:r>
            <a:r>
              <a:rPr lang="en-US" sz="2400" err="1">
                <a:ea typeface="+mn-lt"/>
                <a:cs typeface="+mn-lt"/>
              </a:rPr>
              <a:t>missing.""So</a:t>
            </a:r>
            <a:r>
              <a:rPr lang="en-US" sz="2400">
                <a:ea typeface="+mn-lt"/>
                <a:cs typeface="+mn-lt"/>
              </a:rPr>
              <a:t> we just released a new product called live workshops where it's like, it's three weeks instead of 12. And there are more people in the class. And it's basically like a long, three long seminars with a specific instructor geared towards a specific purpose"</a:t>
            </a:r>
          </a:p>
          <a:p>
            <a:endParaRPr lang="en-US" sz="2400"/>
          </a:p>
          <a:p>
            <a:endParaRPr lang="en-US" sz="2400"/>
          </a:p>
        </p:txBody>
      </p:sp>
    </p:spTree>
    <p:extLst>
      <p:ext uri="{BB962C8B-B14F-4D97-AF65-F5344CB8AC3E}">
        <p14:creationId xmlns:p14="http://schemas.microsoft.com/office/powerpoint/2010/main" val="3287010911"/>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4</Slides>
  <Notes>0</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AccentBoxVTI</vt:lpstr>
      <vt:lpstr>Social Engagement Accelerator</vt:lpstr>
      <vt:lpstr>What does it do</vt:lpstr>
      <vt:lpstr>Target Segment</vt:lpstr>
      <vt:lpstr>Evidence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2026-06-01T20:33:01Z</dcterms:created>
  <dcterms:modified xsi:type="dcterms:W3CDTF">2026-07-17T17:25:22Z</dcterms:modified>
</cp:coreProperties>
</file>