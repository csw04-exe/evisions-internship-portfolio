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8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126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making the session practical: this is not just what Evisions does, but how to think about business value, customer problems, and careers.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roadmap. Tell them you will come back to the Customer-Problem-Solution-Value-Scale framework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your role simply: a connector across customer problems, product capability, go-to-market, services, and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Evisions story in non-jargon terms. Emphasize customer, problem, and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that higher ed is not a simple environment. Each function affects students, budgets, and institutional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data concrete with familiar questions. Data is not abstract; it drives decisions affecting students, budgets, and staff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business lesson: customers are buying outcomes, not just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Point out handoffs and feedback loops. This demystifies a software company for interns.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tradeoffs: every yes means other work waits. Good product decisions balance customer value and business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solutions as a bridge from problem to outcome. Emphasize adoption, not just demos or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fictional example to show how customer pain is translated into diagnosis, design, adoption, and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great slide for interns. Business decisions often have no clean right answer; they require judgment, tradeoffs, and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concrete. These behaviors are useful in any role and any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lessons to tell a personal story. The slide gives structure but your story is what makes it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Q&amp;A. Seed questions if the room is quiet.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Evisions | Business Intro for Interns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8580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Software Company Solves Real Business Problems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467"/>
                </a:solidFill>
              </a:rPr>
              <a:t>A higher education technology business intro for college interns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5166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B53"/>
                </a:solidFill>
              </a:rPr>
              <a:t>Jim Farrell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B53"/>
                </a:solidFill>
              </a:rPr>
              <a:t>Chief Solutions Officer, Evisions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path for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4984" y="152704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399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Who we are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1746504"/>
            <a:ext cx="8138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467"/>
                </a:solidFill>
              </a:rPr>
              <a:t>Purpose-built higher-ed reporting and administrative-output platform that sits where generic BI tools, ERP vendors, and campus IT pain all intersect.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496312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4984" y="26060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478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How the business works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28254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467"/>
                </a:solidFill>
              </a:rPr>
              <a:t>How product, sales, engineering, services, and customer success connect.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575304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4984" y="36850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3557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What solutions means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45920" y="39044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467"/>
                </a:solidFill>
              </a:rPr>
              <a:t>How we turn customer problems into outcomes customers can adopt.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4654296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14984" y="476402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20" y="4636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Career takeaways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498348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467"/>
                </a:solidFill>
              </a:rPr>
              <a:t>Skills and mindsets that help interns create value early.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12574" y="5645553"/>
            <a:ext cx="9166545" cy="7099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idea: Customer -&gt; Problem -&gt; Solution -&gt; Value -&gt; Scale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Chief Solutions Officer connects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83480" y="2560320"/>
            <a:ext cx="2103120" cy="15087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21808" y="30358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Solutions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Leadership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93392" y="2359152"/>
            <a:ext cx="149961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969766" y="1520426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23917" y="174902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10912" y="2039112"/>
            <a:ext cx="149961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7591203" y="2478024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57547" y="2669417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82712" y="2359152"/>
            <a:ext cx="149961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2545081" y="3613772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57145" y="38423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176272" y="4965192"/>
            <a:ext cx="149961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5037083" y="4537631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7F8E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86984" y="4757087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010912" y="5330952"/>
            <a:ext cx="149961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7591203" y="3548504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31109" y="37771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845552" y="4965192"/>
            <a:ext cx="1499616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800258" y="5472053"/>
            <a:ext cx="104273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43B53"/>
                </a:solidFill>
              </a:rPr>
              <a:t>The job is not “owning a department.” It is creating alignment between what customers need, what the company can deliver, and what creates measurable value.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0136B3CA-F524-893F-D050-59CA1FAC6094}"/>
              </a:ext>
            </a:extLst>
          </p:cNvPr>
          <p:cNvSpPr/>
          <p:nvPr/>
        </p:nvSpPr>
        <p:spPr>
          <a:xfrm>
            <a:off x="2511553" y="2461628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DFF6F8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040F6A3C-43E5-0345-4772-26B63A6281A4}"/>
              </a:ext>
            </a:extLst>
          </p:cNvPr>
          <p:cNvSpPr/>
          <p:nvPr/>
        </p:nvSpPr>
        <p:spPr>
          <a:xfrm>
            <a:off x="2874265" y="26719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Customers</a:t>
            </a:r>
            <a:endParaRPr lang="en-US" sz="1550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3B1317-5FEE-D252-BE7C-17E3258B7011}"/>
              </a:ext>
            </a:extLst>
          </p:cNvPr>
          <p:cNvSpPr/>
          <p:nvPr/>
        </p:nvSpPr>
        <p:spPr>
          <a:xfrm>
            <a:off x="3449495" y="93307"/>
            <a:ext cx="6930522" cy="1048116"/>
          </a:xfrm>
          <a:custGeom>
            <a:avLst/>
            <a:gdLst>
              <a:gd name="csX0" fmla="*/ 6930522 w 6930522"/>
              <a:gd name="csY0" fmla="*/ 1048116 h 1048116"/>
              <a:gd name="csX1" fmla="*/ 1835106 w 6930522"/>
              <a:gd name="csY1" fmla="*/ 7592 h 1048116"/>
              <a:gd name="csX2" fmla="*/ 0 w 6930522"/>
              <a:gd name="csY2" fmla="*/ 549926 h 10481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930522" h="1048116">
                <a:moveTo>
                  <a:pt x="6930522" y="1048116"/>
                </a:moveTo>
                <a:cubicBezTo>
                  <a:pt x="4960357" y="569370"/>
                  <a:pt x="2990193" y="90624"/>
                  <a:pt x="1835106" y="7592"/>
                </a:cubicBezTo>
                <a:cubicBezTo>
                  <a:pt x="680019" y="-75440"/>
                  <a:pt x="0" y="549926"/>
                  <a:pt x="0" y="549926"/>
                </a:cubicBezTo>
              </a:path>
            </a:pathLst>
          </a:custGeom>
          <a:noFill/>
          <a:ln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8BBC6-D083-DA13-34E8-A8B52D0A67B2}"/>
              </a:ext>
            </a:extLst>
          </p:cNvPr>
          <p:cNvSpPr txBox="1"/>
          <p:nvPr/>
        </p:nvSpPr>
        <p:spPr>
          <a:xfrm>
            <a:off x="9710382" y="1163392"/>
            <a:ext cx="2200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Market usually calls </a:t>
            </a:r>
          </a:p>
          <a:p>
            <a:r>
              <a:rPr lang="en-US" dirty="0"/>
              <a:t>it “Product”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CONTEXT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Evisions in plain English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Evisions helps higher education institutions use information more effectively so people can spend less time wrestling with data and more time making decisions.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DFF6F8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24780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87552" y="2862072"/>
            <a:ext cx="296265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Colleges, universities, and higher education organizations with complex operations and reporting needs.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4434840" y="233172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9432" y="24780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9432" y="2862072"/>
            <a:ext cx="296265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access, reporting, operational efficiency, compliance, visibility, and trusted decision-making.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8046720" y="233172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11312" y="24780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11312" y="2862072"/>
            <a:ext cx="2962656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Confidence, time savings, reduced risk, better decisions, and a trusted partner who understands higher ed.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EDUCATION LANDSCAPE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Higher Ed Institutions are complex businesses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92040" y="2514600"/>
            <a:ext cx="2286000" cy="14173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4924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Institutional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74920" y="1645920"/>
            <a:ext cx="1920240" cy="420624"/>
          </a:xfrm>
          <a:prstGeom prst="roundRect">
            <a:avLst>
              <a:gd name="adj" fmla="val 2608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48072" y="174650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25892" y="2114608"/>
            <a:ext cx="1920240" cy="420624"/>
          </a:xfrm>
          <a:prstGeom prst="roundRect">
            <a:avLst>
              <a:gd name="adj" fmla="val 26087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99044" y="221519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23960" y="3246120"/>
            <a:ext cx="1920240" cy="420624"/>
          </a:xfrm>
          <a:prstGeom prst="roundRect">
            <a:avLst>
              <a:gd name="adj" fmla="val 2608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97112" y="334670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Success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25892" y="4377632"/>
            <a:ext cx="1920240" cy="420624"/>
          </a:xfrm>
          <a:prstGeom prst="roundRect">
            <a:avLst>
              <a:gd name="adj" fmla="val 26087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99044" y="447821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74920" y="4846320"/>
            <a:ext cx="1920240" cy="420624"/>
          </a:xfrm>
          <a:prstGeom prst="roundRect">
            <a:avLst>
              <a:gd name="adj" fmla="val 2608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48072" y="494690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23948" y="4377632"/>
            <a:ext cx="1920240" cy="420624"/>
          </a:xfrm>
          <a:prstGeom prst="roundRect">
            <a:avLst>
              <a:gd name="adj" fmla="val 26087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97100" y="447821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25880" y="3246120"/>
            <a:ext cx="1920240" cy="420624"/>
          </a:xfrm>
          <a:prstGeom prst="roundRect">
            <a:avLst>
              <a:gd name="adj" fmla="val 2608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99032" y="334670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23948" y="2114608"/>
            <a:ext cx="1920240" cy="420624"/>
          </a:xfrm>
          <a:prstGeom prst="roundRect">
            <a:avLst>
              <a:gd name="adj" fmla="val 26087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97100" y="221519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Research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10390" y="5404104"/>
            <a:ext cx="8522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43B53"/>
                </a:solidFill>
              </a:rPr>
              <a:t>Every department may use different systems, definitions, timelines, and reports. That is why trusted data (</a:t>
            </a:r>
            <a:r>
              <a:rPr lang="en-US" sz="1600" i="1" dirty="0">
                <a:solidFill>
                  <a:srgbClr val="243B53"/>
                </a:solidFill>
              </a:rPr>
              <a:t>think </a:t>
            </a:r>
            <a:r>
              <a:rPr lang="en-US" sz="1600" i="1" dirty="0" err="1">
                <a:solidFill>
                  <a:srgbClr val="243B53"/>
                </a:solidFill>
              </a:rPr>
              <a:t>DataBlock</a:t>
            </a:r>
            <a:r>
              <a:rPr lang="en-US" sz="1600" dirty="0">
                <a:solidFill>
                  <a:srgbClr val="243B53"/>
                </a:solidFill>
              </a:rPr>
              <a:t>) and operational clarity matter.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DATA MATTERS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hidden engine: trusted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65506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87552" y="2039112"/>
            <a:ext cx="29169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students enrolled?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0F9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90872" y="165506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2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90872" y="2039112"/>
            <a:ext cx="29169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students need support (at risk)?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8229600" y="15087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94192" y="165506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94192" y="2039112"/>
            <a:ext cx="29169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budgets on track?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0F9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7552" y="307238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4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87552" y="3456432"/>
            <a:ext cx="29169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leaders trust the report?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4526280" y="292608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90872" y="307238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5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90872" y="3456432"/>
            <a:ext cx="29169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fast can staff get answers?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5166360" y="4617720"/>
            <a:ext cx="1828800" cy="640080"/>
          </a:xfrm>
          <a:prstGeom prst="chevron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80138" y="5588876"/>
            <a:ext cx="7252138" cy="55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2A43"/>
                </a:solidFill>
              </a:rPr>
              <a:t>Data becomes valuable only when people can trust it, access it, and act on it.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PROPOSITION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7061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Customers do not just buy software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9751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33272" y="2359152"/>
            <a:ext cx="154533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the numbers and the process.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73552" y="19751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273552" y="2359152"/>
            <a:ext cx="154533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manual work and rework.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5349240" y="182880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13832" y="19751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513832" y="2359152"/>
            <a:ext cx="154533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better choices sooner.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7589520" y="182880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54112" y="19751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Reduced risk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54112" y="2359152"/>
            <a:ext cx="154533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consistency, compliance, and governance.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9829800" y="182880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DECE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94392" y="19751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Expertise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994392" y="2359152"/>
            <a:ext cx="154533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with people who understand higher ed and trust.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1869790" y="4144754"/>
            <a:ext cx="780393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2A43"/>
                </a:solidFill>
              </a:rPr>
              <a:t>A product feature is useful only when it creates an outcome someone cares about.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B2B software company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9739" y="2675934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2891" y="292282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Market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02891" y="324286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Need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02507" y="2675934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75659" y="292282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Sales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2175659" y="324286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Fit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75275" y="2675934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8427" y="292282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Product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748427" y="324286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Direction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48043" y="2675934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21195" y="292282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Engineering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5321195" y="324286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Build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20811" y="2675934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93963" y="292282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Services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6893963" y="324286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Adopt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93579" y="2675934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66731" y="292282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Support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8466731" y="324286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Sustain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966347" y="2675934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39499" y="292282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Success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0039499" y="324286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Grow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59479" y="3974382"/>
            <a:ext cx="6976872" cy="1185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43B53"/>
                </a:solidFill>
              </a:rPr>
              <a:t>No single team creates value alone. Value is created through handoffs, feedback loops, and shared accountability.</a:t>
            </a:r>
            <a:endParaRPr lang="en-US" sz="18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383DB533-40FB-F76A-AB07-3F63B6E54514}"/>
              </a:ext>
            </a:extLst>
          </p:cNvPr>
          <p:cNvSpPr/>
          <p:nvPr/>
        </p:nvSpPr>
        <p:spPr>
          <a:xfrm>
            <a:off x="561375" y="1466612"/>
            <a:ext cx="10575404" cy="911459"/>
          </a:xfrm>
          <a:prstGeom prst="roundRect">
            <a:avLst>
              <a:gd name="adj" fmla="val 695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0A266A95-84AB-E86B-FBD0-7281B6CA3B4B}"/>
              </a:ext>
            </a:extLst>
          </p:cNvPr>
          <p:cNvSpPr/>
          <p:nvPr/>
        </p:nvSpPr>
        <p:spPr>
          <a:xfrm>
            <a:off x="5104340" y="16078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Executive Team</a:t>
            </a:r>
            <a:endParaRPr lang="en-US" sz="124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9D6ED116-47B1-F785-9CF1-7A1B097884E3}"/>
              </a:ext>
            </a:extLst>
          </p:cNvPr>
          <p:cNvSpPr/>
          <p:nvPr/>
        </p:nvSpPr>
        <p:spPr>
          <a:xfrm>
            <a:off x="4254010" y="1827276"/>
            <a:ext cx="2741150" cy="261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Expertise, experience, &amp; leadership</a:t>
            </a:r>
            <a:endParaRPr lang="en-US" sz="95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4FED76-9666-6C06-317B-CCE03869E223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11014859" y="3427528"/>
            <a:ext cx="580333" cy="876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hape 18">
            <a:extLst>
              <a:ext uri="{FF2B5EF4-FFF2-40B4-BE49-F238E27FC236}">
                <a16:creationId xmlns:a16="http://schemas.microsoft.com/office/drawing/2014/main" id="{003C4A33-0EDB-A514-51AB-05E50649EDBB}"/>
              </a:ext>
            </a:extLst>
          </p:cNvPr>
          <p:cNvSpPr/>
          <p:nvPr/>
        </p:nvSpPr>
        <p:spPr>
          <a:xfrm>
            <a:off x="9780419" y="4057519"/>
            <a:ext cx="1234440" cy="1051560"/>
          </a:xfrm>
          <a:prstGeom prst="roundRect">
            <a:avLst>
              <a:gd name="adj" fmla="val 695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1021CBDB-3528-9060-2DF8-09A290638BC0}"/>
              </a:ext>
            </a:extLst>
          </p:cNvPr>
          <p:cNvSpPr/>
          <p:nvPr/>
        </p:nvSpPr>
        <p:spPr>
          <a:xfrm>
            <a:off x="9853571" y="4304407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Finance</a:t>
            </a:r>
            <a:endParaRPr lang="en-US" sz="124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94162C72-0B34-2B61-4D2A-33F80CDE42E2}"/>
              </a:ext>
            </a:extLst>
          </p:cNvPr>
          <p:cNvSpPr/>
          <p:nvPr/>
        </p:nvSpPr>
        <p:spPr>
          <a:xfrm>
            <a:off x="9853571" y="4624447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Support</a:t>
            </a:r>
          </a:p>
          <a:p>
            <a:pPr marL="0" indent="0" algn="ctr">
              <a:buNone/>
            </a:pPr>
            <a:r>
              <a:rPr lang="en-US" sz="950" dirty="0">
                <a:solidFill>
                  <a:srgbClr val="475467"/>
                </a:solidFill>
              </a:rPr>
              <a:t>&amp; Control</a:t>
            </a:r>
            <a:endParaRPr lang="en-US" sz="9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95E7E4-88C6-CA50-32AA-B4A1FCD5BE82}"/>
              </a:ext>
            </a:extLst>
          </p:cNvPr>
          <p:cNvSpPr txBox="1"/>
          <p:nvPr/>
        </p:nvSpPr>
        <p:spPr>
          <a:xfrm>
            <a:off x="11438739" y="305819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an idea becomes a product decision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65506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feedback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87552" y="2039112"/>
            <a:ext cx="40599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across many institutions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91072" y="165506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signal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91072" y="2039112"/>
            <a:ext cx="40599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higher ed and technology are going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302666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impact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87552" y="3410712"/>
            <a:ext cx="40599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Revenue, retention, growth, and differentiation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126480" y="288036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EE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1072" y="302666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Feasibility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91072" y="3410712"/>
            <a:ext cx="40599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capacity, complexity, and risk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4769967" y="4114800"/>
            <a:ext cx="2651760" cy="960120"/>
          </a:xfrm>
          <a:prstGeom prst="funnel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45902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4577" y="5276088"/>
            <a:ext cx="1008677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A43"/>
                </a:solidFill>
              </a:rPr>
              <a:t>The hardest part is often not finding ideas. It is choosing what not to do.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 MINDSET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“Solutions” is the bridge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94760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FEB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01000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FEB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21945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3408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Need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33272" y="2724912"/>
            <a:ext cx="21396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problem are they really trying to solve?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21579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Design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873752" y="2542032"/>
            <a:ext cx="2414016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product capability, process change, implementation path, and success measure.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869680" y="21945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34272" y="23408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Outcome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034272" y="2724912"/>
            <a:ext cx="213969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solution create value customers can recognize?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97280" y="4527857"/>
            <a:ext cx="9875520" cy="1059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A43"/>
                </a:solidFill>
              </a:rPr>
              <a:t>Solutions work starts with listening and ends with adoption.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PUTTING IT TOGETHER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business scenario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607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 university has five departments producing five different versions of the same enrollment report. Leaders do not trust the numbers, staff spend hours reconciling data, and decisions are delayed.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99032" y="2743200"/>
            <a:ext cx="530352" cy="5303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63624" y="28620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4747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0F9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36210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41832" y="4005072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decisions depend on the report?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3639312" y="2743200"/>
            <a:ext cx="530352" cy="5303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03904" y="28620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34747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82112" y="36210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182112" y="4005072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definitions and stakeholders matter?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5879592" y="2743200"/>
            <a:ext cx="530352" cy="5303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44184" y="28620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34747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0F9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22392" y="36210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422392" y="4005072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data, workflow, and product capabilities fit?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8119872" y="2743200"/>
            <a:ext cx="530352" cy="5303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84464" y="28620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0" y="34747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62672" y="36210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Adopt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662672" y="4005072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users change behavior?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10360152" y="2743200"/>
            <a:ext cx="530352" cy="5303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24744" y="28620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38360" y="34747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0F9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902952" y="36210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902952" y="4005072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prove it worked?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2107897" y="5334910"/>
            <a:ext cx="7415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43B53"/>
                </a:solidFill>
              </a:rPr>
              <a:t>A solutions mindset turns a messy complaint into a clear path to value.</a:t>
            </a:r>
            <a:endParaRPr lang="en-US" sz="2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is a series of tradeoffs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102A43"/>
                </a:solidFill>
              </a:rPr>
              <a:t>Build now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251960" y="1536192"/>
            <a:ext cx="356616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94960" y="1421892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</a:rPr>
              <a:t>Build later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840" y="2093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102A43"/>
                </a:solidFill>
              </a:rPr>
              <a:t>Custom request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251960" y="2212848"/>
            <a:ext cx="356616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06440" y="2098548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0" y="2093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</a:rPr>
              <a:t>Scalable product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05840" y="2770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102A43"/>
                </a:solidFill>
              </a:rPr>
              <a:t>Revenue today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251960" y="2889504"/>
            <a:ext cx="356616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277520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2770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</a:rPr>
              <a:t>Strategy tomorrow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05840" y="3447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102A43"/>
                </a:solidFill>
              </a:rPr>
              <a:t>Speed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251960" y="3566160"/>
            <a:ext cx="356616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94960" y="345186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0" y="3447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</a:rPr>
              <a:t>Quality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05840" y="4123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102A43"/>
                </a:solidFill>
              </a:rPr>
              <a:t>Innovation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251960" y="4242816"/>
            <a:ext cx="356616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06440" y="4128516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0" y="4123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</a:rPr>
              <a:t>Reliability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05840" y="4800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102A43"/>
                </a:solidFill>
              </a:rPr>
              <a:t>Flexibility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4251960" y="4919472"/>
            <a:ext cx="356616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4805172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</a:rPr>
              <a:t>Operational simplicity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874520" y="5419425"/>
            <a:ext cx="8321040" cy="130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3B53"/>
                </a:solidFill>
              </a:rPr>
              <a:t>Leadership is rarely about finding the perfect answer. It is about making the best decision with incomplete information, then learning quickly.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 ADVICE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create value early in your career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563624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better questions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1947672"/>
            <a:ext cx="28254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the problem before jumping to answers.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90872" y="1563624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Write clearly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90872" y="1947672"/>
            <a:ext cx="28254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writing makes your thinking reusable.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8275320" y="141732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9912" y="1563624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 the customer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39912" y="1947672"/>
            <a:ext cx="28254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who benefits from your work.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832" y="3392424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data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41832" y="3776472"/>
            <a:ext cx="28254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opinions with evidence.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4526280" y="324612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90872" y="3392424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Communicate risks early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90872" y="3776472"/>
            <a:ext cx="28254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surprises is a professional superpower.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8275320" y="324612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39912" y="3392424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 the follow-through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439912" y="3776472"/>
            <a:ext cx="28254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compounds quickly.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2953376" y="5020056"/>
            <a:ext cx="58978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You do not need to have all the answers. You need to become the kind of person others trust with the next problem.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 I wish I knew earlier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0287000" cy="438912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444752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B53"/>
                </a:solidFill>
              </a:rPr>
              <a:t>The best people simplify complexity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14400" y="2039112"/>
            <a:ext cx="10287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2157984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B53"/>
                </a:solidFill>
              </a:rPr>
              <a:t>Listening is often more valuable than talking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14400" y="2752344"/>
            <a:ext cx="10287000" cy="438912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871216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B53"/>
                </a:solidFill>
              </a:rPr>
              <a:t>Relationships matter because work moves through people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14400" y="3465576"/>
            <a:ext cx="10287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3584448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B53"/>
                </a:solidFill>
              </a:rPr>
              <a:t>Clarity beats cleverness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14400" y="4178808"/>
            <a:ext cx="10287000" cy="438912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4297680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B53"/>
                </a:solidFill>
              </a:rPr>
              <a:t>Your reputation is built in small moments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14400" y="4892040"/>
            <a:ext cx="10287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5010912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B53"/>
                </a:solidFill>
              </a:rPr>
              <a:t>Curiosity travels better than certainty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C699E7FD-AED3-00BD-989E-4CFDCB584839}"/>
              </a:ext>
            </a:extLst>
          </p:cNvPr>
          <p:cNvSpPr/>
          <p:nvPr/>
        </p:nvSpPr>
        <p:spPr>
          <a:xfrm>
            <a:off x="914400" y="5655564"/>
            <a:ext cx="10287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01813AF-C226-F113-E6C2-CD7F9F20C330}"/>
              </a:ext>
            </a:extLst>
          </p:cNvPr>
          <p:cNvSpPr/>
          <p:nvPr/>
        </p:nvSpPr>
        <p:spPr>
          <a:xfrm>
            <a:off x="1143000" y="5774436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B53"/>
                </a:solidFill>
              </a:rPr>
              <a:t>Don’t be afraid of failure, use it to learn, surround yourself with people smarter than you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8046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467"/>
                </a:solidFill>
              </a:rPr>
              <a:t>Ask about careers, leadership, product decisions, higher ed, customer relationships, mistakes, or anything you wish someone had explained before your first internship.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297180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311810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question 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61872" y="3502152"/>
            <a:ext cx="26426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skills matter most early in a business career?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4663440" y="297180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311810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question 2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828032" y="3502152"/>
            <a:ext cx="26426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companies decide what products to build?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8229600" y="297180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94192" y="311810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question 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94192" y="3502152"/>
            <a:ext cx="26426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leadership look like when you are not a manager?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1989161" y="5074920"/>
            <a:ext cx="8046720" cy="110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2A43"/>
                </a:solidFill>
              </a:rPr>
              <a:t>Customer -&gt; Problem -&gt; Solution -&gt; Value -&gt; Scale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85B18512D53F41BDE18DDF49B141B1" ma:contentTypeVersion="15" ma:contentTypeDescription="Create a new document." ma:contentTypeScope="" ma:versionID="e906cf6e48426ee06c66027bb80d6180">
  <xsd:schema xmlns:xsd="http://www.w3.org/2001/XMLSchema" xmlns:xs="http://www.w3.org/2001/XMLSchema" xmlns:p="http://schemas.microsoft.com/office/2006/metadata/properties" xmlns:ns2="dcd73cc7-3f1a-4f0c-93a2-52248963654a" xmlns:ns3="1b6a93da-3008-4b4c-a527-3918a3aa2c8d" targetNamespace="http://schemas.microsoft.com/office/2006/metadata/properties" ma:root="true" ma:fieldsID="7e970348c30aff7842b1d265af3f3d1b" ns2:_="" ns3:_="">
    <xsd:import namespace="dcd73cc7-3f1a-4f0c-93a2-52248963654a"/>
    <xsd:import namespace="1b6a93da-3008-4b4c-a527-3918a3aa2c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73cc7-3f1a-4f0c-93a2-5224896365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0605de8-6ea5-48e6-9496-7988cfd13a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93da-3008-4b4c-a527-3918a3aa2c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3ea22cc-db3d-48eb-9246-edf9007a76f7}" ma:internalName="TaxCatchAll" ma:showField="CatchAllData" ma:web="1b6a93da-3008-4b4c-a527-3918a3aa2c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73cc7-3f1a-4f0c-93a2-52248963654a">
      <Terms xmlns="http://schemas.microsoft.com/office/infopath/2007/PartnerControls"/>
    </lcf76f155ced4ddcb4097134ff3c332f>
    <TaxCatchAll xmlns="1b6a93da-3008-4b4c-a527-3918a3aa2c8d" xsi:nil="true"/>
  </documentManagement>
</p:properties>
</file>

<file path=customXml/itemProps1.xml><?xml version="1.0" encoding="utf-8"?>
<ds:datastoreItem xmlns:ds="http://schemas.openxmlformats.org/officeDocument/2006/customXml" ds:itemID="{B5EB2B8F-CED2-48A4-B351-E6F5B3FFBC04}"/>
</file>

<file path=customXml/itemProps2.xml><?xml version="1.0" encoding="utf-8"?>
<ds:datastoreItem xmlns:ds="http://schemas.openxmlformats.org/officeDocument/2006/customXml" ds:itemID="{25A65C9C-8478-4CF1-8313-A17117BE602A}"/>
</file>

<file path=customXml/itemProps3.xml><?xml version="1.0" encoding="utf-8"?>
<ds:datastoreItem xmlns:ds="http://schemas.openxmlformats.org/officeDocument/2006/customXml" ds:itemID="{8097B1CB-1363-4E63-B535-70FD42CC4B25}"/>
</file>

<file path=docProps/app.xml><?xml version="1.0" encoding="utf-8"?>
<Properties xmlns="http://schemas.openxmlformats.org/officeDocument/2006/extended-properties" xmlns:vt="http://schemas.openxmlformats.org/officeDocument/2006/docPropsVTypes">
  <TotalTime>2681</TotalTime>
  <Words>1321</Words>
  <Application>Microsoft Office PowerPoint</Application>
  <PresentationFormat>Widescreen</PresentationFormat>
  <Paragraphs>237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Evisions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Software Company Solves Real Business Problems in Higher Education</dc:title>
  <dc:subject>Business intro for college interns</dc:subject>
  <dc:creator>OpenAI</dc:creator>
  <cp:lastModifiedBy>Jim Farrell</cp:lastModifiedBy>
  <cp:revision>3</cp:revision>
  <dcterms:created xsi:type="dcterms:W3CDTF">2026-06-01T19:01:28Z</dcterms:created>
  <dcterms:modified xsi:type="dcterms:W3CDTF">2026-06-05T11:34:21Z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0x010100E585B18512D53F41BDE18DDF49B141B1</vt:lpwstr>
  </property>
</Properties>
</file>