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FF4F0-B1BD-450D-84D3-67985124BA5E}" v="25" dt="2026-06-11T00:09:06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84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722608" y="27432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0" y="274320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419088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58368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0" y="6419088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22608" y="658368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73152" cy="2286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MAPS-X / QA AUTOMATION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Fleet Manager: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051560" y="3246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AI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1051560" y="4206240"/>
            <a:ext cx="320040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and scale test automation with AI assistance.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MAPS Fleet Manager?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FLEET MANAGER  //  QA &amp;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Fleet Manager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web application for centrally managing multiple MAPS instances across customer networks. Lightweight agents installed with each MAPS instance poll Fleet Manager for jobs (firmware updates, license config, SSL certs) using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HTTPS only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inbound firewall rules required.</a:t>
            </a:r>
            <a:endParaRPr lang="en-US" sz="1600" dirty="0"/>
          </a:p>
        </p:txBody>
      </p:sp>
      <p:sp>
        <p:nvSpPr>
          <p:cNvPr id="10" name="SameMachineBox"/>
          <p:cNvSpPr/>
          <p:nvPr/>
        </p:nvSpPr>
        <p:spPr>
          <a:xfrm>
            <a:off x="2354580" y="4183381"/>
            <a:ext cx="6949440" cy="1188720"/>
          </a:xfrm>
          <a:prstGeom prst="rect">
            <a:avLst/>
          </a:prstGeom>
          <a:noFill/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ameMachineLabel"/>
          <p:cNvSpPr/>
          <p:nvPr/>
        </p:nvSpPr>
        <p:spPr>
          <a:xfrm>
            <a:off x="2491740" y="519379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spc="200" dirty="0">
                <a:solidFill>
                  <a:srgbClr val="94A3B8"/>
                </a:solidFill>
                <a:latin typeface="Consolas" pitchFamily="34" charset="0"/>
              </a:rPr>
              <a:t>[ Agent + MAPS — co-located on same machine ]</a:t>
            </a:r>
            <a:endParaRPr lang="en-US" sz="900" dirty="0"/>
          </a:p>
        </p:txBody>
      </p:sp>
      <p:sp>
        <p:nvSpPr>
          <p:cNvPr id="12" name="FMBox"/>
          <p:cNvSpPr/>
          <p:nvPr/>
        </p:nvSpPr>
        <p:spPr>
          <a:xfrm>
            <a:off x="2628900" y="2720341"/>
            <a:ext cx="2743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FMTitle"/>
          <p:cNvSpPr/>
          <p:nvPr/>
        </p:nvSpPr>
        <p:spPr>
          <a:xfrm>
            <a:off x="2628900" y="2766061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</a:rPr>
              <a:t>Fleet Manager</a:t>
            </a:r>
            <a:endParaRPr lang="en-US" sz="1800"/>
          </a:p>
        </p:txBody>
      </p:sp>
      <p:sp>
        <p:nvSpPr>
          <p:cNvPr id="14" name="FMSub"/>
          <p:cNvSpPr/>
          <p:nvPr/>
        </p:nvSpPr>
        <p:spPr>
          <a:xfrm>
            <a:off x="2628900" y="3159253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</a:rPr>
              <a:t>central web app</a:t>
            </a:r>
            <a:endParaRPr lang="en-US" sz="1000"/>
          </a:p>
        </p:txBody>
      </p:sp>
      <p:sp>
        <p:nvSpPr>
          <p:cNvPr id="15" name="AgentBox"/>
          <p:cNvSpPr/>
          <p:nvPr/>
        </p:nvSpPr>
        <p:spPr>
          <a:xfrm>
            <a:off x="2628900" y="4366261"/>
            <a:ext cx="2743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AgentTitle"/>
          <p:cNvSpPr/>
          <p:nvPr/>
        </p:nvSpPr>
        <p:spPr>
          <a:xfrm>
            <a:off x="2628900" y="4411981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Agent</a:t>
            </a:r>
            <a:endParaRPr lang="en-US" sz="1800" dirty="0"/>
          </a:p>
        </p:txBody>
      </p:sp>
      <p:sp>
        <p:nvSpPr>
          <p:cNvPr id="17" name="AgentSub"/>
          <p:cNvSpPr/>
          <p:nvPr/>
        </p:nvSpPr>
        <p:spPr>
          <a:xfrm>
            <a:off x="2628900" y="4805173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</a:rPr>
              <a:t>local bridge</a:t>
            </a:r>
            <a:endParaRPr lang="en-US" sz="1000"/>
          </a:p>
        </p:txBody>
      </p:sp>
      <p:sp>
        <p:nvSpPr>
          <p:cNvPr id="18" name="MAPSBox"/>
          <p:cNvSpPr/>
          <p:nvPr/>
        </p:nvSpPr>
        <p:spPr>
          <a:xfrm>
            <a:off x="6286500" y="4366261"/>
            <a:ext cx="2743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MAPSTitle"/>
          <p:cNvSpPr/>
          <p:nvPr/>
        </p:nvSpPr>
        <p:spPr>
          <a:xfrm>
            <a:off x="6286500" y="4411981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</a:rPr>
              <a:t>MAPS</a:t>
            </a:r>
            <a:endParaRPr lang="en-US" sz="1800"/>
          </a:p>
        </p:txBody>
      </p:sp>
      <p:sp>
        <p:nvSpPr>
          <p:cNvPr id="20" name="MAPSSub"/>
          <p:cNvSpPr/>
          <p:nvPr/>
        </p:nvSpPr>
        <p:spPr>
          <a:xfrm>
            <a:off x="6286500" y="4805173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</a:rPr>
              <a:t>managed software</a:t>
            </a:r>
            <a:endParaRPr lang="en-US" sz="1000"/>
          </a:p>
        </p:txBody>
      </p:sp>
      <p:sp>
        <p:nvSpPr>
          <p:cNvPr id="21" name="ArrowUp1"/>
          <p:cNvSpPr/>
          <p:nvPr/>
        </p:nvSpPr>
        <p:spPr>
          <a:xfrm flipV="1">
            <a:off x="3131820" y="3497581"/>
            <a:ext cx="0" cy="8686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ArrowDown2"/>
          <p:cNvSpPr/>
          <p:nvPr/>
        </p:nvSpPr>
        <p:spPr>
          <a:xfrm>
            <a:off x="4000500" y="3497581"/>
            <a:ext cx="0" cy="8686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ArrowUp3"/>
          <p:cNvSpPr/>
          <p:nvPr/>
        </p:nvSpPr>
        <p:spPr>
          <a:xfrm flipV="1">
            <a:off x="4869180" y="3497581"/>
            <a:ext cx="0" cy="8686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Num1Circle"/>
          <p:cNvSpPr/>
          <p:nvPr/>
        </p:nvSpPr>
        <p:spPr>
          <a:xfrm>
            <a:off x="2994660" y="3794761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Num1Text"/>
          <p:cNvSpPr/>
          <p:nvPr/>
        </p:nvSpPr>
        <p:spPr>
          <a:xfrm>
            <a:off x="2948940" y="380390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1</a:t>
            </a:r>
            <a:endParaRPr lang="en-US" sz="1100"/>
          </a:p>
        </p:txBody>
      </p:sp>
      <p:sp>
        <p:nvSpPr>
          <p:cNvPr id="26" name="Num2Circle"/>
          <p:cNvSpPr/>
          <p:nvPr/>
        </p:nvSpPr>
        <p:spPr>
          <a:xfrm>
            <a:off x="3863340" y="3794761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Num2Text"/>
          <p:cNvSpPr/>
          <p:nvPr/>
        </p:nvSpPr>
        <p:spPr>
          <a:xfrm>
            <a:off x="3817620" y="380390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2</a:t>
            </a:r>
            <a:endParaRPr lang="en-US" sz="1100"/>
          </a:p>
        </p:txBody>
      </p:sp>
      <p:sp>
        <p:nvSpPr>
          <p:cNvPr id="28" name="Num3Circle"/>
          <p:cNvSpPr/>
          <p:nvPr/>
        </p:nvSpPr>
        <p:spPr>
          <a:xfrm>
            <a:off x="4732020" y="3794761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Num3Text"/>
          <p:cNvSpPr/>
          <p:nvPr/>
        </p:nvSpPr>
        <p:spPr>
          <a:xfrm>
            <a:off x="4686300" y="380390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4</a:t>
            </a:r>
            <a:endParaRPr lang="en-US" sz="1100"/>
          </a:p>
        </p:txBody>
      </p:sp>
      <p:sp>
        <p:nvSpPr>
          <p:cNvPr id="30" name="ArrowAgentMAPS"/>
          <p:cNvSpPr/>
          <p:nvPr/>
        </p:nvSpPr>
        <p:spPr>
          <a:xfrm>
            <a:off x="5417820" y="4754881"/>
            <a:ext cx="82296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01" name="Num3HArrowCircle"/>
          <p:cNvSpPr/>
          <p:nvPr/>
        </p:nvSpPr>
        <p:spPr>
          <a:xfrm>
            <a:off x="5692140" y="4617721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Num3HArrowText"/>
          <p:cNvSpPr/>
          <p:nvPr/>
        </p:nvSpPr>
        <p:spPr>
          <a:xfrm>
            <a:off x="5646420" y="462686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3</a:t>
            </a:r>
            <a:endParaRPr lang="en-US" sz="1100"/>
          </a:p>
        </p:txBody>
      </p:sp>
      <p:sp>
        <p:nvSpPr>
          <p:cNvPr id="32" name="LegendBg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00" name="LegNum1Bg"/>
          <p:cNvSpPr/>
          <p:nvPr/>
        </p:nvSpPr>
        <p:spPr>
          <a:xfrm>
            <a:off x="685800" y="59664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1" name="LegNum1"/>
          <p:cNvSpPr/>
          <p:nvPr/>
        </p:nvSpPr>
        <p:spPr>
          <a:xfrm>
            <a:off x="640080" y="59756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1</a:t>
            </a:r>
            <a:endParaRPr lang="en-US" sz="1100"/>
          </a:p>
        </p:txBody>
      </p:sp>
      <p:sp>
        <p:nvSpPr>
          <p:cNvPr id="9102" name="LegDesc1"/>
          <p:cNvSpPr/>
          <p:nvPr/>
        </p:nvSpPr>
        <p:spPr>
          <a:xfrm>
            <a:off x="1051560" y="589788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1F5F9"/>
                </a:solidFill>
                <a:latin typeface="Calibri" pitchFamily="34" charset="0"/>
              </a:rPr>
              <a:t>HTTPS poll (every 5s)  ·  Agent → Fleet Manager</a:t>
            </a:r>
            <a:endParaRPr lang="en-US" sz="1000"/>
          </a:p>
        </p:txBody>
      </p:sp>
      <p:sp>
        <p:nvSpPr>
          <p:cNvPr id="9103" name="LegNum2Bg"/>
          <p:cNvSpPr/>
          <p:nvPr/>
        </p:nvSpPr>
        <p:spPr>
          <a:xfrm>
            <a:off x="3451860" y="59664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4" name="LegNum2"/>
          <p:cNvSpPr/>
          <p:nvPr/>
        </p:nvSpPr>
        <p:spPr>
          <a:xfrm>
            <a:off x="3406140" y="59756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2</a:t>
            </a:r>
            <a:endParaRPr lang="en-US" sz="1100"/>
          </a:p>
        </p:txBody>
      </p:sp>
      <p:sp>
        <p:nvSpPr>
          <p:cNvPr id="9105" name="LegDesc2"/>
          <p:cNvSpPr/>
          <p:nvPr/>
        </p:nvSpPr>
        <p:spPr>
          <a:xfrm>
            <a:off x="3817620" y="589788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1F5F9"/>
                </a:solidFill>
                <a:latin typeface="Calibri" pitchFamily="34" charset="0"/>
              </a:rPr>
              <a:t>Returns job config  ·  Fleet Manager → Agent</a:t>
            </a:r>
            <a:endParaRPr lang="en-US" sz="1000"/>
          </a:p>
        </p:txBody>
      </p:sp>
      <p:sp>
        <p:nvSpPr>
          <p:cNvPr id="9106" name="LegNum3Bg"/>
          <p:cNvSpPr/>
          <p:nvPr/>
        </p:nvSpPr>
        <p:spPr>
          <a:xfrm>
            <a:off x="6217920" y="59664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07" name="LegNum3"/>
          <p:cNvSpPr/>
          <p:nvPr/>
        </p:nvSpPr>
        <p:spPr>
          <a:xfrm>
            <a:off x="6172200" y="59756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3</a:t>
            </a:r>
            <a:endParaRPr lang="en-US" sz="1100"/>
          </a:p>
        </p:txBody>
      </p:sp>
      <p:sp>
        <p:nvSpPr>
          <p:cNvPr id="9108" name="LegDesc3"/>
          <p:cNvSpPr/>
          <p:nvPr/>
        </p:nvSpPr>
        <p:spPr>
          <a:xfrm>
            <a:off x="6583680" y="589788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1F5F9"/>
                </a:solidFill>
                <a:latin typeface="Calibri" pitchFamily="34" charset="0"/>
              </a:rPr>
              <a:t>Executes locally  ·  Agent ↔ MAPS</a:t>
            </a:r>
            <a:endParaRPr lang="en-US" sz="1000"/>
          </a:p>
        </p:txBody>
      </p:sp>
      <p:sp>
        <p:nvSpPr>
          <p:cNvPr id="9109" name="LegNum4Bg"/>
          <p:cNvSpPr/>
          <p:nvPr/>
        </p:nvSpPr>
        <p:spPr>
          <a:xfrm>
            <a:off x="8983980" y="5966460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0" name="LegNum4"/>
          <p:cNvSpPr/>
          <p:nvPr/>
        </p:nvSpPr>
        <p:spPr>
          <a:xfrm>
            <a:off x="8938260" y="59756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72A"/>
                </a:solidFill>
                <a:latin typeface="Consolas" pitchFamily="34" charset="0"/>
              </a:rPr>
              <a:t>4</a:t>
            </a:r>
            <a:endParaRPr lang="en-US" sz="1100"/>
          </a:p>
        </p:txBody>
      </p:sp>
      <p:sp>
        <p:nvSpPr>
          <p:cNvPr id="9111" name="LegDesc4"/>
          <p:cNvSpPr/>
          <p:nvPr/>
        </p:nvSpPr>
        <p:spPr>
          <a:xfrm>
            <a:off x="9349740" y="5897880"/>
            <a:ext cx="2217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1F5F9"/>
                </a:solidFill>
                <a:latin typeface="Calibri" pitchFamily="34" charset="0"/>
              </a:rPr>
              <a:t>Reports result  ·  Agent → Fleet Manager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WE AUTOMATE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FLEET MANAGER  //  QA &amp;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6880" y="1920240"/>
            <a:ext cx="2606040" cy="4206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6880" y="1920240"/>
            <a:ext cx="26060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54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5480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65480" y="3749040"/>
            <a:ext cx="54864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5480" y="3931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high-quality software by catching issues before release.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07512" y="1920240"/>
            <a:ext cx="2606040" cy="4206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07512" y="1920240"/>
            <a:ext cx="26060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36112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36112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Velocity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36112" y="3749040"/>
            <a:ext cx="54864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36112" y="3931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 high-velocity release cycle without slowing teams down.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144" y="1920240"/>
            <a:ext cx="2606040" cy="4206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8144" y="1920240"/>
            <a:ext cx="26060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6744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6744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6744" y="3749040"/>
            <a:ext cx="54864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6744" y="3931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ultra-fast feedback loop for developers — minutes, not days.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48776" y="1920240"/>
            <a:ext cx="2606040" cy="4206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948776" y="1920240"/>
            <a:ext cx="2606040" cy="7315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77376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77376" y="2743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177376" y="3749040"/>
            <a:ext cx="54864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77376" y="393192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 maintainability and scalability as the app grows.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Playwright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FLEET MANAGER  //  QA &amp;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4937760" cy="44805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exec playwright test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 test framework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91440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GitHub Actions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TypeScript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783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Playwright?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2700000">
            <a:off x="5989320" y="244144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TypeScript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types, no transpile config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2700000">
            <a:off x="5989320" y="308152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Firefox, WebKit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2700000">
            <a:off x="5989320" y="372160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+ mobile viewports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coverage out of the box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5989320" y="436168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interception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API-level test setup, stubbing, fixtures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2700000">
            <a:off x="5989320" y="500176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364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replay of failures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rot="2700000">
            <a:off x="5989320" y="5641848"/>
            <a:ext cx="109728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63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artifacts for every run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FLEET MANAGER  //  QA &amp;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6035040" cy="45262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src/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6151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classes/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944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controls/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944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Search, Filter, Table, Sheet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pages/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273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page objects per feature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3602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fixtures/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constants/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931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URLs, translation strings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42611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helpers/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2611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 / tRPC test helpers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590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tests/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919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smoke/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919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desktop/  mobile/  shared/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5248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regression/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52486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desktop/  mobile/  shared/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25880" y="5577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accessibility/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5577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desktop/  mobile/  shared/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0" y="2148840"/>
            <a:ext cx="91440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controls/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primitives shared across pages — write once, use everywhere.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3383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Page-specific objects per feature; the high-level API tests call into.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886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constants/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text: URLs and translation strings live here.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helpers/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4937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tRPC helpers for fast, deterministic test setup.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5440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5715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suites — smoke, regression, accessibility — each split desktop / mobile / shared.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PATTERN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Factory + Page Object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FLEET MANAGER  //  QA &amp;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03520" cy="388619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73152" cy="38404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Maps-instances-</a:t>
            </a:r>
            <a:r>
              <a:rPr lang="en-US" sz="120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locators.ts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File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function returning all page element locators by test ID.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760" y="3063240"/>
            <a:ext cx="5029200" cy="25146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3200" y="3190674"/>
            <a:ext cx="4937760" cy="198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createMapsInstancesLocators(page: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searchInput:    page.getByTestId(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'maps-instances-search-input'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addInstanceButton: page.getByTestId(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'maps-instances-add-button'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instanceRow: (id: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page.getByTestId(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`maps-instances-instance-row-${id}`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sheetNameInput: page.getByTestId(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'maps-instances-sheet-name-input'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deleteDialogConfirm: page.getByTestId(</a:t>
            </a: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'maps-instances-delete-confirm'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55080" y="1783079"/>
            <a:ext cx="5303520" cy="3886199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73152" cy="38404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2940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Maps-</a:t>
            </a:r>
            <a:r>
              <a:rPr lang="en-US" sz="1200" dirty="0" err="1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instances.ts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locators and exposes human-readable actions.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063241"/>
            <a:ext cx="4983480" cy="2514599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3190674"/>
            <a:ext cx="4937760" cy="2387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MapsInstances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(page: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locators: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MapsInstancesLocators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.locators = locators;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deleteInstance(instanceId: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menu =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.openActionsMenu(instanceId);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menu.clickMenuItem(en.common.delete);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.locators.deleteDialogConfirm.click();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.waitForLoad();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searchForInstanceByName(name: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.instanceSearch.search(name);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.instanceSearch.clickSearchOption(en.common.nameEquals);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.waitForLoad();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5806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BENEFIT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locator file, not 50 test files.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 TIERS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 FLEET MANAGER  //  QA &amp; AUTOMATION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064240" cy="502920"/>
          </a:xfrm>
          <a:prstGeom prst="rect">
            <a:avLst/>
          </a:prstGeom>
          <a:solidFill>
            <a:srgbClr val="2634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Header1"/>
          <p:cNvSpPr/>
          <p:nvPr/>
        </p:nvSpPr>
        <p:spPr>
          <a:xfrm>
            <a:off x="73152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>
                <a:solidFill>
                  <a:srgbClr val="22D3EE"/>
                </a:solidFill>
                <a:latin typeface="Consolas" pitchFamily="34" charset="0"/>
              </a:rPr>
              <a:t>CATEGORY</a:t>
            </a:r>
            <a:endParaRPr lang="en-US" sz="1100"/>
          </a:p>
        </p:txBody>
      </p:sp>
      <p:sp>
        <p:nvSpPr>
          <p:cNvPr id="11" name="Header2"/>
          <p:cNvSpPr/>
          <p:nvPr/>
        </p:nvSpPr>
        <p:spPr>
          <a:xfrm>
            <a:off x="2606040" y="1874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>
                <a:solidFill>
                  <a:srgbClr val="22D3EE"/>
                </a:solidFill>
                <a:latin typeface="Consolas" pitchFamily="34" charset="0"/>
              </a:rPr>
              <a:t>SCOPE</a:t>
            </a:r>
            <a:endParaRPr lang="en-US" sz="1100"/>
          </a:p>
        </p:txBody>
      </p:sp>
      <p:sp>
        <p:nvSpPr>
          <p:cNvPr id="12" name="Header3"/>
          <p:cNvSpPr/>
          <p:nvPr/>
        </p:nvSpPr>
        <p:spPr>
          <a:xfrm>
            <a:off x="521208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>
                <a:solidFill>
                  <a:srgbClr val="22D3EE"/>
                </a:solidFill>
                <a:latin typeface="Consolas" pitchFamily="34" charset="0"/>
              </a:rPr>
              <a:t>TRIGGER</a:t>
            </a:r>
            <a:endParaRPr lang="en-US" sz="1100"/>
          </a:p>
        </p:txBody>
      </p:sp>
      <p:sp>
        <p:nvSpPr>
          <p:cNvPr id="13" name="Header4"/>
          <p:cNvSpPr/>
          <p:nvPr/>
        </p:nvSpPr>
        <p:spPr>
          <a:xfrm>
            <a:off x="7543800" y="1874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>
                <a:solidFill>
                  <a:srgbClr val="22D3EE"/>
                </a:solidFill>
                <a:latin typeface="Consolas" pitchFamily="34" charset="0"/>
              </a:rPr>
              <a:t>BROWSERS</a:t>
            </a:r>
            <a:endParaRPr lang="en-US" sz="1100"/>
          </a:p>
        </p:txBody>
      </p:sp>
      <p:sp>
        <p:nvSpPr>
          <p:cNvPr id="14" name="Header5"/>
          <p:cNvSpPr/>
          <p:nvPr/>
        </p:nvSpPr>
        <p:spPr>
          <a:xfrm>
            <a:off x="996696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>
                <a:solidFill>
                  <a:srgbClr val="22D3EE"/>
                </a:solidFill>
                <a:latin typeface="Consolas" pitchFamily="34" charset="0"/>
              </a:rPr>
              <a:t>VIEWPORTS</a:t>
            </a:r>
            <a:endParaRPr lang="en-US" sz="1100"/>
          </a:p>
        </p:txBody>
      </p:sp>
      <p:sp>
        <p:nvSpPr>
          <p:cNvPr id="15" name="Row1Bg"/>
          <p:cNvSpPr/>
          <p:nvPr/>
        </p:nvSpPr>
        <p:spPr>
          <a:xfrm>
            <a:off x="548640" y="2286000"/>
            <a:ext cx="1106424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1Cat"/>
          <p:cNvSpPr/>
          <p:nvPr/>
        </p:nvSpPr>
        <p:spPr>
          <a:xfrm>
            <a:off x="731520" y="2468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</a:rPr>
              <a:t>Smoke</a:t>
            </a:r>
            <a:endParaRPr lang="en-US" sz="2000"/>
          </a:p>
        </p:txBody>
      </p:sp>
      <p:sp>
        <p:nvSpPr>
          <p:cNvPr id="17" name="R1Tag"/>
          <p:cNvSpPr/>
          <p:nvPr/>
        </p:nvSpPr>
        <p:spPr>
          <a:xfrm>
            <a:off x="73152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22D3EE"/>
                </a:solidFill>
                <a:latin typeface="Consolas" pitchFamily="34" charset="0"/>
              </a:rPr>
              <a:t>fast</a:t>
            </a:r>
            <a:endParaRPr lang="en-US" sz="1100"/>
          </a:p>
        </p:txBody>
      </p:sp>
      <p:sp>
        <p:nvSpPr>
          <p:cNvPr id="18" name="R1Scope"/>
          <p:cNvSpPr/>
          <p:nvPr/>
        </p:nvSpPr>
        <p:spPr>
          <a:xfrm>
            <a:off x="2606040" y="2514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Critical happy-path</a:t>
            </a:r>
            <a:endParaRPr lang="en-US" sz="1300"/>
          </a:p>
        </p:txBody>
      </p:sp>
      <p:sp>
        <p:nvSpPr>
          <p:cNvPr id="19" name="R1Trigger"/>
          <p:cNvSpPr/>
          <p:nvPr/>
        </p:nvSpPr>
        <p:spPr>
          <a:xfrm>
            <a:off x="5212080" y="2514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Auto — every Vercel deployment</a:t>
            </a:r>
            <a:endParaRPr lang="en-US" sz="1300"/>
          </a:p>
        </p:txBody>
      </p:sp>
      <p:sp>
        <p:nvSpPr>
          <p:cNvPr id="20" name="R1Browsers"/>
          <p:cNvSpPr/>
          <p:nvPr/>
        </p:nvSpPr>
        <p:spPr>
          <a:xfrm>
            <a:off x="754380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</a:rPr>
              <a:t>Chromium (for auto trigger)</a:t>
            </a:r>
            <a:endParaRPr lang="en-US" sz="1300" dirty="0"/>
          </a:p>
        </p:txBody>
      </p:sp>
      <p:sp>
        <p:nvSpPr>
          <p:cNvPr id="21" name="R1Viewports"/>
          <p:cNvSpPr/>
          <p:nvPr/>
        </p:nvSpPr>
        <p:spPr>
          <a:xfrm>
            <a:off x="996696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</a:rPr>
              <a:t>Desktop only (for auto trigger)</a:t>
            </a:r>
            <a:endParaRPr lang="en-US" sz="1300" dirty="0"/>
          </a:p>
        </p:txBody>
      </p:sp>
      <p:sp>
        <p:nvSpPr>
          <p:cNvPr id="22" name="Row2Bg"/>
          <p:cNvSpPr/>
          <p:nvPr/>
        </p:nvSpPr>
        <p:spPr>
          <a:xfrm>
            <a:off x="548640" y="3520440"/>
            <a:ext cx="11064240" cy="12344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2Cat"/>
          <p:cNvSpPr/>
          <p:nvPr/>
        </p:nvSpPr>
        <p:spPr>
          <a:xfrm>
            <a:off x="73152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</a:rPr>
              <a:t>Regression</a:t>
            </a:r>
            <a:endParaRPr lang="en-US" sz="2000"/>
          </a:p>
        </p:txBody>
      </p:sp>
      <p:sp>
        <p:nvSpPr>
          <p:cNvPr id="24" name="R2Tag"/>
          <p:cNvSpPr/>
          <p:nvPr/>
        </p:nvSpPr>
        <p:spPr>
          <a:xfrm>
            <a:off x="731520" y="4206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22D3EE"/>
                </a:solidFill>
                <a:latin typeface="Consolas" pitchFamily="34" charset="0"/>
              </a:rPr>
              <a:t>broad</a:t>
            </a:r>
            <a:endParaRPr lang="en-US" sz="1100"/>
          </a:p>
        </p:txBody>
      </p:sp>
      <p:sp>
        <p:nvSpPr>
          <p:cNvPr id="25" name="R2Scope"/>
          <p:cNvSpPr/>
          <p:nvPr/>
        </p:nvSpPr>
        <p:spPr>
          <a:xfrm>
            <a:off x="2606040" y="3749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Full feature coverage</a:t>
            </a:r>
            <a:endParaRPr lang="en-US" sz="1300"/>
          </a:p>
        </p:txBody>
      </p:sp>
      <p:sp>
        <p:nvSpPr>
          <p:cNvPr id="26" name="R2Trigger"/>
          <p:cNvSpPr/>
          <p:nvPr/>
        </p:nvSpPr>
        <p:spPr>
          <a:xfrm>
            <a:off x="5212080" y="3749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Manual (workflow_dispatch)</a:t>
            </a:r>
            <a:endParaRPr lang="en-US" sz="1300"/>
          </a:p>
        </p:txBody>
      </p:sp>
      <p:sp>
        <p:nvSpPr>
          <p:cNvPr id="27" name="R2Browsers"/>
          <p:cNvSpPr/>
          <p:nvPr/>
        </p:nvSpPr>
        <p:spPr>
          <a:xfrm>
            <a:off x="7543800" y="3749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Chromium, Firefox, WebKit</a:t>
            </a:r>
            <a:endParaRPr lang="en-US" sz="1300"/>
          </a:p>
        </p:txBody>
      </p:sp>
      <p:sp>
        <p:nvSpPr>
          <p:cNvPr id="28" name="R2Viewports"/>
          <p:cNvSpPr/>
          <p:nvPr/>
        </p:nvSpPr>
        <p:spPr>
          <a:xfrm>
            <a:off x="9966960" y="37490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Desktop + Mobile</a:t>
            </a:r>
            <a:endParaRPr lang="en-US" sz="1300"/>
          </a:p>
        </p:txBody>
      </p:sp>
      <p:sp>
        <p:nvSpPr>
          <p:cNvPr id="29" name="Row3Bg"/>
          <p:cNvSpPr/>
          <p:nvPr/>
        </p:nvSpPr>
        <p:spPr>
          <a:xfrm>
            <a:off x="548640" y="4754880"/>
            <a:ext cx="11064240" cy="1234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3Cat"/>
          <p:cNvSpPr/>
          <p:nvPr/>
        </p:nvSpPr>
        <p:spPr>
          <a:xfrm>
            <a:off x="731520" y="4937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</a:rPr>
              <a:t>Accessibility</a:t>
            </a:r>
            <a:endParaRPr lang="en-US" sz="2000"/>
          </a:p>
        </p:txBody>
      </p:sp>
      <p:sp>
        <p:nvSpPr>
          <p:cNvPr id="31" name="R3Tag"/>
          <p:cNvSpPr/>
          <p:nvPr/>
        </p:nvSpPr>
        <p:spPr>
          <a:xfrm>
            <a:off x="731520" y="5440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22D3EE"/>
                </a:solidFill>
                <a:latin typeface="Consolas" pitchFamily="34" charset="0"/>
              </a:rPr>
              <a:t>WCAG 2.2 AA</a:t>
            </a:r>
            <a:endParaRPr lang="en-US" sz="1100"/>
          </a:p>
        </p:txBody>
      </p:sp>
      <p:sp>
        <p:nvSpPr>
          <p:cNvPr id="32" name="R3Scope"/>
          <p:cNvSpPr/>
          <p:nvPr/>
        </p:nvSpPr>
        <p:spPr>
          <a:xfrm>
            <a:off x="2606040" y="4983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Keyboard nav, tap targets, ARIA roles</a:t>
            </a:r>
            <a:endParaRPr lang="en-US" sz="1300"/>
          </a:p>
        </p:txBody>
      </p:sp>
      <p:sp>
        <p:nvSpPr>
          <p:cNvPr id="33" name="R3Trigger"/>
          <p:cNvSpPr/>
          <p:nvPr/>
        </p:nvSpPr>
        <p:spPr>
          <a:xfrm>
            <a:off x="5212080" y="49834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Manual (workflow_dispatch)</a:t>
            </a:r>
            <a:endParaRPr lang="en-US" sz="1300"/>
          </a:p>
        </p:txBody>
      </p:sp>
      <p:sp>
        <p:nvSpPr>
          <p:cNvPr id="34" name="R3Browsers"/>
          <p:cNvSpPr/>
          <p:nvPr/>
        </p:nvSpPr>
        <p:spPr>
          <a:xfrm>
            <a:off x="7543800" y="4983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Chromium, Firefox, WebKit</a:t>
            </a:r>
            <a:endParaRPr lang="en-US" sz="1300"/>
          </a:p>
        </p:txBody>
      </p:sp>
      <p:sp>
        <p:nvSpPr>
          <p:cNvPr id="35" name="R3Viewports"/>
          <p:cNvSpPr/>
          <p:nvPr/>
        </p:nvSpPr>
        <p:spPr>
          <a:xfrm>
            <a:off x="9966960" y="49834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1F5F9"/>
                </a:solidFill>
                <a:latin typeface="Calibri" pitchFamily="34" charset="0"/>
              </a:rPr>
              <a:t>Desktop + Mobile</a:t>
            </a:r>
            <a:endParaRPr 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22D3EE"/>
                </a:solidFill>
                <a:latin typeface="Consolas" pitchFamily="34" charset="0"/>
              </a:rPr>
              <a:t>AUTOMATION PIPELINE</a:t>
            </a:r>
          </a:p>
        </p:txBody>
      </p:sp>
      <p:sp>
        <p:nvSpPr>
          <p:cNvPr id="4" name="Page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</a:rPr>
              <a:t>// 08 / 10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</a:rPr>
              <a:t>CI/CD Pipeline</a:t>
            </a:r>
          </a:p>
        </p:txBody>
      </p:sp>
      <p:sp>
        <p:nvSpPr>
          <p:cNvPr id="6" name="Subtitle"/>
          <p:cNvSpPr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</a:rPr>
              <a:t>Two execution paths — an automatic loop on every PR, plus a manual full-matrix run on demand.</a:t>
            </a:r>
          </a:p>
        </p:txBody>
      </p:sp>
      <p:sp>
        <p:nvSpPr>
          <p:cNvPr id="7" name="BotRule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94A3B8"/>
                </a:solidFill>
                <a:latin typeface="Consolas" pitchFamily="34" charset="0"/>
              </a:rPr>
              <a:t>MAPS FLEET MANAGER  //  QA &amp; AUTOMATION</a:t>
            </a:r>
          </a:p>
        </p:txBody>
      </p:sp>
      <p:sp>
        <p:nvSpPr>
          <p:cNvPr id="9" name="Year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</a:rPr>
              <a:t>2026</a:t>
            </a:r>
          </a:p>
        </p:txBody>
      </p:sp>
      <p:sp>
        <p:nvSpPr>
          <p:cNvPr id="20" name="AutoBadge"/>
          <p:cNvSpPr/>
          <p:nvPr/>
        </p:nvSpPr>
        <p:spPr>
          <a:xfrm>
            <a:off x="548640" y="1664640"/>
            <a:ext cx="850000" cy="3200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>
                <a:solidFill>
                  <a:srgbClr val="0F172A"/>
                </a:solidFill>
                <a:latin typeface="Consolas" pitchFamily="34" charset="0"/>
              </a:rPr>
              <a:t>AUTO</a:t>
            </a:r>
          </a:p>
        </p:txBody>
      </p:sp>
      <p:sp>
        <p:nvSpPr>
          <p:cNvPr id="21" name="AutoCaption"/>
          <p:cNvSpPr/>
          <p:nvPr/>
        </p:nvSpPr>
        <p:spPr>
          <a:xfrm>
            <a:off x="1460000" y="1664640"/>
            <a:ext cx="1015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On every Vercel deployment</a:t>
            </a:r>
            <a:r>
              <a:rPr lang="en-US" sz="1200">
                <a:solidFill>
                  <a:srgbClr val="94A3B8"/>
                </a:solidFill>
                <a:latin typeface="Calibri" pitchFamily="34" charset="0"/>
              </a:rPr>
              <a:t>  —  fast, targeted feedback loop for developers.</a:t>
            </a:r>
          </a:p>
        </p:txBody>
      </p:sp>
      <p:sp>
        <p:nvSpPr>
          <p:cNvPr id="30" name="A0bg"/>
          <p:cNvSpPr/>
          <p:nvPr/>
        </p:nvSpPr>
        <p:spPr>
          <a:xfrm>
            <a:off x="548640" y="205740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A0t"/>
          <p:cNvSpPr/>
          <p:nvPr/>
        </p:nvSpPr>
        <p:spPr>
          <a:xfrm>
            <a:off x="640080" y="214884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2D3EE"/>
                </a:solidFill>
                <a:latin typeface="Consolas" pitchFamily="34" charset="0"/>
              </a:rPr>
              <a:t>01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PR pushed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developer opens or updates a PR</a:t>
            </a:r>
          </a:p>
        </p:txBody>
      </p:sp>
      <p:sp>
        <p:nvSpPr>
          <p:cNvPr id="32" name="A1bg"/>
          <p:cNvSpPr/>
          <p:nvPr/>
        </p:nvSpPr>
        <p:spPr>
          <a:xfrm>
            <a:off x="2461488" y="205740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1t"/>
          <p:cNvSpPr/>
          <p:nvPr/>
        </p:nvSpPr>
        <p:spPr>
          <a:xfrm>
            <a:off x="2552928" y="214884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2D3EE"/>
                </a:solidFill>
                <a:latin typeface="Consolas" pitchFamily="34" charset="0"/>
              </a:rPr>
              <a:t>02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Vercel build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preview deployment spins up</a:t>
            </a:r>
          </a:p>
        </p:txBody>
      </p:sp>
      <p:sp>
        <p:nvSpPr>
          <p:cNvPr id="34" name="A2bg"/>
          <p:cNvSpPr/>
          <p:nvPr/>
        </p:nvSpPr>
        <p:spPr>
          <a:xfrm>
            <a:off x="4374336" y="205740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A2t"/>
          <p:cNvSpPr/>
          <p:nvPr/>
        </p:nvSpPr>
        <p:spPr>
          <a:xfrm>
            <a:off x="4465776" y="214884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2D3EE"/>
                </a:solidFill>
                <a:latin typeface="Consolas" pitchFamily="34" charset="0"/>
              </a:rPr>
              <a:t>03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GH Actions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triggered by Vercel deployment</a:t>
            </a:r>
          </a:p>
        </p:txBody>
      </p:sp>
      <p:sp>
        <p:nvSpPr>
          <p:cNvPr id="36" name="A3bg"/>
          <p:cNvSpPr/>
          <p:nvPr/>
        </p:nvSpPr>
        <p:spPr>
          <a:xfrm>
            <a:off x="6287184" y="205740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A3t"/>
          <p:cNvSpPr/>
          <p:nvPr/>
        </p:nvSpPr>
        <p:spPr>
          <a:xfrm>
            <a:off x="6378624" y="214884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2D3EE"/>
                </a:solidFill>
                <a:latin typeface="Consolas" pitchFamily="34" charset="0"/>
              </a:rPr>
              <a:t>04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Smoke run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Chromium desktop only, 3 parallel shards</a:t>
            </a:r>
          </a:p>
        </p:txBody>
      </p:sp>
      <p:sp>
        <p:nvSpPr>
          <p:cNvPr id="38" name="A4bg"/>
          <p:cNvSpPr/>
          <p:nvPr/>
        </p:nvSpPr>
        <p:spPr>
          <a:xfrm>
            <a:off x="8200032" y="205740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A4t"/>
          <p:cNvSpPr/>
          <p:nvPr/>
        </p:nvSpPr>
        <p:spPr>
          <a:xfrm>
            <a:off x="8291472" y="214884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2D3EE"/>
                </a:solidFill>
                <a:latin typeface="Consolas" pitchFamily="34" charset="0"/>
              </a:rPr>
              <a:t>05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Artifacts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uploaded to S3 (traces, screenshots)</a:t>
            </a:r>
          </a:p>
        </p:txBody>
      </p:sp>
      <p:sp>
        <p:nvSpPr>
          <p:cNvPr id="40" name="A5bg"/>
          <p:cNvSpPr/>
          <p:nvPr/>
        </p:nvSpPr>
        <p:spPr>
          <a:xfrm>
            <a:off x="10112880" y="205740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A5t"/>
          <p:cNvSpPr/>
          <p:nvPr/>
        </p:nvSpPr>
        <p:spPr>
          <a:xfrm>
            <a:off x="10204320" y="214884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22D3EE"/>
                </a:solidFill>
                <a:latin typeface="Consolas" pitchFamily="34" charset="0"/>
              </a:rPr>
              <a:t>06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PR status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check posted back to the PR</a:t>
            </a:r>
          </a:p>
        </p:txBody>
      </p:sp>
      <p:sp>
        <p:nvSpPr>
          <p:cNvPr id="50" name="aa1"/>
          <p:cNvSpPr/>
          <p:nvPr/>
        </p:nvSpPr>
        <p:spPr>
          <a:xfrm>
            <a:off x="2080000" y="2607400"/>
            <a:ext cx="350000" cy="0"/>
          </a:xfrm>
          <a:prstGeom prst="line">
            <a:avLst/>
          </a:prstGeom>
          <a:noFill/>
          <a:ln w="15240">
            <a:solidFill>
              <a:srgbClr val="22D3EE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aa2"/>
          <p:cNvSpPr/>
          <p:nvPr/>
        </p:nvSpPr>
        <p:spPr>
          <a:xfrm>
            <a:off x="3992848" y="2607400"/>
            <a:ext cx="350000" cy="0"/>
          </a:xfrm>
          <a:prstGeom prst="line">
            <a:avLst/>
          </a:prstGeom>
          <a:noFill/>
          <a:ln w="15240">
            <a:solidFill>
              <a:srgbClr val="22D3EE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aa3"/>
          <p:cNvSpPr/>
          <p:nvPr/>
        </p:nvSpPr>
        <p:spPr>
          <a:xfrm>
            <a:off x="5905696" y="2607400"/>
            <a:ext cx="350000" cy="0"/>
          </a:xfrm>
          <a:prstGeom prst="line">
            <a:avLst/>
          </a:prstGeom>
          <a:noFill/>
          <a:ln w="15240">
            <a:solidFill>
              <a:srgbClr val="22D3EE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aa4"/>
          <p:cNvSpPr/>
          <p:nvPr/>
        </p:nvSpPr>
        <p:spPr>
          <a:xfrm>
            <a:off x="7818544" y="2607400"/>
            <a:ext cx="350000" cy="0"/>
          </a:xfrm>
          <a:prstGeom prst="line">
            <a:avLst/>
          </a:prstGeom>
          <a:noFill/>
          <a:ln w="15240">
            <a:solidFill>
              <a:srgbClr val="22D3EE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aa5"/>
          <p:cNvSpPr/>
          <p:nvPr/>
        </p:nvSpPr>
        <p:spPr>
          <a:xfrm>
            <a:off x="9731392" y="2607400"/>
            <a:ext cx="350000" cy="0"/>
          </a:xfrm>
          <a:prstGeom prst="line">
            <a:avLst/>
          </a:prstGeom>
          <a:noFill/>
          <a:ln w="15240">
            <a:solidFill>
              <a:srgbClr val="22D3EE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ManBadge"/>
          <p:cNvSpPr/>
          <p:nvPr/>
        </p:nvSpPr>
        <p:spPr>
          <a:xfrm>
            <a:off x="548640" y="3300000"/>
            <a:ext cx="105000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>
                <a:solidFill>
                  <a:srgbClr val="0F172A"/>
                </a:solidFill>
                <a:latin typeface="Consolas" pitchFamily="34" charset="0"/>
              </a:rPr>
              <a:t>MANUAL</a:t>
            </a:r>
          </a:p>
        </p:txBody>
      </p:sp>
      <p:sp>
        <p:nvSpPr>
          <p:cNvPr id="61" name="ManCaption"/>
          <p:cNvSpPr/>
          <p:nvPr/>
        </p:nvSpPr>
        <p:spPr>
          <a:xfrm>
            <a:off x="1660000" y="3300000"/>
            <a:ext cx="995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workflow_dispatch on demand</a:t>
            </a:r>
            <a:r>
              <a:rPr lang="en-US" sz="1200">
                <a:solidFill>
                  <a:srgbClr val="94A3B8"/>
                </a:solidFill>
                <a:latin typeface="Calibri" pitchFamily="34" charset="0"/>
              </a:rPr>
              <a:t>  —  unlocks the full cross-browser matrix for deep coverage.</a:t>
            </a:r>
          </a:p>
        </p:txBody>
      </p:sp>
      <p:sp>
        <p:nvSpPr>
          <p:cNvPr id="70" name="M0bg"/>
          <p:cNvSpPr/>
          <p:nvPr/>
        </p:nvSpPr>
        <p:spPr>
          <a:xfrm>
            <a:off x="548640" y="369276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M0t"/>
          <p:cNvSpPr/>
          <p:nvPr/>
        </p:nvSpPr>
        <p:spPr>
          <a:xfrm>
            <a:off x="640080" y="378420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01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Manual trigger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fired from GH Actions UI</a:t>
            </a:r>
          </a:p>
        </p:txBody>
      </p:sp>
      <p:sp>
        <p:nvSpPr>
          <p:cNvPr id="72" name="M1bg"/>
          <p:cNvSpPr/>
          <p:nvPr/>
        </p:nvSpPr>
        <p:spPr>
          <a:xfrm>
            <a:off x="2461488" y="369276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M1t"/>
          <p:cNvSpPr/>
          <p:nvPr/>
        </p:nvSpPr>
        <p:spPr>
          <a:xfrm>
            <a:off x="2552928" y="378420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02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Choose inputs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suite + optional feature + subfeature</a:t>
            </a:r>
          </a:p>
        </p:txBody>
      </p:sp>
      <p:sp>
        <p:nvSpPr>
          <p:cNvPr id="74" name="M2bg"/>
          <p:cNvSpPr/>
          <p:nvPr/>
        </p:nvSpPr>
        <p:spPr>
          <a:xfrm>
            <a:off x="4374336" y="369276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M2t"/>
          <p:cNvSpPr/>
          <p:nvPr/>
        </p:nvSpPr>
        <p:spPr>
          <a:xfrm>
            <a:off x="4465776" y="378420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03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Full matrix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3 shards x 5 browser/viewport configs</a:t>
            </a:r>
          </a:p>
        </p:txBody>
      </p:sp>
      <p:sp>
        <p:nvSpPr>
          <p:cNvPr id="76" name="M3bg"/>
          <p:cNvSpPr/>
          <p:nvPr/>
        </p:nvSpPr>
        <p:spPr>
          <a:xfrm>
            <a:off x="6287184" y="369276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M3t"/>
          <p:cNvSpPr/>
          <p:nvPr/>
        </p:nvSpPr>
        <p:spPr>
          <a:xfrm>
            <a:off x="6378624" y="378420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04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Concurrent run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15 slices in parallel</a:t>
            </a:r>
          </a:p>
        </p:txBody>
      </p:sp>
      <p:sp>
        <p:nvSpPr>
          <p:cNvPr id="78" name="M4bg"/>
          <p:cNvSpPr/>
          <p:nvPr/>
        </p:nvSpPr>
        <p:spPr>
          <a:xfrm>
            <a:off x="8200032" y="369276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M4t"/>
          <p:cNvSpPr/>
          <p:nvPr/>
        </p:nvSpPr>
        <p:spPr>
          <a:xfrm>
            <a:off x="8291472" y="378420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05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Artifacts merged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traces &amp; results combined across shards</a:t>
            </a:r>
          </a:p>
        </p:txBody>
      </p:sp>
      <p:sp>
        <p:nvSpPr>
          <p:cNvPr id="80" name="M5bg"/>
          <p:cNvSpPr/>
          <p:nvPr/>
        </p:nvSpPr>
        <p:spPr>
          <a:xfrm>
            <a:off x="10112880" y="3692760"/>
            <a:ext cx="1500000" cy="110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M5t"/>
          <p:cNvSpPr/>
          <p:nvPr/>
        </p:nvSpPr>
        <p:spPr>
          <a:xfrm>
            <a:off x="10204320" y="3784200"/>
            <a:ext cx="1317000" cy="9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06</a:t>
            </a:r>
          </a:p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</a:rPr>
              <a:t>HTML report</a:t>
            </a:r>
          </a:p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</a:rPr>
              <a:t>generated for deep review</a:t>
            </a:r>
          </a:p>
        </p:txBody>
      </p:sp>
      <p:sp>
        <p:nvSpPr>
          <p:cNvPr id="90" name="ma1"/>
          <p:cNvSpPr/>
          <p:nvPr/>
        </p:nvSpPr>
        <p:spPr>
          <a:xfrm>
            <a:off x="2080000" y="4242760"/>
            <a:ext cx="350000" cy="0"/>
          </a:xfrm>
          <a:prstGeom prst="line">
            <a:avLst/>
          </a:prstGeom>
          <a:noFill/>
          <a:ln w="15240">
            <a:solidFill>
              <a:srgbClr val="F59E0B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ma2"/>
          <p:cNvSpPr/>
          <p:nvPr/>
        </p:nvSpPr>
        <p:spPr>
          <a:xfrm>
            <a:off x="3992848" y="4242760"/>
            <a:ext cx="350000" cy="0"/>
          </a:xfrm>
          <a:prstGeom prst="line">
            <a:avLst/>
          </a:prstGeom>
          <a:noFill/>
          <a:ln w="15240">
            <a:solidFill>
              <a:srgbClr val="F59E0B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2" name="ma3"/>
          <p:cNvSpPr/>
          <p:nvPr/>
        </p:nvSpPr>
        <p:spPr>
          <a:xfrm>
            <a:off x="5905696" y="4242760"/>
            <a:ext cx="350000" cy="0"/>
          </a:xfrm>
          <a:prstGeom prst="line">
            <a:avLst/>
          </a:prstGeom>
          <a:noFill/>
          <a:ln w="15240">
            <a:solidFill>
              <a:srgbClr val="F59E0B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3" name="ma4"/>
          <p:cNvSpPr/>
          <p:nvPr/>
        </p:nvSpPr>
        <p:spPr>
          <a:xfrm>
            <a:off x="7818544" y="4242760"/>
            <a:ext cx="350000" cy="0"/>
          </a:xfrm>
          <a:prstGeom prst="line">
            <a:avLst/>
          </a:prstGeom>
          <a:noFill/>
          <a:ln w="15240">
            <a:solidFill>
              <a:srgbClr val="F59E0B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4" name="ma5"/>
          <p:cNvSpPr/>
          <p:nvPr/>
        </p:nvSpPr>
        <p:spPr>
          <a:xfrm>
            <a:off x="9731392" y="4242760"/>
            <a:ext cx="350000" cy="0"/>
          </a:xfrm>
          <a:prstGeom prst="line">
            <a:avLst/>
          </a:prstGeom>
          <a:noFill/>
          <a:ln w="15240">
            <a:solidFill>
              <a:srgbClr val="F59E0B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rdBg"/>
          <p:cNvSpPr/>
          <p:nvPr/>
        </p:nvSpPr>
        <p:spPr>
          <a:xfrm>
            <a:off x="548640" y="4960000"/>
            <a:ext cx="11064240" cy="148000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rdTitle"/>
          <p:cNvSpPr/>
          <p:nvPr/>
        </p:nvSpPr>
        <p:spPr>
          <a:xfrm>
            <a:off x="731520" y="5060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</a:rPr>
              <a:t>Sharding matrix — Manual runs only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</a:rPr>
              <a:t>     3 shards × 5 browser/viewport configs = 15 concurrent slices</a:t>
            </a:r>
          </a:p>
        </p:txBody>
      </p:sp>
      <p:sp>
        <p:nvSpPr>
          <p:cNvPr id="110" name="C0"/>
          <p:cNvSpPr/>
          <p:nvPr/>
        </p:nvSpPr>
        <p:spPr>
          <a:xfrm>
            <a:off x="731520" y="5440000"/>
            <a:ext cx="2090000" cy="5000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1F5F9"/>
                </a:solidFill>
                <a:latin typeface="Calibri" pitchFamily="34" charset="0"/>
              </a:rPr>
              <a:t>Chromium desktop</a:t>
            </a:r>
          </a:p>
        </p:txBody>
      </p:sp>
      <p:sp>
        <p:nvSpPr>
          <p:cNvPr id="111" name="C1"/>
          <p:cNvSpPr/>
          <p:nvPr/>
        </p:nvSpPr>
        <p:spPr>
          <a:xfrm>
            <a:off x="2891520" y="5440000"/>
            <a:ext cx="2090000" cy="5000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1F5F9"/>
                </a:solidFill>
                <a:latin typeface="Calibri" pitchFamily="34" charset="0"/>
              </a:rPr>
              <a:t>Firefox desktop</a:t>
            </a:r>
          </a:p>
        </p:txBody>
      </p:sp>
      <p:sp>
        <p:nvSpPr>
          <p:cNvPr id="112" name="C2"/>
          <p:cNvSpPr/>
          <p:nvPr/>
        </p:nvSpPr>
        <p:spPr>
          <a:xfrm>
            <a:off x="5051520" y="5440000"/>
            <a:ext cx="2090000" cy="5000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1F5F9"/>
                </a:solidFill>
                <a:latin typeface="Calibri" pitchFamily="34" charset="0"/>
              </a:rPr>
              <a:t>WebKit desktop</a:t>
            </a:r>
          </a:p>
        </p:txBody>
      </p:sp>
      <p:sp>
        <p:nvSpPr>
          <p:cNvPr id="113" name="C3"/>
          <p:cNvSpPr/>
          <p:nvPr/>
        </p:nvSpPr>
        <p:spPr>
          <a:xfrm>
            <a:off x="7211520" y="5440000"/>
            <a:ext cx="2090000" cy="5000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1F5F9"/>
                </a:solidFill>
                <a:latin typeface="Calibri" pitchFamily="34" charset="0"/>
              </a:rPr>
              <a:t>Chromium mobile</a:t>
            </a:r>
          </a:p>
          <a:p>
            <a:pPr marL="0" indent="0" algn="ctr">
              <a:buNone/>
            </a:pPr>
            <a:r>
              <a:rPr lang="en-US" sz="800">
                <a:solidFill>
                  <a:srgbClr val="94A3B8"/>
                </a:solidFill>
                <a:latin typeface="Consolas" pitchFamily="34" charset="0"/>
              </a:rPr>
              <a:t>Pixel 7</a:t>
            </a:r>
          </a:p>
        </p:txBody>
      </p:sp>
      <p:sp>
        <p:nvSpPr>
          <p:cNvPr id="114" name="C4"/>
          <p:cNvSpPr/>
          <p:nvPr/>
        </p:nvSpPr>
        <p:spPr>
          <a:xfrm>
            <a:off x="9371520" y="5440000"/>
            <a:ext cx="2090000" cy="5000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1F5F9"/>
                </a:solidFill>
                <a:latin typeface="Calibri" pitchFamily="34" charset="0"/>
              </a:rPr>
              <a:t>Safari mobile</a:t>
            </a:r>
          </a:p>
          <a:p>
            <a:pPr marL="0" indent="0" algn="ctr">
              <a:buNone/>
            </a:pPr>
            <a:r>
              <a:rPr lang="en-US" sz="800">
                <a:solidFill>
                  <a:srgbClr val="94A3B8"/>
                </a:solidFill>
                <a:latin typeface="Consolas" pitchFamily="34" charset="0"/>
              </a:rPr>
              <a:t>iPhone 12</a:t>
            </a:r>
          </a:p>
        </p:txBody>
      </p:sp>
      <p:sp>
        <p:nvSpPr>
          <p:cNvPr id="120" name="KeyMsg"/>
          <p:cNvSpPr/>
          <p:nvPr/>
        </p:nvSpPr>
        <p:spPr>
          <a:xfrm>
            <a:off x="731520" y="6020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2D3EE"/>
                </a:solidFill>
                <a:latin typeface="Calibri" pitchFamily="34" charset="0"/>
              </a:rPr>
              <a:t>Auto</a:t>
            </a:r>
            <a:r>
              <a:rPr lang="en-US" sz="1100">
                <a:solidFill>
                  <a:srgbClr val="F1F5F9"/>
                </a:solidFill>
                <a:latin typeface="Calibri" pitchFamily="34" charset="0"/>
              </a:rPr>
              <a:t> runs stay fast and targeted (Smoke + Chromium only). </a:t>
            </a:r>
            <a:r>
              <a:rPr lang="en-US" sz="1100" b="1">
                <a:solidFill>
                  <a:srgbClr val="F59E0B"/>
                </a:solidFill>
                <a:latin typeface="Calibri" pitchFamily="34" charset="0"/>
              </a:rPr>
              <a:t>Manual</a:t>
            </a:r>
            <a:r>
              <a:rPr lang="en-US" sz="1100">
                <a:solidFill>
                  <a:srgbClr val="F1F5F9"/>
                </a:solidFill>
                <a:latin typeface="Calibri" pitchFamily="34" charset="0"/>
              </a:rPr>
              <a:t> runs unlock the full matrix for deep cross-browser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22D3EE"/>
                </a:solidFill>
                <a:latin typeface="Consolas" pitchFamily="34" charset="0"/>
              </a:rPr>
              <a:t>THE AI WORKFLOW</a:t>
            </a:r>
          </a:p>
        </p:txBody>
      </p:sp>
      <p:sp>
        <p:nvSpPr>
          <p:cNvPr id="4" name="Page"/>
          <p:cNvSpPr/>
          <p:nvPr/>
        </p:nvSpPr>
        <p:spPr>
          <a:xfrm>
            <a:off x="9692640" y="164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Consolas" pitchFamily="34" charset="0"/>
              </a:rPr>
              <a:t>// 09 / 10</a:t>
            </a:r>
          </a:p>
        </p:txBody>
      </p:sp>
      <p:sp>
        <p:nvSpPr>
          <p:cNvPr id="5" name="Title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</a:rPr>
              <a:t>AI in My Workflow </a:t>
            </a:r>
            <a:r>
              <a:rPr lang="en-US" sz="2800" b="1">
                <a:solidFill>
                  <a:srgbClr val="22D3EE"/>
                </a:solidFill>
                <a:latin typeface="Calibri" pitchFamily="34" charset="0"/>
              </a:rPr>
              <a:t>— Real Scenarios</a:t>
            </a:r>
          </a:p>
        </p:txBody>
      </p:sp>
      <p:sp>
        <p:nvSpPr>
          <p:cNvPr id="7" name="BotRule"/>
          <p:cNvSpPr/>
          <p:nvPr/>
        </p:nvSpPr>
        <p:spPr>
          <a:xfrm>
            <a:off x="548640" y="6537960"/>
            <a:ext cx="11064240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94A3B8"/>
                </a:solidFill>
                <a:latin typeface="Consolas" pitchFamily="34" charset="0"/>
              </a:rPr>
              <a:t>MAPS FLEET MANAGER  //  QA &amp; AUTOMATION</a:t>
            </a:r>
          </a:p>
        </p:txBody>
      </p:sp>
      <p:sp>
        <p:nvSpPr>
          <p:cNvPr id="9" name="Year"/>
          <p:cNvSpPr/>
          <p:nvPr/>
        </p:nvSpPr>
        <p:spPr>
          <a:xfrm>
            <a:off x="10607040" y="6583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</a:rPr>
              <a:t>2026</a:t>
            </a:r>
          </a:p>
        </p:txBody>
      </p:sp>
      <p:sp>
        <p:nvSpPr>
          <p:cNvPr id="20" name="C1bg"/>
          <p:cNvSpPr/>
          <p:nvPr/>
        </p:nvSpPr>
        <p:spPr>
          <a:xfrm>
            <a:off x="548640" y="1500000"/>
            <a:ext cx="3500000" cy="175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1t"/>
          <p:cNvSpPr/>
          <p:nvPr/>
        </p:nvSpPr>
        <p:spPr>
          <a:xfrm>
            <a:off x="731520" y="1645920"/>
            <a:ext cx="313424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Consolas" pitchFamily="34" charset="0"/>
              </a:rPr>
              <a:t>01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First draft in seconds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</a:rPr>
              <a:t>What used to take 30+ minutes of boilerplate now takes seconds. The first version is ready before I’ve finished my coffee.</a:t>
            </a:r>
          </a:p>
        </p:txBody>
      </p:sp>
      <p:sp>
        <p:nvSpPr>
          <p:cNvPr id="22" name="C2bg"/>
          <p:cNvSpPr/>
          <p:nvPr/>
        </p:nvSpPr>
        <p:spPr>
          <a:xfrm>
            <a:off x="4330760" y="1500000"/>
            <a:ext cx="3500000" cy="175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C2t"/>
          <p:cNvSpPr/>
          <p:nvPr/>
        </p:nvSpPr>
        <p:spPr>
          <a:xfrm>
            <a:off x="4513640" y="1645920"/>
            <a:ext cx="313424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Consolas" pitchFamily="34" charset="0"/>
              </a:rPr>
              <a:t>02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Accessibility tests at scale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</a:rPr>
              <a:t>First file required heavy prompting and pasting DOM examples. By file #5, the same components repeat across every page — AI already knows the patterns.</a:t>
            </a:r>
          </a:p>
        </p:txBody>
      </p:sp>
      <p:sp>
        <p:nvSpPr>
          <p:cNvPr id="24" name="C3bg"/>
          <p:cNvSpPr/>
          <p:nvPr/>
        </p:nvSpPr>
        <p:spPr>
          <a:xfrm>
            <a:off x="8112880" y="1500000"/>
            <a:ext cx="3500000" cy="175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C3t"/>
          <p:cNvSpPr/>
          <p:nvPr/>
        </p:nvSpPr>
        <p:spPr>
          <a:xfrm>
            <a:off x="8295760" y="1645920"/>
            <a:ext cx="313424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Consolas" pitchFamily="34" charset="0"/>
              </a:rPr>
              <a:t>03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PR &amp; Jira-driven test planning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</a:rPr>
              <a:t>Share a developer’s PR diff and the Jira ticket with AI. It reviews what changed, understands the intent, and proposes a targeted test plan — before I’ve read a single line of code.</a:t>
            </a:r>
          </a:p>
        </p:txBody>
      </p:sp>
      <p:sp>
        <p:nvSpPr>
          <p:cNvPr id="26" name="C4bg"/>
          <p:cNvSpPr/>
          <p:nvPr/>
        </p:nvSpPr>
        <p:spPr>
          <a:xfrm>
            <a:off x="548640" y="3400000"/>
            <a:ext cx="3500000" cy="175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C4t"/>
          <p:cNvSpPr/>
          <p:nvPr/>
        </p:nvSpPr>
        <p:spPr>
          <a:xfrm>
            <a:off x="731520" y="3545920"/>
            <a:ext cx="313424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Consolas" pitchFamily="34" charset="0"/>
              </a:rPr>
              <a:t>04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GitHub Actions from scratch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</a:rPr>
              <a:t>Needed a full CI/CD pipeline with sharding, S3 artifact uploads, and PR status reporting. Zero prior YAML knowledge. AI built the first working draft.</a:t>
            </a:r>
          </a:p>
        </p:txBody>
      </p:sp>
      <p:sp>
        <p:nvSpPr>
          <p:cNvPr id="28" name="C5bg"/>
          <p:cNvSpPr/>
          <p:nvPr/>
        </p:nvSpPr>
        <p:spPr>
          <a:xfrm>
            <a:off x="4330760" y="3400000"/>
            <a:ext cx="3500000" cy="175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C5t"/>
          <p:cNvSpPr/>
          <p:nvPr/>
        </p:nvSpPr>
        <p:spPr>
          <a:xfrm>
            <a:off x="4513640" y="3545920"/>
            <a:ext cx="313424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Consolas" pitchFamily="34" charset="0"/>
              </a:rPr>
              <a:t>05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This presentation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</a:rPr>
              <a:t>Used AI to explore the entire codebase and determine the best content for a 35-minute intern demo. Zero manual file browsing.</a:t>
            </a:r>
          </a:p>
        </p:txBody>
      </p:sp>
      <p:sp>
        <p:nvSpPr>
          <p:cNvPr id="30" name="C6bg"/>
          <p:cNvSpPr/>
          <p:nvPr/>
        </p:nvSpPr>
        <p:spPr>
          <a:xfrm>
            <a:off x="8112880" y="3400000"/>
            <a:ext cx="3500000" cy="1750000"/>
          </a:xfrm>
          <a:prstGeom prst="rect">
            <a:avLst/>
          </a:prstGeom>
          <a:solidFill>
            <a:srgbClr val="1E293B"/>
          </a:solidFill>
          <a:ln w="9525">
            <a:solidFill>
              <a:srgbClr val="22D3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6t"/>
          <p:cNvSpPr/>
          <p:nvPr/>
        </p:nvSpPr>
        <p:spPr>
          <a:xfrm>
            <a:off x="8295760" y="3545920"/>
            <a:ext cx="313424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Consolas" pitchFamily="34" charset="0"/>
              </a:rPr>
              <a:t>06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Prompt quality matters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</a:rPr>
              <a:t>Vague prompt gets vague tests. Share the locator file, the page class, and one example test — AI output goes from mediocre to near-complete.</a:t>
            </a:r>
          </a:p>
        </p:txBody>
      </p:sp>
      <p:sp>
        <p:nvSpPr>
          <p:cNvPr id="40" name="RuleBg"/>
          <p:cNvSpPr/>
          <p:nvPr/>
        </p:nvSpPr>
        <p:spPr>
          <a:xfrm>
            <a:off x="548640" y="5350000"/>
            <a:ext cx="11064240" cy="110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uleInner"/>
          <p:cNvSpPr/>
          <p:nvPr/>
        </p:nvSpPr>
        <p:spPr>
          <a:xfrm>
            <a:off x="594360" y="5395720"/>
            <a:ext cx="10972800" cy="1008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uleLabel"/>
          <p:cNvSpPr/>
          <p:nvPr/>
        </p:nvSpPr>
        <p:spPr>
          <a:xfrm>
            <a:off x="822960" y="5505000"/>
            <a:ext cx="15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spc="400">
                <a:solidFill>
                  <a:srgbClr val="22D3EE"/>
                </a:solidFill>
                <a:latin typeface="Consolas" pitchFamily="34" charset="0"/>
              </a:rPr>
              <a:t>ONE RULE</a:t>
            </a:r>
          </a:p>
        </p:txBody>
      </p:sp>
      <p:sp>
        <p:nvSpPr>
          <p:cNvPr id="43" name="RuleText"/>
          <p:cNvSpPr/>
          <p:nvPr/>
        </p:nvSpPr>
        <p:spPr>
          <a:xfrm>
            <a:off x="822960" y="5840000"/>
            <a:ext cx="105156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</a:rPr>
              <a:t>AI writes the structure and logic confidently </a:t>
            </a:r>
            <a:r>
              <a:rPr lang="en-US" sz="1500">
                <a:solidFill>
                  <a:srgbClr val="CBD5E1"/>
                </a:solidFill>
                <a:latin typeface="Calibri" pitchFamily="34" charset="0"/>
              </a:rPr>
              <a:t>— but you still need to run it, read it, and validate it actually tests what you think it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722608" y="27432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0" y="274320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419088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58368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0" y="6419088"/>
            <a:ext cx="0" cy="16459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722608" y="6583680"/>
            <a:ext cx="164592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1097280"/>
            <a:ext cx="121916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0" dirty="0"/>
          </a:p>
        </p:txBody>
      </p:sp>
      <p:sp>
        <p:nvSpPr>
          <p:cNvPr id="11" name="Text 9"/>
          <p:cNvSpPr/>
          <p:nvPr/>
        </p:nvSpPr>
        <p:spPr>
          <a:xfrm>
            <a:off x="0" y="40233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5547208" y="4800600"/>
            <a:ext cx="109728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comments, or curious about the workflow? Ask away.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coverage.  Powered by structured patterns and AI leverage.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85B18512D53F41BDE18DDF49B141B1" ma:contentTypeVersion="15" ma:contentTypeDescription="Create a new document." ma:contentTypeScope="" ma:versionID="e906cf6e48426ee06c66027bb80d6180">
  <xsd:schema xmlns:xsd="http://www.w3.org/2001/XMLSchema" xmlns:xs="http://www.w3.org/2001/XMLSchema" xmlns:p="http://schemas.microsoft.com/office/2006/metadata/properties" xmlns:ns2="dcd73cc7-3f1a-4f0c-93a2-52248963654a" xmlns:ns3="1b6a93da-3008-4b4c-a527-3918a3aa2c8d" targetNamespace="http://schemas.microsoft.com/office/2006/metadata/properties" ma:root="true" ma:fieldsID="7e970348c30aff7842b1d265af3f3d1b" ns2:_="" ns3:_="">
    <xsd:import namespace="dcd73cc7-3f1a-4f0c-93a2-52248963654a"/>
    <xsd:import namespace="1b6a93da-3008-4b4c-a527-3918a3aa2c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73cc7-3f1a-4f0c-93a2-5224896365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605de8-6ea5-48e6-9496-7988cfd13a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93da-3008-4b4c-a527-3918a3aa2c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3ea22cc-db3d-48eb-9246-edf9007a76f7}" ma:internalName="TaxCatchAll" ma:showField="CatchAllData" ma:web="1b6a93da-3008-4b4c-a527-3918a3aa2c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73cc7-3f1a-4f0c-93a2-52248963654a">
      <Terms xmlns="http://schemas.microsoft.com/office/infopath/2007/PartnerControls"/>
    </lcf76f155ced4ddcb4097134ff3c332f>
    <TaxCatchAll xmlns="1b6a93da-3008-4b4c-a527-3918a3aa2c8d" xsi:nil="true"/>
  </documentManagement>
</p:properties>
</file>

<file path=customXml/itemProps1.xml><?xml version="1.0" encoding="utf-8"?>
<ds:datastoreItem xmlns:ds="http://schemas.openxmlformats.org/officeDocument/2006/customXml" ds:itemID="{5839AEAB-DA39-4576-B5EB-F691D4F4999E}"/>
</file>

<file path=customXml/itemProps2.xml><?xml version="1.0" encoding="utf-8"?>
<ds:datastoreItem xmlns:ds="http://schemas.openxmlformats.org/officeDocument/2006/customXml" ds:itemID="{21A46186-693F-48AB-8801-747226C188CD}"/>
</file>

<file path=customXml/itemProps3.xml><?xml version="1.0" encoding="utf-8"?>
<ds:datastoreItem xmlns:ds="http://schemas.openxmlformats.org/officeDocument/2006/customXml" ds:itemID="{B172CF1E-55F9-4D6D-8538-4E0CFA3CE798}"/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1341</Words>
  <Application>Microsoft Office PowerPoint</Application>
  <PresentationFormat>Widescreen</PresentationFormat>
  <Paragraphs>268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Martin</dc:creator>
  <cp:lastModifiedBy>Taylor Martin</cp:lastModifiedBy>
  <cp:revision>2</cp:revision>
  <dcterms:created xsi:type="dcterms:W3CDTF">2026-06-10T22:15:30Z</dcterms:created>
  <dcterms:modified xsi:type="dcterms:W3CDTF">2026-06-11T01:32:41Z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0x010100E585B18512D53F41BDE18DDF49B141B1</vt:lpwstr>
  </property>
</Properties>
</file>